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2" r:id="rId223"/>
    <p:sldId id="474" r:id="rId2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5" Type="http://schemas.openxmlformats.org/officeDocument/2006/relationships/slide" Target="slides/slide113.xml"/><Relationship Id="rId126" Type="http://schemas.openxmlformats.org/officeDocument/2006/relationships/slide" Target="slides/slide114.xml"/><Relationship Id="rId127" Type="http://schemas.openxmlformats.org/officeDocument/2006/relationships/slide" Target="slides/slide115.xml"/><Relationship Id="rId128" Type="http://schemas.openxmlformats.org/officeDocument/2006/relationships/slide" Target="slides/slide116.xml"/><Relationship Id="rId129" Type="http://schemas.openxmlformats.org/officeDocument/2006/relationships/slide" Target="slides/slide117.xml"/><Relationship Id="rId130" Type="http://schemas.openxmlformats.org/officeDocument/2006/relationships/slide" Target="slides/slide118.xml"/><Relationship Id="rId131" Type="http://schemas.openxmlformats.org/officeDocument/2006/relationships/slide" Target="slides/slide119.xml"/><Relationship Id="rId132" Type="http://schemas.openxmlformats.org/officeDocument/2006/relationships/slide" Target="slides/slide120.xml"/><Relationship Id="rId133" Type="http://schemas.openxmlformats.org/officeDocument/2006/relationships/slide" Target="slides/slide121.xml"/><Relationship Id="rId134" Type="http://schemas.openxmlformats.org/officeDocument/2006/relationships/slide" Target="slides/slide122.xml"/><Relationship Id="rId135" Type="http://schemas.openxmlformats.org/officeDocument/2006/relationships/slide" Target="slides/slide123.xml"/><Relationship Id="rId136" Type="http://schemas.openxmlformats.org/officeDocument/2006/relationships/slide" Target="slides/slide124.xml"/><Relationship Id="rId137" Type="http://schemas.openxmlformats.org/officeDocument/2006/relationships/slide" Target="slides/slide125.xml"/><Relationship Id="rId138" Type="http://schemas.openxmlformats.org/officeDocument/2006/relationships/slide" Target="slides/slide126.xml"/><Relationship Id="rId139" Type="http://schemas.openxmlformats.org/officeDocument/2006/relationships/slide" Target="slides/slide127.xml"/><Relationship Id="rId140" Type="http://schemas.openxmlformats.org/officeDocument/2006/relationships/slide" Target="slides/slide128.xml"/><Relationship Id="rId141" Type="http://schemas.openxmlformats.org/officeDocument/2006/relationships/slide" Target="slides/slide129.xml"/><Relationship Id="rId142" Type="http://schemas.openxmlformats.org/officeDocument/2006/relationships/slide" Target="slides/slide130.xml"/><Relationship Id="rId143" Type="http://schemas.openxmlformats.org/officeDocument/2006/relationships/slide" Target="slides/slide131.xml"/><Relationship Id="rId144" Type="http://schemas.openxmlformats.org/officeDocument/2006/relationships/slide" Target="slides/slide132.xml"/><Relationship Id="rId145" Type="http://schemas.openxmlformats.org/officeDocument/2006/relationships/slide" Target="slides/slide133.xml"/><Relationship Id="rId146" Type="http://schemas.openxmlformats.org/officeDocument/2006/relationships/slide" Target="slides/slide134.xml"/><Relationship Id="rId147" Type="http://schemas.openxmlformats.org/officeDocument/2006/relationships/slide" Target="slides/slide135.xml"/><Relationship Id="rId148" Type="http://schemas.openxmlformats.org/officeDocument/2006/relationships/slide" Target="slides/slide136.xml"/><Relationship Id="rId149" Type="http://schemas.openxmlformats.org/officeDocument/2006/relationships/slide" Target="slides/slide137.xml"/><Relationship Id="rId150" Type="http://schemas.openxmlformats.org/officeDocument/2006/relationships/slide" Target="slides/slide138.xml"/><Relationship Id="rId151" Type="http://schemas.openxmlformats.org/officeDocument/2006/relationships/slide" Target="slides/slide139.xml"/><Relationship Id="rId152" Type="http://schemas.openxmlformats.org/officeDocument/2006/relationships/slide" Target="slides/slide140.xml"/><Relationship Id="rId153" Type="http://schemas.openxmlformats.org/officeDocument/2006/relationships/slide" Target="slides/slide141.xml"/><Relationship Id="rId154" Type="http://schemas.openxmlformats.org/officeDocument/2006/relationships/slide" Target="slides/slide142.xml"/><Relationship Id="rId155" Type="http://schemas.openxmlformats.org/officeDocument/2006/relationships/slide" Target="slides/slide143.xml"/><Relationship Id="rId156" Type="http://schemas.openxmlformats.org/officeDocument/2006/relationships/slide" Target="slides/slide144.xml"/><Relationship Id="rId157" Type="http://schemas.openxmlformats.org/officeDocument/2006/relationships/slide" Target="slides/slide145.xml"/><Relationship Id="rId158" Type="http://schemas.openxmlformats.org/officeDocument/2006/relationships/slide" Target="slides/slide146.xml"/><Relationship Id="rId159" Type="http://schemas.openxmlformats.org/officeDocument/2006/relationships/slide" Target="slides/slide147.xml"/><Relationship Id="rId160" Type="http://schemas.openxmlformats.org/officeDocument/2006/relationships/slide" Target="slides/slide148.xml"/><Relationship Id="rId161" Type="http://schemas.openxmlformats.org/officeDocument/2006/relationships/slide" Target="slides/slide149.xml"/><Relationship Id="rId162" Type="http://schemas.openxmlformats.org/officeDocument/2006/relationships/slide" Target="slides/slide150.xml"/><Relationship Id="rId163" Type="http://schemas.openxmlformats.org/officeDocument/2006/relationships/slide" Target="slides/slide151.xml"/><Relationship Id="rId164" Type="http://schemas.openxmlformats.org/officeDocument/2006/relationships/slide" Target="slides/slide152.xml"/><Relationship Id="rId165" Type="http://schemas.openxmlformats.org/officeDocument/2006/relationships/slide" Target="slides/slide153.xml"/><Relationship Id="rId166" Type="http://schemas.openxmlformats.org/officeDocument/2006/relationships/slide" Target="slides/slide154.xml"/><Relationship Id="rId167" Type="http://schemas.openxmlformats.org/officeDocument/2006/relationships/slide" Target="slides/slide155.xml"/><Relationship Id="rId168" Type="http://schemas.openxmlformats.org/officeDocument/2006/relationships/slide" Target="slides/slide156.xml"/><Relationship Id="rId169" Type="http://schemas.openxmlformats.org/officeDocument/2006/relationships/slide" Target="slides/slide157.xml"/><Relationship Id="rId170" Type="http://schemas.openxmlformats.org/officeDocument/2006/relationships/slide" Target="slides/slide158.xml"/><Relationship Id="rId171" Type="http://schemas.openxmlformats.org/officeDocument/2006/relationships/slide" Target="slides/slide159.xml"/><Relationship Id="rId172" Type="http://schemas.openxmlformats.org/officeDocument/2006/relationships/slide" Target="slides/slide160.xml"/><Relationship Id="rId173" Type="http://schemas.openxmlformats.org/officeDocument/2006/relationships/slide" Target="slides/slide161.xml"/><Relationship Id="rId174" Type="http://schemas.openxmlformats.org/officeDocument/2006/relationships/slide" Target="slides/slide162.xml"/><Relationship Id="rId175" Type="http://schemas.openxmlformats.org/officeDocument/2006/relationships/slide" Target="slides/slide163.xml"/><Relationship Id="rId176" Type="http://schemas.openxmlformats.org/officeDocument/2006/relationships/slide" Target="slides/slide164.xml"/><Relationship Id="rId177" Type="http://schemas.openxmlformats.org/officeDocument/2006/relationships/slide" Target="slides/slide165.xml"/><Relationship Id="rId178" Type="http://schemas.openxmlformats.org/officeDocument/2006/relationships/slide" Target="slides/slide166.xml"/><Relationship Id="rId179" Type="http://schemas.openxmlformats.org/officeDocument/2006/relationships/slide" Target="slides/slide167.xml"/><Relationship Id="rId180" Type="http://schemas.openxmlformats.org/officeDocument/2006/relationships/slide" Target="slides/slide168.xml"/><Relationship Id="rId181" Type="http://schemas.openxmlformats.org/officeDocument/2006/relationships/slide" Target="slides/slide169.xml"/><Relationship Id="rId183" Type="http://schemas.openxmlformats.org/officeDocument/2006/relationships/slide" Target="slides/slide170.xml"/><Relationship Id="rId184" Type="http://schemas.openxmlformats.org/officeDocument/2006/relationships/slide" Target="slides/slide171.xml"/><Relationship Id="rId185" Type="http://schemas.openxmlformats.org/officeDocument/2006/relationships/slide" Target="slides/slide172.xml"/><Relationship Id="rId186" Type="http://schemas.openxmlformats.org/officeDocument/2006/relationships/slide" Target="slides/slide173.xml"/><Relationship Id="rId187" Type="http://schemas.openxmlformats.org/officeDocument/2006/relationships/slide" Target="slides/slide174.xml"/><Relationship Id="rId188" Type="http://schemas.openxmlformats.org/officeDocument/2006/relationships/slide" Target="slides/slide175.xml"/><Relationship Id="rId189" Type="http://schemas.openxmlformats.org/officeDocument/2006/relationships/slide" Target="slides/slide176.xml"/><Relationship Id="rId190" Type="http://schemas.openxmlformats.org/officeDocument/2006/relationships/slide" Target="slides/slide177.xml"/><Relationship Id="rId191" Type="http://schemas.openxmlformats.org/officeDocument/2006/relationships/slide" Target="slides/slide178.xml"/><Relationship Id="rId192" Type="http://schemas.openxmlformats.org/officeDocument/2006/relationships/slide" Target="slides/slide179.xml"/><Relationship Id="rId193" Type="http://schemas.openxmlformats.org/officeDocument/2006/relationships/slide" Target="slides/slide180.xml"/><Relationship Id="rId194" Type="http://schemas.openxmlformats.org/officeDocument/2006/relationships/slide" Target="slides/slide181.xml"/><Relationship Id="rId195" Type="http://schemas.openxmlformats.org/officeDocument/2006/relationships/slide" Target="slides/slide182.xml"/><Relationship Id="rId196" Type="http://schemas.openxmlformats.org/officeDocument/2006/relationships/slide" Target="slides/slide183.xml"/><Relationship Id="rId197" Type="http://schemas.openxmlformats.org/officeDocument/2006/relationships/slide" Target="slides/slide184.xml"/><Relationship Id="rId198" Type="http://schemas.openxmlformats.org/officeDocument/2006/relationships/slide" Target="slides/slide185.xml"/><Relationship Id="rId199" Type="http://schemas.openxmlformats.org/officeDocument/2006/relationships/slide" Target="slides/slide186.xml"/><Relationship Id="rId200" Type="http://schemas.openxmlformats.org/officeDocument/2006/relationships/slide" Target="slides/slide187.xml"/><Relationship Id="rId201" Type="http://schemas.openxmlformats.org/officeDocument/2006/relationships/slide" Target="slides/slide188.xml"/><Relationship Id="rId202" Type="http://schemas.openxmlformats.org/officeDocument/2006/relationships/slide" Target="slides/slide189.xml"/><Relationship Id="rId203" Type="http://schemas.openxmlformats.org/officeDocument/2006/relationships/slide" Target="slides/slide190.xml"/><Relationship Id="rId204" Type="http://schemas.openxmlformats.org/officeDocument/2006/relationships/slide" Target="slides/slide191.xml"/><Relationship Id="rId205" Type="http://schemas.openxmlformats.org/officeDocument/2006/relationships/slide" Target="slides/slide192.xml"/><Relationship Id="rId206" Type="http://schemas.openxmlformats.org/officeDocument/2006/relationships/slide" Target="slides/slide193.xml"/><Relationship Id="rId207" Type="http://schemas.openxmlformats.org/officeDocument/2006/relationships/slide" Target="slides/slide194.xml"/><Relationship Id="rId208" Type="http://schemas.openxmlformats.org/officeDocument/2006/relationships/slide" Target="slides/slide195.xml"/><Relationship Id="rId209" Type="http://schemas.openxmlformats.org/officeDocument/2006/relationships/slide" Target="slides/slide196.xml"/><Relationship Id="rId210" Type="http://schemas.openxmlformats.org/officeDocument/2006/relationships/slide" Target="slides/slide197.xml"/><Relationship Id="rId211" Type="http://schemas.openxmlformats.org/officeDocument/2006/relationships/slide" Target="slides/slide198.xml"/><Relationship Id="rId212" Type="http://schemas.openxmlformats.org/officeDocument/2006/relationships/slide" Target="slides/slide199.xml"/><Relationship Id="rId213" Type="http://schemas.openxmlformats.org/officeDocument/2006/relationships/slide" Target="slides/slide200.xml"/><Relationship Id="rId214" Type="http://schemas.openxmlformats.org/officeDocument/2006/relationships/slide" Target="slides/slide201.xml"/><Relationship Id="rId215" Type="http://schemas.openxmlformats.org/officeDocument/2006/relationships/slide" Target="slides/slide202.xml"/><Relationship Id="rId216" Type="http://schemas.openxmlformats.org/officeDocument/2006/relationships/slide" Target="slides/slide203.xml"/><Relationship Id="rId217" Type="http://schemas.openxmlformats.org/officeDocument/2006/relationships/slide" Target="slides/slide204.xml"/><Relationship Id="rId218" Type="http://schemas.openxmlformats.org/officeDocument/2006/relationships/slide" Target="slides/slide205.xml"/><Relationship Id="rId219" Type="http://schemas.openxmlformats.org/officeDocument/2006/relationships/slide" Target="slides/slide206.xml"/><Relationship Id="rId220" Type="http://schemas.openxmlformats.org/officeDocument/2006/relationships/slide" Target="slides/slide207.xml"/><Relationship Id="rId223" Type="http://schemas.openxmlformats.org/officeDocument/2006/relationships/slide" Target="slides/slide208.xml"/><Relationship Id="rId225" Type="http://schemas.openxmlformats.org/officeDocument/2006/relationships/slide" Target="slides/slide20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10058400" y="658368"/>
            <a:ext cx="141732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749808"/>
            <a:ext cx="1417320" cy="457200"/>
          </a:xfrm>
          <a:prstGeom prst="rect">
            <a:avLst/>
          </a:prstGeom>
          <a:noFill/>
        </p:spPr>
        <p:txBody>
          <a:bodyPr wrap="square" anchor="t">
            <a:spAutoFit/>
          </a:bodyPr>
          <a:lstStyle/>
          <a:p>
            <a:pPr algn="ctr">
              <a:spcAft>
                <a:spcPts val="400"/>
              </a:spcAft>
            </a:pPr>
            <a:r>
              <a:rPr sz="1900" b="1">
                <a:solidFill>
                  <a:srgbClr val="FFFFFF"/>
                </a:solidFill>
                <a:latin typeface="Arial"/>
              </a:rPr>
              <a:t>REACT</a:t>
            </a:r>
          </a:p>
        </p:txBody>
      </p:sp>
      <p:sp>
        <p:nvSpPr>
          <p:cNvPr id="8" name="TextBox 7"/>
          <p:cNvSpPr txBox="1"/>
          <p:nvPr/>
        </p:nvSpPr>
        <p:spPr>
          <a:xfrm>
            <a:off x="10058400" y="1170432"/>
            <a:ext cx="1417320" cy="365760"/>
          </a:xfrm>
          <a:prstGeom prst="rect">
            <a:avLst/>
          </a:prstGeom>
          <a:noFill/>
        </p:spPr>
        <p:txBody>
          <a:bodyPr wrap="square" anchor="t">
            <a:spAutoFit/>
          </a:bodyPr>
          <a:lstStyle/>
          <a:p>
            <a:pPr algn="ctr">
              <a:spcAft>
                <a:spcPts val="400"/>
              </a:spcAft>
            </a:pPr>
            <a:r>
              <a:rPr sz="800" b="1">
                <a:solidFill>
                  <a:srgbClr val="FFFFFF"/>
                </a:solidFill>
                <a:latin typeface="Arial"/>
              </a:rPr>
              <a:t>VIBE CODING</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Vibe Coding for React Development</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C1143</a:t>
            </a:r>
          </a:p>
          <a:p>
            <a:r>
              <a:rPr sz="1600" b="0">
                <a:latin typeface="Arial"/>
              </a:rPr>
              <a:t>Conducted by Tertiary Infotech Academy Pte Ltd  ·  UEN 201200696W</a:t>
            </a:r>
          </a:p>
          <a:p>
            <a:r>
              <a:rPr sz="1600" b="0">
                <a:latin typeface="Arial"/>
              </a:rPr>
              <a:t>Trainer: Dr. Alfred Ang</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v4.0  ·  5 October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Full-stack web development, AI-assisted engineering and cloud.</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Courses on React, vibe coding, AI agents and software engineering.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JavaScript, React or any AI coding assistant.</a:t>
            </a:r>
          </a:p>
          <a:p>
            <a:pPr>
              <a:spcAft>
                <a:spcPts val="1000"/>
              </a:spcAft>
            </a:pPr>
            <a:r>
              <a:rPr sz="2000" b="0">
                <a:solidFill>
                  <a:srgbClr val="161B26"/>
                </a:solidFill>
                <a:latin typeface="Arial"/>
              </a:rPr>
              <a:t>•  What you want to build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Attend both days to get the most from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7.5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 &amp; timing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Vibe Coding, Cloud Deployment &amp; Core React</a:t>
            </a:r>
          </a:p>
          <a:p>
            <a:pPr>
              <a:spcAft>
                <a:spcPts val="1000"/>
              </a:spcAft>
            </a:pPr>
            <a:r>
              <a:rPr sz="1400" b="0">
                <a:solidFill>
                  <a:srgbClr val="5B6372"/>
                </a:solidFill>
                <a:latin typeface="Arial"/>
              </a:rPr>
              <a:t>–  Topic 1: Build a React App with Vibe Coding (Labs 1.1–1.3)</a:t>
            </a:r>
          </a:p>
          <a:p>
            <a:pPr>
              <a:spcAft>
                <a:spcPts val="1000"/>
              </a:spcAft>
            </a:pPr>
            <a:r>
              <a:rPr sz="1400" b="0">
                <a:solidFill>
                  <a:srgbClr val="5B6372"/>
                </a:solidFill>
                <a:latin typeface="Arial"/>
              </a:rPr>
              <a:t>–  Topic 2: Deploy to the Cloud (Labs 2.1–2.3)</a:t>
            </a:r>
          </a:p>
          <a:p>
            <a:pPr>
              <a:spcAft>
                <a:spcPts val="1000"/>
              </a:spcAft>
            </a:pPr>
            <a:r>
              <a:rPr sz="1400" b="0">
                <a:solidFill>
                  <a:srgbClr val="5B6372"/>
                </a:solidFill>
                <a:latin typeface="Arial"/>
              </a:rPr>
              <a:t>–  Topic 3: Core React Concepts (Labs 3.1–3.4)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Hooks, Data, Routing &amp; Capstone</a:t>
            </a:r>
          </a:p>
          <a:p>
            <a:r>
              <a:rPr sz="1600" b="0">
                <a:latin typeface="Arial"/>
              </a:rPr>
              <a:t>–  Topic 4: React Hooks (Labs 4.1–4.5)</a:t>
            </a:r>
          </a:p>
          <a:p>
            <a:r>
              <a:rPr sz="1600" b="0">
                <a:latin typeface="Arial"/>
              </a:rPr>
              <a:t>–  Topic 5: APIs &amp; Neon Database (Labs 5.1–5.4)</a:t>
            </a:r>
          </a:p>
          <a:p>
            <a:r>
              <a:rPr sz="1600" b="0">
                <a:latin typeface="Arial"/>
              </a:rPr>
              <a:t>–  Topic 6: React Router &amp; Deployment (Labs 6.1–6.5)</a:t>
            </a:r>
          </a:p>
          <a:p>
            <a:r>
              <a:rPr sz="1600" b="0">
                <a:latin typeface="Arial"/>
              </a:rPr>
              <a:t>–  Daily timing: 9:30am–5:30pm · 30-min lunch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YOUR WORKBENCH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57400"/>
            <a:ext cx="4663440" cy="457200"/>
          </a:xfrm>
          <a:prstGeom prst="rect">
            <a:avLst/>
          </a:prstGeom>
          <a:noFill/>
        </p:spPr>
        <p:txBody>
          <a:bodyPr wrap="square" anchor="t">
            <a:spAutoFit/>
          </a:bodyPr>
          <a:lstStyle/>
          <a:p>
            <a:pPr algn="l">
              <a:spcAft>
                <a:spcPts val="400"/>
              </a:spcAft>
            </a:pPr>
            <a:r>
              <a:rPr sz="1700" b="1">
                <a:solidFill>
                  <a:srgbClr val="1F6FEB"/>
                </a:solidFill>
                <a:latin typeface="Arial"/>
              </a:rPr>
              <a:t>Option A — Download the courseware</a:t>
            </a:r>
          </a:p>
        </p:txBody>
      </p:sp>
      <p:sp>
        <p:nvSpPr>
          <p:cNvPr id="10" name="TextBox 9"/>
          <p:cNvSpPr txBox="1"/>
          <p:nvPr/>
        </p:nvSpPr>
        <p:spPr>
          <a:xfrm>
            <a:off x="1051560" y="2606040"/>
            <a:ext cx="4663440" cy="1280160"/>
          </a:xfrm>
          <a:prstGeom prst="rect">
            <a:avLst/>
          </a:prstGeom>
          <a:noFill/>
        </p:spPr>
        <p:txBody>
          <a:bodyPr wrap="square">
            <a:spAutoFit/>
          </a:bodyPr>
          <a:lstStyle/>
          <a:p>
            <a:pPr>
              <a:spcAft>
                <a:spcPts val="1000"/>
              </a:spcAft>
            </a:pPr>
            <a:r>
              <a:rPr sz="1300" b="0">
                <a:solidFill>
                  <a:srgbClr val="161B26"/>
                </a:solidFill>
                <a:latin typeface="Arial"/>
              </a:rPr>
              <a:t>•  Sign in to the LMS and download the course pack.</a:t>
            </a:r>
          </a:p>
          <a:p>
            <a:pPr>
              <a:spcAft>
                <a:spcPts val="1000"/>
              </a:spcAft>
            </a:pPr>
            <a:r>
              <a:rPr sz="1300" b="0">
                <a:solidFill>
                  <a:srgbClr val="161B26"/>
                </a:solidFill>
                <a:latin typeface="Arial"/>
              </a:rPr>
              <a:t>•  Unzip it — every lab lives in labs/topic-N/.</a:t>
            </a:r>
          </a:p>
        </p:txBody>
      </p:sp>
      <p:sp>
        <p:nvSpPr>
          <p:cNvPr id="11" name="Rectangle 10"/>
          <p:cNvSpPr/>
          <p:nvPr/>
        </p:nvSpPr>
        <p:spPr>
          <a:xfrm>
            <a:off x="6355080" y="1783080"/>
            <a:ext cx="507492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57400"/>
            <a:ext cx="4572000" cy="457200"/>
          </a:xfrm>
          <a:prstGeom prst="rect">
            <a:avLst/>
          </a:prstGeom>
          <a:noFill/>
        </p:spPr>
        <p:txBody>
          <a:bodyPr wrap="square" anchor="t">
            <a:spAutoFit/>
          </a:bodyPr>
          <a:lstStyle/>
          <a:p>
            <a:pPr algn="l">
              <a:spcAft>
                <a:spcPts val="400"/>
              </a:spcAft>
            </a:pPr>
            <a:r>
              <a:rPr sz="1700" b="1">
                <a:solidFill>
                  <a:srgbClr val="10B981"/>
                </a:solidFill>
                <a:latin typeface="Arial"/>
              </a:rPr>
              <a:t>Option B — Build it yourself</a:t>
            </a:r>
          </a:p>
        </p:txBody>
      </p:sp>
      <p:sp>
        <p:nvSpPr>
          <p:cNvPr id="14" name="TextBox 13"/>
          <p:cNvSpPr txBox="1"/>
          <p:nvPr/>
        </p:nvSpPr>
        <p:spPr>
          <a:xfrm>
            <a:off x="6629400" y="2606040"/>
            <a:ext cx="4572000" cy="1280160"/>
          </a:xfrm>
          <a:prstGeom prst="rect">
            <a:avLst/>
          </a:prstGeom>
          <a:noFill/>
        </p:spPr>
        <p:txBody>
          <a:bodyPr wrap="square">
            <a:spAutoFit/>
          </a:bodyPr>
          <a:lstStyle/>
          <a:p>
            <a:pPr>
              <a:spcAft>
                <a:spcPts val="1000"/>
              </a:spcAft>
            </a:pPr>
            <a:r>
              <a:rPr sz="1300" b="0">
                <a:solidFill>
                  <a:srgbClr val="161B26"/>
                </a:solidFill>
                <a:latin typeface="Arial"/>
              </a:rPr>
              <a:t>•  npm create vite@latest cookbake -- --template react</a:t>
            </a:r>
          </a:p>
          <a:p>
            <a:pPr>
              <a:spcAft>
                <a:spcPts val="1000"/>
              </a:spcAft>
            </a:pPr>
            <a:r>
              <a:rPr sz="1300" b="0">
                <a:solidFill>
                  <a:srgbClr val="161B26"/>
                </a:solidFill>
                <a:latin typeface="Arial"/>
              </a:rPr>
              <a:t>•  Each lab folder holds a drop-in src/ snapshot.</a:t>
            </a:r>
          </a:p>
        </p:txBody>
      </p:sp>
      <p:sp>
        <p:nvSpPr>
          <p:cNvPr id="15" name="TextBox 14"/>
          <p:cNvSpPr txBox="1"/>
          <p:nvPr/>
        </p:nvSpPr>
        <p:spPr>
          <a:xfrm>
            <a:off x="777240" y="43434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Courseware on the LMS:</a:t>
            </a:r>
          </a:p>
        </p:txBody>
      </p:sp>
      <p:sp>
        <p:nvSpPr>
          <p:cNvPr id="16" name="TextBox 15"/>
          <p:cNvSpPr txBox="1"/>
          <p:nvPr/>
        </p:nvSpPr>
        <p:spPr>
          <a:xfrm>
            <a:off x="777240" y="4709160"/>
            <a:ext cx="10607040" cy="457200"/>
          </a:xfrm>
          <a:prstGeom prst="rect">
            <a:avLst/>
          </a:prstGeom>
          <a:noFill/>
        </p:spPr>
        <p:txBody>
          <a:bodyPr wrap="square">
            <a:spAutoFit/>
          </a:bodyPr>
          <a:lstStyle/>
          <a:p>
            <a:pPr algn="l"/>
            <a:r>
              <a:rPr sz="1800" b="1">
                <a:solidFill>
                  <a:srgbClr val="1F6FEB"/>
                </a:solidFill>
                <a:latin typeface="Arial"/>
                <a:hlinkClick r:id="rId2"/>
              </a:rPr>
              <a:t>https://lms-tms.tertiaryinfotech.com/</a:t>
            </a:r>
          </a:p>
        </p:txBody>
      </p:sp>
      <p:sp>
        <p:nvSpPr>
          <p:cNvPr id="17" name="TextBox 16"/>
          <p:cNvSpPr txBox="1"/>
          <p:nvPr/>
        </p:nvSpPr>
        <p:spPr>
          <a:xfrm>
            <a:off x="777240" y="5257800"/>
            <a:ext cx="10607040" cy="822960"/>
          </a:xfrm>
          <a:prstGeom prst="rect">
            <a:avLst/>
          </a:prstGeom>
          <a:noFill/>
        </p:spPr>
        <p:txBody>
          <a:bodyPr wrap="square" anchor="t">
            <a:spAutoFit/>
          </a:bodyPr>
          <a:lstStyle/>
          <a:p>
            <a:pPr algn="l">
              <a:spcAft>
                <a:spcPts val="400"/>
              </a:spcAft>
            </a:pPr>
            <a:r>
              <a:rPr sz="1400" b="0">
                <a:solidFill>
                  <a:srgbClr val="5B6372"/>
                </a:solidFill>
                <a:latin typeface="Arial"/>
              </a:rPr>
              <a:t>Every lab folder is a checkpoint: if an AI edit breaks your app, copy that lab's src/ over your own and carry 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Vibe Coding &amp; the React Model</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COURSE EXISTS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AI writes the code. You supply the judgement.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agent will hand you working React in seconds — and a key={index} that corrupts your list on delete. If you cannot read it, you cannot ship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HOW YOU WILL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Vibe Coding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Prompt — name the file, the exports and the traps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 let the agent write it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Read — audit against a checklist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 learn the concept underneath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Correct — fix what the agent got wrong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IDEAS, ONE LIBRARY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React Mental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component is a function</a:t>
            </a:r>
          </a:p>
          <a:p>
            <a:pPr algn="l">
              <a:spcAft>
                <a:spcPts val="300"/>
              </a:spcAft>
            </a:pPr>
            <a:r>
              <a:rPr sz="1200" b="0">
                <a:solidFill>
                  <a:srgbClr val="5B6372"/>
                </a:solidFill>
                <a:latin typeface="Arial"/>
              </a:rPr>
              <a:t>It takes props and returns JSX describing the UI for the current state.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JSX is not HTML</a:t>
            </a:r>
          </a:p>
          <a:p>
            <a:pPr algn="l">
              <a:spcAft>
                <a:spcPts val="300"/>
              </a:spcAft>
            </a:pPr>
            <a:r>
              <a:rPr sz="1200" b="0">
                <a:solidFill>
                  <a:srgbClr val="5B6372"/>
                </a:solidFill>
                <a:latin typeface="Arial"/>
              </a:rPr>
              <a:t>It compiles to function calls returning plain JavaScript objects.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 drives the UI</a:t>
            </a:r>
          </a:p>
          <a:p>
            <a:pPr algn="l">
              <a:spcAft>
                <a:spcPts val="300"/>
              </a:spcAft>
            </a:pPr>
            <a:r>
              <a:rPr sz="1200" b="0">
                <a:solidFill>
                  <a:srgbClr val="5B6372"/>
                </a:solidFill>
                <a:latin typeface="Arial"/>
              </a:rPr>
              <a:t>You change state; React works out the minimum DOM edit to match.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Virtual DOM</a:t>
            </a:r>
          </a:p>
          <a:p>
            <a:pPr algn="l">
              <a:spcAft>
                <a:spcPts val="300"/>
              </a:spcAft>
            </a:pPr>
            <a:r>
              <a:rPr sz="1200" b="0">
                <a:solidFill>
                  <a:srgbClr val="5B6372"/>
                </a:solidFill>
                <a:latin typeface="Arial"/>
              </a:rPr>
              <a:t>An in-memory object tree. Cheap to build, cheap to diff — the real DOM is what's slow.</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Props flow down</a:t>
            </a:r>
          </a:p>
          <a:p>
            <a:pPr algn="l">
              <a:spcAft>
                <a:spcPts val="300"/>
              </a:spcAft>
            </a:pPr>
            <a:r>
              <a:rPr sz="1200" b="0">
                <a:solidFill>
                  <a:srgbClr val="5B6372"/>
                </a:solidFill>
                <a:latin typeface="Arial"/>
              </a:rPr>
              <a:t>Parent to child, read-only. A child calls a callback instead of writing to a prop.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Hooks add memory</a:t>
            </a:r>
          </a:p>
          <a:p>
            <a:pPr algn="l">
              <a:spcAft>
                <a:spcPts val="300"/>
              </a:spcAft>
            </a:pPr>
            <a:r>
              <a:rPr sz="1200" b="0">
                <a:solidFill>
                  <a:srgbClr val="5B6372"/>
                </a:solidFill>
                <a:latin typeface="Arial"/>
              </a:rPr>
              <a:t>useState remembers, useEffect synchronises with the outside world.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TOOLING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Stack You Will Build 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Front end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Vite — dev server &amp; build</a:t>
            </a:r>
          </a:p>
          <a:p>
            <a:pPr>
              <a:spcAft>
                <a:spcPts val="900"/>
              </a:spcAft>
            </a:pPr>
            <a:r>
              <a:rPr sz="1400" b="0">
                <a:solidFill>
                  <a:srgbClr val="161B26"/>
                </a:solidFill>
                <a:latin typeface="Arial"/>
              </a:rPr>
              <a:t>•  React 19 — function components</a:t>
            </a:r>
          </a:p>
          <a:p>
            <a:pPr>
              <a:spcAft>
                <a:spcPts val="900"/>
              </a:spcAft>
            </a:pPr>
            <a:r>
              <a:rPr sz="1400" b="0">
                <a:solidFill>
                  <a:srgbClr val="161B26"/>
                </a:solidFill>
                <a:latin typeface="Arial"/>
              </a:rPr>
              <a:t>•  React Router 7 — navigation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Back end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Vercel Functions — the /api tier</a:t>
            </a:r>
          </a:p>
          <a:p>
            <a:pPr>
              <a:spcAft>
                <a:spcPts val="900"/>
              </a:spcAft>
            </a:pPr>
            <a:r>
              <a:rPr sz="1400" b="0">
                <a:solidFill>
                  <a:srgbClr val="161B26"/>
                </a:solidFill>
                <a:latin typeface="Arial"/>
              </a:rPr>
              <a:t>•  Neon — serverless Postgres</a:t>
            </a:r>
          </a:p>
          <a:p>
            <a:pPr>
              <a:spcAft>
                <a:spcPts val="900"/>
              </a:spcAft>
            </a:pPr>
            <a:r>
              <a:rPr sz="1400" b="0">
                <a:solidFill>
                  <a:srgbClr val="161B26"/>
                </a:solidFill>
                <a:latin typeface="Arial"/>
              </a:rPr>
              <a:t>•  bcrypt + JWT — accounts &amp; auth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Ship it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Git &amp; GitHub — your safety net</a:t>
            </a:r>
          </a:p>
          <a:p>
            <a:pPr>
              <a:spcAft>
                <a:spcPts val="900"/>
              </a:spcAft>
            </a:pPr>
            <a:r>
              <a:rPr sz="1400" b="0">
                <a:solidFill>
                  <a:srgbClr val="161B26"/>
                </a:solidFill>
                <a:latin typeface="Arial"/>
              </a:rPr>
              <a:t>•  Vercel — deploy on every push</a:t>
            </a:r>
          </a:p>
          <a:p>
            <a:pPr>
              <a:spcAft>
                <a:spcPts val="900"/>
              </a:spcAft>
            </a:pPr>
            <a:r>
              <a:rPr sz="1400" b="0">
                <a:solidFill>
                  <a:srgbClr val="161B26"/>
                </a:solidFill>
                <a:latin typeface="Arial"/>
              </a:rPr>
              <a:t>•  An AI agent — Claude Code / Cursor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APP, SIX TOPICS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Project: Cook &amp; Bake Academy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The app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How it grows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it is</a:t>
            </a:r>
          </a:p>
          <a:p>
            <a:pPr>
              <a:spcAft>
                <a:spcPts val="1000"/>
              </a:spcAft>
            </a:pPr>
            <a:r>
              <a:rPr sz="1400" b="0">
                <a:solidFill>
                  <a:srgbClr val="5B6372"/>
                </a:solidFill>
                <a:latin typeface="Arial"/>
              </a:rPr>
              <a:t>–  A cooking &amp; bakery school website</a:t>
            </a:r>
          </a:p>
          <a:p>
            <a:pPr>
              <a:spcAft>
                <a:spcPts val="1000"/>
              </a:spcAft>
            </a:pPr>
            <a:r>
              <a:rPr sz="1400" b="0">
                <a:solidFill>
                  <a:srgbClr val="5B6372"/>
                </a:solidFill>
                <a:latin typeface="Arial"/>
              </a:rPr>
              <a:t>–  20 courses, enrolments, reviews</a:t>
            </a:r>
          </a:p>
          <a:p>
            <a:pPr>
              <a:spcAft>
                <a:spcPts val="1000"/>
              </a:spcAft>
            </a:pPr>
            <a:r>
              <a:rPr sz="1600" b="0">
                <a:solidFill>
                  <a:srgbClr val="161B26"/>
                </a:solidFill>
                <a:latin typeface="Arial"/>
              </a:rPr>
              <a:t>•  Day 1</a:t>
            </a:r>
          </a:p>
          <a:p>
            <a:pPr>
              <a:spcAft>
                <a:spcPts val="1000"/>
              </a:spcAft>
            </a:pPr>
            <a:r>
              <a:rPr sz="1400" b="0">
                <a:solidFill>
                  <a:srgbClr val="5B6372"/>
                </a:solidFill>
                <a:latin typeface="Arial"/>
              </a:rPr>
              <a:t>–  Vibe-coded landing page, deployed</a:t>
            </a:r>
          </a:p>
          <a:p>
            <a:pPr>
              <a:spcAft>
                <a:spcPts val="1000"/>
              </a:spcAft>
            </a:pPr>
            <a:r>
              <a:rPr sz="1400" b="0">
                <a:solidFill>
                  <a:srgbClr val="5B6372"/>
                </a:solidFill>
                <a:latin typeface="Arial"/>
              </a:rPr>
              <a:t>–  Refactored into real components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a:t>
            </a:r>
          </a:p>
          <a:p>
            <a:pPr>
              <a:spcAft>
                <a:spcPts val="1000"/>
              </a:spcAft>
            </a:pPr>
            <a:r>
              <a:rPr sz="1400" b="0">
                <a:solidFill>
                  <a:srgbClr val="5B6372"/>
                </a:solidFill>
                <a:latin typeface="Arial"/>
              </a:rPr>
              <a:t>–  Made interactive with hooks</a:t>
            </a:r>
          </a:p>
          <a:p>
            <a:pPr>
              <a:spcAft>
                <a:spcPts val="1000"/>
              </a:spcAft>
            </a:pPr>
            <a:r>
              <a:rPr sz="1400" b="0">
                <a:solidFill>
                  <a:srgbClr val="5B6372"/>
                </a:solidFill>
                <a:latin typeface="Arial"/>
              </a:rPr>
              <a:t>–  A serverless API over Neon Postgres</a:t>
            </a:r>
          </a:p>
          <a:p>
            <a:pPr>
              <a:spcAft>
                <a:spcPts val="1000"/>
              </a:spcAft>
            </a:pPr>
            <a:r>
              <a:rPr sz="1400" b="0">
                <a:solidFill>
                  <a:srgbClr val="5B6372"/>
                </a:solidFill>
                <a:latin typeface="Arial"/>
              </a:rPr>
              <a:t>–  Accounts, a private dashboard, routing</a:t>
            </a:r>
          </a:p>
          <a:p>
            <a:pPr>
              <a:spcAft>
                <a:spcPts val="1000"/>
              </a:spcAft>
            </a:pPr>
            <a:r>
              <a:rPr sz="1400" b="0">
                <a:solidFill>
                  <a:srgbClr val="5B6372"/>
                </a:solidFill>
                <a:latin typeface="Arial"/>
              </a:rPr>
              <a:t>–  Deployed live to Vercel + Neon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FROM EMPTY FOLDER TO DEPLOYED FULL-STACK APP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Build — One App, Six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1 · Make the first screen — components, JSX, props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2 · Put it on the internet — Git, build, Vercel</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3 · Make it real — DOM vs Virtual DOM, Babel, lists, events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4 · Make it react — the hooks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5 · Give it a backend — an API over Neon, auth</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PHASE 6 · Ship it — routing, deploy, your own feature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ONE SECURITY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Security is not hiding a key. It is trusting the token, not the request.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VITE_ variable is compiled into the bundle every visitor downloads, so DATABASE_URL lives only on the server. The user id comes from the verified JWT — never from the request body.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How React Really Renders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real DOM · Updating a page without React · The Virtual DOM · Babel &amp; JSX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BEFORE WE START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page you see IS the DOM. React just decides how to change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already know JavaScript. What makes React click is one layer down: what the DOM is, why touching it by hand hurts, and how Babel turns your JSX into plain objects React can diff.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THE REAL DOM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DOM is the browser's object tree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When the browser parses HTML it builds the DOM: a live tree of objects, one per element.</a:t>
            </a:r>
          </a:p>
          <a:p>
            <a:pPr>
              <a:spcAft>
                <a:spcPts val="900"/>
              </a:spcAft>
            </a:pPr>
            <a:r>
              <a:rPr sz="1300" b="0">
                <a:solidFill>
                  <a:srgbClr val="161B26"/>
                </a:solidFill>
                <a:latin typeface="Arial"/>
              </a:rPr>
              <a:t>•  The page you see on screen is a picture of that tree. Change the tree and the screen changes.</a:t>
            </a:r>
          </a:p>
          <a:p>
            <a:pPr>
              <a:spcAft>
                <a:spcPts val="900"/>
              </a:spcAft>
            </a:pPr>
            <a:r>
              <a:rPr sz="1300" b="0">
                <a:solidFill>
                  <a:srgbClr val="161B26"/>
                </a:solidFill>
                <a:latin typeface="Arial"/>
              </a:rPr>
              <a:t>•  JavaScript can reach into it: document.getElementById returns the real object for one node.</a:t>
            </a:r>
          </a:p>
          <a:p>
            <a:pPr>
              <a:spcAft>
                <a:spcPts val="900"/>
              </a:spcAft>
            </a:pPr>
            <a:r>
              <a:rPr sz="1300" b="0">
                <a:solidFill>
                  <a:srgbClr val="161B26"/>
                </a:solidFill>
                <a:latin typeface="Arial"/>
              </a:rPr>
              <a:t>•  Every element node has properties you can write — textContent, className, style, value.</a:t>
            </a:r>
          </a:p>
          <a:p>
            <a:pPr>
              <a:spcAft>
                <a:spcPts val="900"/>
              </a:spcAft>
            </a:pPr>
            <a:r>
              <a:rPr sz="1300" b="0">
                <a:solidFill>
                  <a:srgbClr val="161B26"/>
                </a:solidFill>
                <a:latin typeface="Arial"/>
              </a:rPr>
              <a:t>•  React does not replace the DOM. It manages it for you, so you stop writing the code below.</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DOM is the browser's live object tree — the page itself, not a copy.</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The DOM is a real, live object you can hold:</a:t>
            </a:r>
          </a:p>
          <a:p>
            <a:pPr algn="l">
              <a:spcAft>
                <a:spcPts val="200"/>
              </a:spcAft>
            </a:pPr>
            <a:r>
              <a:rPr sz="1150" b="0">
                <a:solidFill>
                  <a:srgbClr val="9CDCFE"/>
                </a:solidFill>
                <a:latin typeface="Arial"/>
              </a:rPr>
              <a:t>const el = document.getElementById('count')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el.textContent = '19'         // the screen updates</a:t>
            </a:r>
          </a:p>
          <a:p>
            <a:pPr algn="l">
              <a:spcAft>
                <a:spcPts val="200"/>
              </a:spcAft>
            </a:pPr>
            <a:r>
              <a:rPr sz="1150" b="0">
                <a:solidFill>
                  <a:srgbClr val="9CDCFE"/>
                </a:solidFill>
                <a:latin typeface="Arial"/>
              </a:rPr>
              <a:t>el.className = 'badge is-on'  // so does this</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DOM is not a picture of the page — it IS the page, a live model you can reach in and edit.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BY HAND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Updating the page without React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Without React you must say HOW to update: find the node, then overwrite each property by hand.</a:t>
            </a:r>
          </a:p>
          <a:p>
            <a:pPr>
              <a:spcAft>
                <a:spcPts val="900"/>
              </a:spcAft>
            </a:pPr>
            <a:r>
              <a:rPr sz="1300" b="0">
                <a:solidFill>
                  <a:srgbClr val="161B26"/>
                </a:solidFill>
                <a:latin typeface="Arial"/>
              </a:rPr>
              <a:t>•  You write the change twice — once in the markup, once in the patch code — and they drift apart.</a:t>
            </a:r>
          </a:p>
          <a:p>
            <a:pPr>
              <a:spcAft>
                <a:spcPts val="900"/>
              </a:spcAft>
            </a:pPr>
            <a:r>
              <a:rPr sz="1300" b="0">
                <a:solidFill>
                  <a:srgbClr val="161B26"/>
                </a:solidFill>
                <a:latin typeface="Arial"/>
              </a:rPr>
              <a:t>•  The data now lives in a DOM string. Reading '19' back out and adding to it is your problem.</a:t>
            </a:r>
          </a:p>
          <a:p>
            <a:pPr>
              <a:spcAft>
                <a:spcPts val="900"/>
              </a:spcAft>
            </a:pPr>
            <a:r>
              <a:rPr sz="1300" b="0">
                <a:solidFill>
                  <a:srgbClr val="161B26"/>
                </a:solidFill>
                <a:latin typeface="Arial"/>
              </a:rPr>
              <a:t>•  Add a filter, a search box and a shortlist and every one of them must patch every affected node.</a:t>
            </a:r>
          </a:p>
          <a:p>
            <a:pPr>
              <a:spcAft>
                <a:spcPts val="900"/>
              </a:spcAft>
            </a:pPr>
            <a:r>
              <a:rPr sz="1300" b="0">
                <a:solidFill>
                  <a:srgbClr val="161B26"/>
                </a:solidFill>
                <a:latin typeface="Arial"/>
              </a:rPr>
              <a:t>•  Twenty course cards, four fields each: eighty little patches you have to remember to keep in step.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Hand-patching the DOM means saying HOW, everywhere, forever — and it does not scale.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Vanilla JS: filter the catalogue by hand.</a:t>
            </a:r>
          </a:p>
          <a:p>
            <a:pPr algn="l">
              <a:spcAft>
                <a:spcPts val="200"/>
              </a:spcAft>
            </a:pPr>
            <a:r>
              <a:rPr sz="900" b="0">
                <a:solidFill>
                  <a:srgbClr val="9CDCFE"/>
                </a:solidFill>
                <a:latin typeface="Arial"/>
              </a:rPr>
              <a:t>function showBakery() {</a:t>
            </a:r>
          </a:p>
          <a:p>
            <a:pPr algn="l">
              <a:spcAft>
                <a:spcPts val="200"/>
              </a:spcAft>
            </a:pPr>
            <a:r>
              <a:rPr sz="900" b="0">
                <a:solidFill>
                  <a:srgbClr val="9CDCFE"/>
                </a:solidFill>
                <a:latin typeface="Arial"/>
              </a:rPr>
              <a:t>  const cards = document.querySelectorAll('.card')</a:t>
            </a:r>
          </a:p>
          <a:p>
            <a:pPr algn="l">
              <a:spcAft>
                <a:spcPts val="200"/>
              </a:spcAft>
            </a:pPr>
            <a:r>
              <a:rPr sz="900" b="0">
                <a:solidFill>
                  <a:srgbClr val="9CDCFE"/>
                </a:solidFill>
                <a:latin typeface="Arial"/>
              </a:rPr>
              <a:t>  cards.forEach((card) =&gt; {</a:t>
            </a:r>
          </a:p>
          <a:p>
            <a:pPr algn="l">
              <a:spcAft>
                <a:spcPts val="200"/>
              </a:spcAft>
            </a:pPr>
            <a:r>
              <a:rPr sz="900" b="0">
                <a:solidFill>
                  <a:srgbClr val="9CDCFE"/>
                </a:solidFill>
                <a:latin typeface="Arial"/>
              </a:rPr>
              <a:t>    const isBakery = card.dataset.category === 'Bakery'</a:t>
            </a:r>
          </a:p>
          <a:p>
            <a:pPr algn="l">
              <a:spcAft>
                <a:spcPts val="200"/>
              </a:spcAft>
            </a:pPr>
            <a:r>
              <a:rPr sz="900" b="0">
                <a:solidFill>
                  <a:srgbClr val="9CDCFE"/>
                </a:solidFill>
                <a:latin typeface="Arial"/>
              </a:rPr>
              <a:t>    card.style.display = isBakery ? 'block' : 'none'</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document.getElementById('count').textContent = '10 courses'</a:t>
            </a:r>
          </a:p>
          <a:p>
            <a:pPr algn="l">
              <a:spcAft>
                <a:spcPts val="200"/>
              </a:spcAft>
            </a:pPr>
            <a:r>
              <a:rPr sz="900" b="0">
                <a:solidFill>
                  <a:srgbClr val="9CDCFE"/>
                </a:solidFill>
                <a:latin typeface="Arial"/>
              </a:rPr>
              <a:t>  // ...and now update the chip, the heading, the empty</a:t>
            </a:r>
          </a:p>
          <a:p>
            <a:pPr algn="l">
              <a:spcAft>
                <a:spcPts val="200"/>
              </a:spcAft>
            </a:pPr>
            <a:r>
              <a:rPr sz="900" b="0">
                <a:solidFill>
                  <a:srgbClr val="9CDCFE"/>
                </a:solidFill>
                <a:latin typeface="Arial"/>
              </a:rPr>
              <a:t>  // state, the URL... every one, every time, by hand.</a:t>
            </a:r>
          </a:p>
          <a:p>
            <a:pPr algn="l">
              <a:spcAft>
                <a:spcPts val="200"/>
              </a:spcAft>
            </a:pPr>
            <a:r>
              <a:rPr sz="900" b="0">
                <a:solidFill>
                  <a:srgbClr val="9CDCFE"/>
                </a:solidFill>
                <a:latin typeface="Arial"/>
              </a:rPr>
              <a:t>}</a:t>
            </a:r>
          </a:p>
          <a:p>
            <a:pPr algn="l">
              <a:spcAft>
                <a:spcPts val="200"/>
              </a:spcAft>
            </a:pPr>
            <a:r>
              <a:rPr sz="90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Manual DOM work is giving turn-by-turn directions from memory — miss one turn and nobody notices until you are lost.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VIRTUAL DOM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Virtual DOM is React's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Virtual DOM is a lightweight tree of plain JavaScript objects describing what the UI should be.</a:t>
            </a:r>
          </a:p>
          <a:p>
            <a:pPr>
              <a:spcAft>
                <a:spcPts val="900"/>
              </a:spcAft>
            </a:pPr>
            <a:r>
              <a:rPr sz="1300" b="0">
                <a:solidFill>
                  <a:srgbClr val="161B26"/>
                </a:solidFill>
                <a:latin typeface="Arial"/>
              </a:rPr>
              <a:t>•  It is cheap: making one is just allocating objects. Touching the REAL DOM is what costs.</a:t>
            </a:r>
          </a:p>
          <a:p>
            <a:pPr>
              <a:spcAft>
                <a:spcPts val="900"/>
              </a:spcAft>
            </a:pPr>
            <a:r>
              <a:rPr sz="1300" b="0">
                <a:solidFill>
                  <a:srgbClr val="161B26"/>
                </a:solidFill>
                <a:latin typeface="Arial"/>
              </a:rPr>
              <a:t>•  On every render React builds a fresh virtual tree for the current state.</a:t>
            </a:r>
          </a:p>
          <a:p>
            <a:pPr>
              <a:spcAft>
                <a:spcPts val="900"/>
              </a:spcAft>
            </a:pPr>
            <a:r>
              <a:rPr sz="1300" b="0">
                <a:solidFill>
                  <a:srgbClr val="161B26"/>
                </a:solidFill>
                <a:latin typeface="Arial"/>
              </a:rPr>
              <a:t>•  Reconciliation is the diff: it compares the new tree with the previous one, node by node.</a:t>
            </a:r>
          </a:p>
          <a:p>
            <a:pPr>
              <a:spcAft>
                <a:spcPts val="900"/>
              </a:spcAft>
            </a:pPr>
            <a:r>
              <a:rPr sz="1300" b="0">
                <a:solidFill>
                  <a:srgbClr val="161B26"/>
                </a:solidFill>
                <a:latin typeface="Arial"/>
              </a:rPr>
              <a:t>•  It then patches ONLY the real DOM nodes that actually changed, and leaves the rest alone.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React diffs a cheap JS tree, then patches only the real nodes that changed.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State changes: 20 courses -&gt; 10 (Bakery only).</a:t>
            </a:r>
          </a:p>
          <a:p>
            <a:pPr algn="l">
              <a:spcAft>
                <a:spcPts val="200"/>
              </a:spcAft>
            </a:pPr>
            <a:r>
              <a:rPr sz="1150" b="0">
                <a:solidFill>
                  <a:srgbClr val="9CDCFE"/>
                </a:solidFill>
                <a:latin typeface="Arial"/>
              </a:rPr>
              <a:t>// React builds a NEW virtual tree, diffs it, and</a:t>
            </a:r>
          </a:p>
          <a:p>
            <a:pPr algn="l">
              <a:spcAft>
                <a:spcPts val="200"/>
              </a:spcAft>
            </a:pPr>
            <a:r>
              <a:rPr sz="1150" b="0">
                <a:solidFill>
                  <a:srgbClr val="9CDCFE"/>
                </a:solidFill>
                <a:latin typeface="Arial"/>
              </a:rPr>
              <a:t>// concludes: remove 10 &lt;article&gt; nodes, and set one</a:t>
            </a:r>
          </a:p>
          <a:p>
            <a:pPr algn="l">
              <a:spcAft>
                <a:spcPts val="200"/>
              </a:spcAft>
            </a:pPr>
            <a:r>
              <a:rPr sz="1150" b="0">
                <a:solidFill>
                  <a:srgbClr val="9CDCFE"/>
                </a:solidFill>
                <a:latin typeface="Arial"/>
              </a:rPr>
              <a:t>// text node from '20 courses' to '10 courses'.</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It does NOT rebuild the navbar, the hero, the</a:t>
            </a:r>
          </a:p>
          <a:p>
            <a:pPr algn="l">
              <a:spcAft>
                <a:spcPts val="200"/>
              </a:spcAft>
            </a:pPr>
            <a:r>
              <a:rPr sz="1150" b="0">
                <a:solidFill>
                  <a:srgbClr val="9CDCFE"/>
                </a:solidFill>
                <a:latin typeface="Arial"/>
              </a:rPr>
              <a:t>// footer or the surviving cards. They did not change.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Virtual DOM is an architect's drawing — React compares the new plan to the old before knocking down a single real wall.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THE CONTRAST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 DOM vs Virtual DOM,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Imperative (no React): you locate nodes and mutate them. You own every step of HOW.</a:t>
            </a:r>
          </a:p>
          <a:p>
            <a:pPr>
              <a:spcAft>
                <a:spcPts val="900"/>
              </a:spcAft>
            </a:pPr>
            <a:r>
              <a:rPr sz="1300" b="0">
                <a:solidFill>
                  <a:srgbClr val="161B26"/>
                </a:solidFill>
                <a:latin typeface="Arial"/>
              </a:rPr>
              <a:t>•  Declarative (React): you describe WHAT the UI is for the current state. React works out the steps.</a:t>
            </a:r>
          </a:p>
          <a:p>
            <a:pPr>
              <a:spcAft>
                <a:spcPts val="900"/>
              </a:spcAft>
            </a:pPr>
            <a:r>
              <a:rPr sz="1300" b="0">
                <a:solidFill>
                  <a:srgbClr val="161B26"/>
                </a:solidFill>
                <a:latin typeface="Arial"/>
              </a:rPr>
              <a:t>•  The React version has no getElementById, no textContent and no className assignment anywhere.</a:t>
            </a:r>
          </a:p>
          <a:p>
            <a:pPr>
              <a:spcAft>
                <a:spcPts val="900"/>
              </a:spcAft>
            </a:pPr>
            <a:r>
              <a:rPr sz="1300" b="0">
                <a:solidFill>
                  <a:srgbClr val="161B26"/>
                </a:solidFill>
                <a:latin typeface="Arial"/>
              </a:rPr>
              <a:t>•  Because the UI is recomputed from state every time, it can never silently drift out of sync.</a:t>
            </a:r>
          </a:p>
          <a:p>
            <a:pPr>
              <a:spcAft>
                <a:spcPts val="900"/>
              </a:spcAft>
            </a:pPr>
            <a:r>
              <a:rPr sz="1300" b="0">
                <a:solidFill>
                  <a:srgbClr val="161B26"/>
                </a:solidFill>
                <a:latin typeface="Arial"/>
              </a:rPr>
              <a:t>•  Your job shrinks to one thing: keep the state correct, and describe the UI as a function of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Stop describing HOW to change the page; describe WHAT it should be.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WITHOUT React — you patch the real DOM yourself:</a:t>
            </a:r>
          </a:p>
          <a:p>
            <a:pPr algn="l">
              <a:spcAft>
                <a:spcPts val="200"/>
              </a:spcAft>
            </a:pPr>
            <a:r>
              <a:rPr sz="1095" b="0">
                <a:solidFill>
                  <a:srgbClr val="9CDCFE"/>
                </a:solidFill>
                <a:latin typeface="Arial"/>
              </a:rPr>
              <a:t>const el = document.getElementById('seats')</a:t>
            </a:r>
          </a:p>
          <a:p>
            <a:pPr algn="l">
              <a:spcAft>
                <a:spcPts val="200"/>
              </a:spcAft>
            </a:pPr>
            <a:r>
              <a:rPr sz="1095" b="0">
                <a:solidFill>
                  <a:srgbClr val="9CDCFE"/>
                </a:solidFill>
                <a:latin typeface="Arial"/>
              </a:rPr>
              <a:t>el.textContent = String(seats)</a:t>
            </a:r>
          </a:p>
          <a:p>
            <a:pPr algn="l">
              <a:spcAft>
                <a:spcPts val="200"/>
              </a:spcAft>
            </a:pPr>
            <a:r>
              <a:rPr sz="1095" b="0">
                <a:solidFill>
                  <a:srgbClr val="9CDCFE"/>
                </a:solidFill>
                <a:latin typeface="Arial"/>
              </a:rPr>
              <a:t>el.className = seats &gt; 0 ? 'badge' : 'badge is-full'</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WITH React — you describe the result, once:</a:t>
            </a:r>
          </a:p>
          <a:p>
            <a:pPr algn="l">
              <a:spcAft>
                <a:spcPts val="200"/>
              </a:spcAft>
            </a:pPr>
            <a:r>
              <a:rPr sz="1095" b="0">
                <a:solidFill>
                  <a:srgbClr val="9CDCFE"/>
                </a:solidFill>
                <a:latin typeface="Arial"/>
              </a:rPr>
              <a:t>&lt;span className={seats &gt; 0 ? 'badge' : 'badge is-full'}&gt;</a:t>
            </a:r>
          </a:p>
          <a:p>
            <a:pPr algn="l">
              <a:spcAft>
                <a:spcPts val="200"/>
              </a:spcAft>
            </a:pPr>
            <a:r>
              <a:rPr sz="1095" b="0">
                <a:solidFill>
                  <a:srgbClr val="9CDCFE"/>
                </a:solidFill>
                <a:latin typeface="Arial"/>
              </a:rPr>
              <a:t>  {seats}</a:t>
            </a:r>
          </a:p>
          <a:p>
            <a:pPr algn="l">
              <a:spcAft>
                <a:spcPts val="200"/>
              </a:spcAft>
            </a:pPr>
            <a:r>
              <a:rPr sz="1095" b="0">
                <a:solidFill>
                  <a:srgbClr val="9CDCFE"/>
                </a:solidFill>
                <a:latin typeface="Arial"/>
              </a:rPr>
              <a:t>&lt;/span&gt;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Imperative is reciting the recipe step by step; declarative is ordering the dish and letting the kitchen work out the steps.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BABEL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Babel: the browser never sees JSX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JSX is not valid JavaScript. Paste it into a browser console and you get a syntax error.</a:t>
            </a:r>
          </a:p>
          <a:p>
            <a:pPr>
              <a:spcAft>
                <a:spcPts val="900"/>
              </a:spcAft>
            </a:pPr>
            <a:r>
              <a:rPr sz="1300" b="0">
                <a:solidFill>
                  <a:srgbClr val="161B26"/>
                </a:solidFill>
                <a:latin typeface="Arial"/>
              </a:rPr>
              <a:t>•  Babel is a compiler that rewrites your JSX into ordinary function calls before it ships.</a:t>
            </a:r>
          </a:p>
          <a:p>
            <a:pPr>
              <a:spcAft>
                <a:spcPts val="900"/>
              </a:spcAft>
            </a:pPr>
            <a:r>
              <a:rPr sz="1300" b="0">
                <a:solidFill>
                  <a:srgbClr val="161B26"/>
                </a:solidFill>
                <a:latin typeface="Arial"/>
              </a:rPr>
              <a:t>•  Vite runs Babel for you through @vitejs/plugin-react — it is why the plugin is in vite.config.js.</a:t>
            </a:r>
          </a:p>
          <a:p>
            <a:pPr>
              <a:spcAft>
                <a:spcPts val="900"/>
              </a:spcAft>
            </a:pPr>
            <a:r>
              <a:rPr sz="1300" b="0">
                <a:solidFill>
                  <a:srgbClr val="161B26"/>
                </a:solidFill>
                <a:latin typeface="Arial"/>
              </a:rPr>
              <a:t>•  &lt;CourseCard fee={680}/&gt; becomes React.createElement(CourseCard, { fee: 680 }).</a:t>
            </a:r>
          </a:p>
          <a:p>
            <a:pPr>
              <a:spcAft>
                <a:spcPts val="900"/>
              </a:spcAft>
            </a:pPr>
            <a:r>
              <a:rPr sz="1300" b="0">
                <a:solidFill>
                  <a:srgbClr val="161B26"/>
                </a:solidFill>
                <a:latin typeface="Arial"/>
              </a:rPr>
              <a:t>•  That call is not markup and it is not a DOM node. It returns a plain JavaScript OBJECT.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JSX is sugar. Babel turns every tag into a call that returns a plain object.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YOU WRITE (JSX):</a:t>
            </a:r>
          </a:p>
          <a:p>
            <a:pPr algn="l">
              <a:spcAft>
                <a:spcPts val="200"/>
              </a:spcAft>
            </a:pPr>
            <a:r>
              <a:rPr sz="1150" b="0">
                <a:solidFill>
                  <a:srgbClr val="9CDCFE"/>
                </a:solidFill>
                <a:latin typeface="Arial"/>
              </a:rPr>
              <a:t>&lt;CourseCard course={course} fee={680} /&gt;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BABEL COMPILES IT TO (plain JavaScript):</a:t>
            </a:r>
          </a:p>
          <a:p>
            <a:pPr algn="l">
              <a:spcAft>
                <a:spcPts val="200"/>
              </a:spcAft>
            </a:pPr>
            <a:r>
              <a:rPr sz="1150" b="0">
                <a:solidFill>
                  <a:srgbClr val="9CDCFE"/>
                </a:solidFill>
                <a:latin typeface="Arial"/>
              </a:rPr>
              <a:t>React.createElement(CourseCard, { course: course, fee: 680 })</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WHICH RETURNS (a plain object — this is a React element):</a:t>
            </a:r>
          </a:p>
          <a:p>
            <a:pPr algn="l">
              <a:spcAft>
                <a:spcPts val="200"/>
              </a:spcAft>
            </a:pPr>
            <a:r>
              <a:rPr sz="1150" b="0">
                <a:solidFill>
                  <a:srgbClr val="9CDCFE"/>
                </a:solidFill>
                <a:latin typeface="Arial"/>
              </a:rPr>
              <a:t>{ type: CourseCard, props: { course: {...}, fee: 680 } }</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Babel is the translator in the booth — you speak JSX, the browser only ever hears JavaScript.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FOUNDATIONS · JSX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that one fact explains everything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You write className, not class, because class is a reserved word in JavaScript.</a:t>
            </a:r>
          </a:p>
          <a:p>
            <a:pPr>
              <a:spcAft>
                <a:spcPts val="900"/>
              </a:spcAft>
            </a:pPr>
            <a:r>
              <a:rPr sz="1300" b="0">
                <a:solidFill>
                  <a:srgbClr val="161B26"/>
                </a:solidFill>
                <a:latin typeface="Arial"/>
              </a:rPr>
              <a:t>•  Attributes are camelCase (onClick, htmlFor) because they are really keys in a props object.</a:t>
            </a:r>
          </a:p>
          <a:p>
            <a:pPr>
              <a:spcAft>
                <a:spcPts val="900"/>
              </a:spcAft>
            </a:pPr>
            <a:r>
              <a:rPr sz="1300" b="0">
                <a:solidFill>
                  <a:srgbClr val="161B26"/>
                </a:solidFill>
                <a:latin typeface="Arial"/>
              </a:rPr>
              <a:t>•  {} is a window for an EXPRESSION — a value. An if or a for produces no value, so it cannot fit.</a:t>
            </a:r>
          </a:p>
          <a:p>
            <a:pPr>
              <a:spcAft>
                <a:spcPts val="900"/>
              </a:spcAft>
            </a:pPr>
            <a:r>
              <a:rPr sz="1300" b="0">
                <a:solidFill>
                  <a:srgbClr val="161B26"/>
                </a:solidFill>
                <a:latin typeface="Arial"/>
              </a:rPr>
              <a:t>•  One root element per return, because a JavaScript function returns exactly one value.</a:t>
            </a:r>
          </a:p>
          <a:p>
            <a:pPr>
              <a:spcAft>
                <a:spcPts val="900"/>
              </a:spcAft>
            </a:pPr>
            <a:r>
              <a:rPr sz="1300" b="0">
                <a:solidFill>
                  <a:srgbClr val="161B26"/>
                </a:solidFill>
                <a:latin typeface="Arial"/>
              </a:rPr>
              <a:t>•  Capitalised names, because createElement('div') means a tag but createElement(CourseCard) means YOUR function.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Every JSX rule falls out of one fact: it compiles to createElement calls.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&lt;h3 className="card__title"&gt;{course.title}&lt;/h3&gt;</a:t>
            </a:r>
          </a:p>
          <a:p>
            <a:pPr algn="l">
              <a:spcAft>
                <a:spcPts val="200"/>
              </a:spcAft>
            </a:pPr>
            <a:r>
              <a:rPr sz="1150" b="0">
                <a:solidFill>
                  <a:srgbClr val="9CDCFE"/>
                </a:solidFill>
                <a:latin typeface="Arial"/>
              </a:rPr>
              <a:t>// -&gt; createElement('h3', {className:'card__title'}, ...)</a:t>
            </a:r>
          </a:p>
          <a:p>
            <a:pPr algn="l">
              <a:spcAft>
                <a:spcPts val="200"/>
              </a:spcAft>
            </a:pPr>
            <a:r>
              <a:rPr sz="1150" b="0">
                <a:solidFill>
                  <a:srgbClr val="9CDCFE"/>
                </a:solidFill>
                <a:latin typeface="Arial"/>
              </a:rPr>
              <a:t>//    lowercase string 'h3'  = a real HTML tag</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&lt;CourseCard course={course} /&gt;</a:t>
            </a:r>
          </a:p>
          <a:p>
            <a:pPr algn="l">
              <a:spcAft>
                <a:spcPts val="200"/>
              </a:spcAft>
            </a:pPr>
            <a:r>
              <a:rPr sz="1150" b="0">
                <a:solidFill>
                  <a:srgbClr val="9CDCFE"/>
                </a:solidFill>
                <a:latin typeface="Arial"/>
              </a:rPr>
              <a:t>// -&gt; createElement(CourseCard, {course})</a:t>
            </a:r>
          </a:p>
          <a:p>
            <a:pPr algn="l">
              <a:spcAft>
                <a:spcPts val="200"/>
              </a:spcAft>
            </a:pPr>
            <a:r>
              <a:rPr sz="1150" b="0">
                <a:solidFill>
                  <a:srgbClr val="9CDCFE"/>
                </a:solidFill>
                <a:latin typeface="Arial"/>
              </a:rPr>
              <a:t>//    capitalised IDENTIFIER = your function</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Once you know JSX is JavaScript in a costume, its 'weird' rules stop being rules and become consequences.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Make the First Screen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a vibe-coded landing page — the Cook &amp; Bake navbar, hero and a grid of course cards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Make the First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You have an empty folder and a client brief: a website for a cooking &amp; bakery school.</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a vibe-coded landing page — the Cook &amp; Bake navbar, hero and a grid of course cards.</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components, JSX and props.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Vibe coding is a loop, not magic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loop is Prompt, Generate, Read, Understand, Correct — the agent writes, you supply the judgement.</a:t>
            </a:r>
          </a:p>
          <a:p>
            <a:pPr>
              <a:spcAft>
                <a:spcPts val="900"/>
              </a:spcAft>
            </a:pPr>
            <a:r>
              <a:rPr sz="1300" b="0">
                <a:solidFill>
                  <a:srgbClr val="161B26"/>
                </a:solidFill>
                <a:latin typeface="Arial"/>
              </a:rPr>
              <a:t>•  An AI agent produces working React in seconds, but 'working' and 'correct' are not the same thing.</a:t>
            </a:r>
          </a:p>
          <a:p>
            <a:pPr>
              <a:spcAft>
                <a:spcPts val="900"/>
              </a:spcAft>
            </a:pPr>
            <a:r>
              <a:rPr sz="1300" b="0">
                <a:solidFill>
                  <a:srgbClr val="161B26"/>
                </a:solidFill>
                <a:latin typeface="Arial"/>
              </a:rPr>
              <a:t>•  The value you add is reading the output against a checklist and knowing the concept underneath it.</a:t>
            </a:r>
          </a:p>
          <a:p>
            <a:pPr>
              <a:spcAft>
                <a:spcPts val="900"/>
              </a:spcAft>
            </a:pPr>
            <a:r>
              <a:rPr sz="1300" b="0">
                <a:solidFill>
                  <a:srgbClr val="161B26"/>
                </a:solidFill>
                <a:latin typeface="Arial"/>
              </a:rPr>
              <a:t>•  Every lab in this course repeats the same five steps so the habit becomes automatic.</a:t>
            </a:r>
          </a:p>
          <a:p>
            <a:pPr>
              <a:spcAft>
                <a:spcPts val="900"/>
              </a:spcAft>
            </a:pPr>
            <a:r>
              <a:rPr sz="1300" b="0">
                <a:solidFill>
                  <a:srgbClr val="161B26"/>
                </a:solidFill>
                <a:latin typeface="Arial"/>
              </a:rPr>
              <a:t>•  By the end you should build fast and be able to say exactly why every line is there.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Speed comes from the agent; correctness comes from you reading it.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The five-step loop, every lab:</a:t>
            </a:r>
          </a:p>
          <a:p>
            <a:pPr algn="l">
              <a:spcAft>
                <a:spcPts val="200"/>
              </a:spcAft>
            </a:pPr>
            <a:r>
              <a:rPr sz="1150" b="0">
                <a:solidFill>
                  <a:srgbClr val="9CDCFE"/>
                </a:solidFill>
                <a:latin typeface="Arial"/>
              </a:rPr>
              <a:t>//   1 Prompt   2 Generate   3 Read</a:t>
            </a:r>
          </a:p>
          <a:p>
            <a:pPr algn="l">
              <a:spcAft>
                <a:spcPts val="200"/>
              </a:spcAft>
            </a:pPr>
            <a:r>
              <a:rPr sz="1150" b="0">
                <a:solidFill>
                  <a:srgbClr val="9CDCFE"/>
                </a:solidFill>
                <a:latin typeface="Arial"/>
              </a:rPr>
              <a:t>//   4 Understand            5 Correct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The agent writes. You supply the judgement.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Vibe coding is flying with autopilot on — you still watch the instruments and take the controls the moment something drifts.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component is just a function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React component is a JavaScript function that returns JSX describing a piece of the UI.</a:t>
            </a:r>
          </a:p>
          <a:p>
            <a:pPr>
              <a:spcAft>
                <a:spcPts val="900"/>
              </a:spcAft>
            </a:pPr>
            <a:r>
              <a:rPr sz="1300" b="0">
                <a:solidFill>
                  <a:srgbClr val="161B26"/>
                </a:solidFill>
                <a:latin typeface="Arial"/>
              </a:rPr>
              <a:t>•  Its name must start with a capital letter, or Babel compiles it to a literal HTML tag instead.</a:t>
            </a:r>
          </a:p>
          <a:p>
            <a:pPr>
              <a:spcAft>
                <a:spcPts val="900"/>
              </a:spcAft>
            </a:pPr>
            <a:r>
              <a:rPr sz="1300" b="0">
                <a:solidFill>
                  <a:srgbClr val="161B26"/>
                </a:solidFill>
                <a:latin typeface="Arial"/>
              </a:rPr>
              <a:t>•  You use it by writing it like a tag: &lt;CourseCard /&gt; calls the function and renders what it returns.</a:t>
            </a:r>
          </a:p>
          <a:p>
            <a:pPr>
              <a:spcAft>
                <a:spcPts val="900"/>
              </a:spcAft>
            </a:pPr>
            <a:r>
              <a:rPr sz="1300" b="0">
                <a:solidFill>
                  <a:srgbClr val="161B26"/>
                </a:solidFill>
                <a:latin typeface="Arial"/>
              </a:rPr>
              <a:t>•  Because it is a function, you reuse it by calling it many times, each with different props.</a:t>
            </a:r>
          </a:p>
          <a:p>
            <a:pPr>
              <a:spcAft>
                <a:spcPts val="900"/>
              </a:spcAft>
            </a:pPr>
            <a:r>
              <a:rPr sz="1300" b="0">
                <a:solidFill>
                  <a:srgbClr val="161B26"/>
                </a:solidFill>
                <a:latin typeface="Arial"/>
              </a:rPr>
              <a:t>•  This course uses function components and hooks only — never class components.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Capitalised function in, JSX out — that is the whole idea.</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CourseCard() {</a:t>
            </a:r>
          </a:p>
          <a:p>
            <a:pPr algn="l">
              <a:spcAft>
                <a:spcPts val="200"/>
              </a:spcAft>
            </a:pPr>
            <a:r>
              <a:rPr sz="1150" b="0">
                <a:solidFill>
                  <a:srgbClr val="9CDCFE"/>
                </a:solidFill>
                <a:latin typeface="Arial"/>
              </a:rPr>
              <a:t>  return &lt;h3&gt;Artisan Sourdough Bread Baking&lt;/h3&gt;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&lt;CourseCard /&gt;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component is a cookie cutter: define the shape once, stamp out as many cookies as you like.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 component really 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component is a plain function: it takes props in and returns one JSX tree describing the UI.</a:t>
            </a:r>
          </a:p>
          <a:p>
            <a:pPr>
              <a:spcAft>
                <a:spcPts val="900"/>
              </a:spcAft>
            </a:pPr>
            <a:r>
              <a:rPr sz="1300" b="0">
                <a:solidFill>
                  <a:srgbClr val="161B26"/>
                </a:solidFill>
                <a:latin typeface="Arial"/>
              </a:rPr>
              <a:t>•  It must return a single root — one tree — because a JavaScript function returns exactly one value.</a:t>
            </a:r>
          </a:p>
          <a:p>
            <a:pPr>
              <a:spcAft>
                <a:spcPts val="900"/>
              </a:spcAft>
            </a:pPr>
            <a:r>
              <a:rPr sz="1300" b="0">
                <a:solidFill>
                  <a:srgbClr val="161B26"/>
                </a:solidFill>
                <a:latin typeface="Arial"/>
              </a:rPr>
              <a:t>•  A component should be pure: given the same props, it must always return the same output.</a:t>
            </a:r>
          </a:p>
          <a:p>
            <a:pPr>
              <a:spcAft>
                <a:spcPts val="900"/>
              </a:spcAft>
            </a:pPr>
            <a:r>
              <a:rPr sz="1300" b="0">
                <a:solidFill>
                  <a:srgbClr val="161B26"/>
                </a:solidFill>
                <a:latin typeface="Arial"/>
              </a:rPr>
              <a:t>•  Purity means no surprises in render — no fetching, timers or mutation; those belong in effects.</a:t>
            </a:r>
          </a:p>
          <a:p>
            <a:pPr>
              <a:spcAft>
                <a:spcPts val="900"/>
              </a:spcAft>
            </a:pPr>
            <a:r>
              <a:rPr sz="1300" b="0">
                <a:solidFill>
                  <a:srgbClr val="161B26"/>
                </a:solidFill>
                <a:latin typeface="Arial"/>
              </a:rPr>
              <a:t>•  Purity is what lets React render it as often as it likes, and trust the result every time.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Same props in, same tree out — a capitalised, pure function.</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CourseCard({ title }) {</a:t>
            </a:r>
          </a:p>
          <a:p>
            <a:pPr algn="l">
              <a:spcAft>
                <a:spcPts val="200"/>
              </a:spcAft>
            </a:pPr>
            <a:r>
              <a:rPr sz="1150" b="0">
                <a:solidFill>
                  <a:srgbClr val="9CDCFE"/>
                </a:solidFill>
                <a:latin typeface="Arial"/>
              </a:rPr>
              <a:t>  return &lt;h3&gt;{title}&lt;/h3&gt;   // one tree, no side effects</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same title in -&gt; same markup out, every time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component is a vending machine: press the same buttons (props) and the same snack (UI) always drops out.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JSX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JSX is a blueprint, not HTML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JSX looks like HTML but is not — Babel compiles it to createElement calls that return objects.</a:t>
            </a:r>
          </a:p>
          <a:p>
            <a:pPr>
              <a:spcAft>
                <a:spcPts val="900"/>
              </a:spcAft>
            </a:pPr>
            <a:r>
              <a:rPr sz="1300" b="0">
                <a:solidFill>
                  <a:srgbClr val="161B26"/>
                </a:solidFill>
                <a:latin typeface="Arial"/>
              </a:rPr>
              <a:t>•  Those objects describe what the UI should look like; React turns them into real DOM nodes for you.</a:t>
            </a:r>
          </a:p>
          <a:p>
            <a:pPr>
              <a:spcAft>
                <a:spcPts val="900"/>
              </a:spcAft>
            </a:pPr>
            <a:r>
              <a:rPr sz="1300" b="0">
                <a:solidFill>
                  <a:srgbClr val="161B26"/>
                </a:solidFill>
                <a:latin typeface="Arial"/>
              </a:rPr>
              <a:t>•  Because it is really JavaScript, HTML's class becomes className and attributes become camelCase.</a:t>
            </a:r>
          </a:p>
          <a:p>
            <a:pPr>
              <a:spcAft>
                <a:spcPts val="900"/>
              </a:spcAft>
            </a:pPr>
            <a:r>
              <a:rPr sz="1300" b="0">
                <a:solidFill>
                  <a:srgbClr val="161B26"/>
                </a:solidFill>
                <a:latin typeface="Arial"/>
              </a:rPr>
              <a:t>•  Understanding that JSX is code, not markup, explains every rule that follows in this topic.</a:t>
            </a:r>
          </a:p>
          <a:p>
            <a:pPr>
              <a:spcAft>
                <a:spcPts val="900"/>
              </a:spcAft>
            </a:pPr>
            <a:r>
              <a:rPr sz="1300" b="0">
                <a:solidFill>
                  <a:srgbClr val="161B26"/>
                </a:solidFill>
                <a:latin typeface="Arial"/>
              </a:rPr>
              <a:t>•  You never call createElement by hand — Vite runs Babel — but knowing it is there demystifies JSX.</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JSX compiles to createElement calls returning plain JS objects, not HTML.</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const el = &lt;h1 className="brand"&gt;Cook &amp;amp; Bake&lt;/h1&gt;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Babel compiles it to:</a:t>
            </a:r>
          </a:p>
          <a:p>
            <a:pPr algn="l">
              <a:spcAft>
                <a:spcPts val="200"/>
              </a:spcAft>
            </a:pPr>
            <a:r>
              <a:rPr sz="1150" b="0">
                <a:solidFill>
                  <a:srgbClr val="9CDCFE"/>
                </a:solidFill>
                <a:latin typeface="Arial"/>
              </a:rPr>
              <a:t>React.createElement('h1', { className: 'brand' },</a:t>
            </a:r>
          </a:p>
          <a:p>
            <a:pPr algn="l">
              <a:spcAft>
                <a:spcPts val="200"/>
              </a:spcAft>
            </a:pPr>
            <a:r>
              <a:rPr sz="1150" b="0">
                <a:solidFill>
                  <a:srgbClr val="9CDCFE"/>
                </a:solidFill>
                <a:latin typeface="Arial"/>
              </a:rPr>
              <a:t>                    'Cook &amp; Bake')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JSX is a blueprint, not the building — React reads it and constructs the real DOM from the instructions.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RETURN SHAPE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One root element and Fragments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component must return a single root element, because a function returns exactly one value.</a:t>
            </a:r>
          </a:p>
          <a:p>
            <a:pPr>
              <a:spcAft>
                <a:spcPts val="900"/>
              </a:spcAft>
            </a:pPr>
            <a:r>
              <a:rPr sz="1300" b="0">
                <a:solidFill>
                  <a:srgbClr val="161B26"/>
                </a:solidFill>
                <a:latin typeface="Arial"/>
              </a:rPr>
              <a:t>•  Wrapping siblings in an extra &lt;div&gt; works but litters the page with meaningless containers.</a:t>
            </a:r>
          </a:p>
          <a:p>
            <a:pPr>
              <a:spcAft>
                <a:spcPts val="900"/>
              </a:spcAft>
            </a:pPr>
            <a:r>
              <a:rPr sz="1300" b="0">
                <a:solidFill>
                  <a:srgbClr val="161B26"/>
                </a:solidFill>
                <a:latin typeface="Arial"/>
              </a:rPr>
              <a:t>•  A Fragment (&lt;&gt;...&lt;/&gt;) groups siblings under one root while adding no node to the real DOM.</a:t>
            </a:r>
          </a:p>
          <a:p>
            <a:pPr>
              <a:spcAft>
                <a:spcPts val="900"/>
              </a:spcAft>
            </a:pPr>
            <a:r>
              <a:rPr sz="1300" b="0">
                <a:solidFill>
                  <a:srgbClr val="161B26"/>
                </a:solidFill>
                <a:latin typeface="Arial"/>
              </a:rPr>
              <a:t>•  Reach for a Fragment whenever a wrapper div would only exist to satisfy this one-root rule.</a:t>
            </a:r>
          </a:p>
          <a:p>
            <a:pPr>
              <a:spcAft>
                <a:spcPts val="900"/>
              </a:spcAft>
            </a:pPr>
            <a:r>
              <a:rPr sz="1300" b="0">
                <a:solidFill>
                  <a:srgbClr val="161B26"/>
                </a:solidFill>
                <a:latin typeface="Arial"/>
              </a:rPr>
              <a:t>•  Returning two adjacent tags with no wrapper is a syntax error the agent will sometimes produce.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Return one root; use a Fragment to group without an extra div.</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RootLayout.jsx — the real app shell</a:t>
            </a:r>
          </a:p>
          <a:p>
            <a:pPr algn="l">
              <a:spcAft>
                <a:spcPts val="200"/>
              </a:spcAft>
            </a:pPr>
            <a:r>
              <a:rPr sz="1150" b="0">
                <a:solidFill>
                  <a:srgbClr val="9CDCFE"/>
                </a:solidFill>
                <a:latin typeface="Arial"/>
              </a:rPr>
              <a:t>return (</a:t>
            </a:r>
          </a:p>
          <a:p>
            <a:pPr algn="l">
              <a:spcAft>
                <a:spcPts val="200"/>
              </a:spcAft>
            </a:pPr>
            <a:r>
              <a:rPr sz="1150" b="0">
                <a:solidFill>
                  <a:srgbClr val="9CDCFE"/>
                </a:solidFill>
                <a:latin typeface="Arial"/>
              </a:rPr>
              <a:t>  &lt;&gt;</a:t>
            </a:r>
          </a:p>
          <a:p>
            <a:pPr algn="l">
              <a:spcAft>
                <a:spcPts val="200"/>
              </a:spcAft>
            </a:pPr>
            <a:r>
              <a:rPr sz="1150" b="0">
                <a:solidFill>
                  <a:srgbClr val="9CDCFE"/>
                </a:solidFill>
                <a:latin typeface="Arial"/>
              </a:rPr>
              <a:t>    &lt;Navbar /&gt;</a:t>
            </a:r>
          </a:p>
          <a:p>
            <a:pPr algn="l">
              <a:spcAft>
                <a:spcPts val="200"/>
              </a:spcAft>
            </a:pPr>
            <a:r>
              <a:rPr sz="1150" b="0">
                <a:solidFill>
                  <a:srgbClr val="9CDCFE"/>
                </a:solidFill>
                <a:latin typeface="Arial"/>
              </a:rPr>
              <a:t>    &lt;main&gt;&lt;Outlet /&gt;&lt;/main&gt;</a:t>
            </a:r>
          </a:p>
          <a:p>
            <a:pPr algn="l">
              <a:spcAft>
                <a:spcPts val="200"/>
              </a:spcAft>
            </a:pPr>
            <a:r>
              <a:rPr sz="1150" b="0">
                <a:solidFill>
                  <a:srgbClr val="9CDCFE"/>
                </a:solidFill>
                <a:latin typeface="Arial"/>
              </a:rPr>
              <a:t>    &lt;Footer /&gt;</a:t>
            </a:r>
          </a:p>
          <a:p>
            <a:pPr algn="l">
              <a:spcAft>
                <a:spcPts val="200"/>
              </a:spcAft>
            </a:pPr>
            <a:r>
              <a:rPr sz="1150" b="0">
                <a:solidFill>
                  <a:srgbClr val="9CDCFE"/>
                </a:solidFill>
                <a:latin typeface="Arial"/>
              </a:rPr>
              <a:t>  &lt;/&gt;</a:t>
            </a:r>
          </a:p>
          <a:p>
            <a:pPr algn="l">
              <a:spcAft>
                <a:spcPts val="200"/>
              </a:spcAft>
            </a:pPr>
            <a:r>
              <a:rPr sz="1150" b="0">
                <a:solidFill>
                  <a:srgbClr val="9CDCFE"/>
                </a:solidFill>
                <a:latin typeface="Arial"/>
              </a:rPr>
              <a:t>)   // one root; &lt;&gt; adds no extra div</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One root is a single moving box React hands back — not an armful of loose items; a Fragment is a box with no cardboard.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EXPRESSIONS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Curly braces embed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Inside JSX, {} drops the result of a JavaScript expression into the output.</a:t>
            </a:r>
          </a:p>
          <a:p>
            <a:pPr>
              <a:spcAft>
                <a:spcPts val="900"/>
              </a:spcAft>
            </a:pPr>
            <a:r>
              <a:rPr sz="1300" b="0">
                <a:solidFill>
                  <a:srgbClr val="161B26"/>
                </a:solidFill>
                <a:latin typeface="Arial"/>
              </a:rPr>
              <a:t>•  An expression produces a value: a variable, a call, a ternary, a template literal all qualify.</a:t>
            </a:r>
          </a:p>
          <a:p>
            <a:pPr>
              <a:spcAft>
                <a:spcPts val="900"/>
              </a:spcAft>
            </a:pPr>
            <a:r>
              <a:rPr sz="1300" b="0">
                <a:solidFill>
                  <a:srgbClr val="161B26"/>
                </a:solidFill>
                <a:latin typeface="Arial"/>
              </a:rPr>
              <a:t>•  A statement such as if, for or a variable declaration does not — it produces no value and errors.</a:t>
            </a:r>
          </a:p>
          <a:p>
            <a:pPr>
              <a:spcAft>
                <a:spcPts val="900"/>
              </a:spcAft>
            </a:pPr>
            <a:r>
              <a:rPr sz="1300" b="0">
                <a:solidFill>
                  <a:srgbClr val="161B26"/>
                </a:solidFill>
                <a:latin typeface="Arial"/>
              </a:rPr>
              <a:t>•  This is why you use a ternary or &amp;&amp; inside JSX rather than an if statement.</a:t>
            </a:r>
          </a:p>
          <a:p>
            <a:pPr>
              <a:spcAft>
                <a:spcPts val="900"/>
              </a:spcAft>
            </a:pPr>
            <a:r>
              <a:rPr sz="1300" b="0">
                <a:solidFill>
                  <a:srgbClr val="161B26"/>
                </a:solidFill>
                <a:latin typeface="Arial"/>
              </a:rPr>
              <a:t>•  The braces run the code every render, so what you see always reflects the current data.</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 takes expressions (values), never statements like if or for.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&lt;h1&gt;Welcome to {academy}&lt;/h1&gt;            // expression: ok</a:t>
            </a:r>
          </a:p>
          <a:p>
            <a:pPr algn="l">
              <a:spcAft>
                <a:spcPts val="200"/>
              </a:spcAft>
            </a:pPr>
            <a:r>
              <a:rPr sz="1150" b="0">
                <a:solidFill>
                  <a:srgbClr val="9CDCFE"/>
                </a:solidFill>
                <a:latin typeface="Arial"/>
              </a:rPr>
              <a:t>&lt;span&gt;S${course.fee}&lt;/span&gt;              // expression: ok</a:t>
            </a:r>
          </a:p>
          <a:p>
            <a:pPr algn="l">
              <a:spcAft>
                <a:spcPts val="200"/>
              </a:spcAft>
            </a:pPr>
            <a:r>
              <a:rPr sz="1150" b="0">
                <a:solidFill>
                  <a:srgbClr val="9CDCFE"/>
                </a:solidFill>
                <a:latin typeface="Arial"/>
              </a:rPr>
              <a:t>&lt;span&gt;{isBakery ? '🧁 Bakery' : '🍳 Cooking'}&lt;/span&gt;  // ok</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&lt;h1&gt;{if (x) {}}&lt;/h1&gt;                     // statement: error</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Curly braces are a window cut into your markup — JavaScript shows through, but only values, never statements.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Props are a component's arguments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prop is a value passed into a component, exactly as you pass an argument to a function.</a:t>
            </a:r>
          </a:p>
          <a:p>
            <a:pPr>
              <a:spcAft>
                <a:spcPts val="900"/>
              </a:spcAft>
            </a:pPr>
            <a:r>
              <a:rPr sz="1300" b="0">
                <a:solidFill>
                  <a:srgbClr val="161B26"/>
                </a:solidFill>
                <a:latin typeface="Arial"/>
              </a:rPr>
              <a:t>•  You read props by destructuring them in the parameter list: function CourseCard({ course }).</a:t>
            </a:r>
          </a:p>
          <a:p>
            <a:pPr>
              <a:spcAft>
                <a:spcPts val="900"/>
              </a:spcAft>
            </a:pPr>
            <a:r>
              <a:rPr sz="1300" b="0">
                <a:solidFill>
                  <a:srgbClr val="161B26"/>
                </a:solidFill>
                <a:latin typeface="Arial"/>
              </a:rPr>
              <a:t>•  Give a default with = so a missing prop has a sensible value: ({ fee = 0 }).</a:t>
            </a:r>
          </a:p>
          <a:p>
            <a:pPr>
              <a:spcAft>
                <a:spcPts val="900"/>
              </a:spcAft>
            </a:pPr>
            <a:r>
              <a:rPr sz="1300" b="0">
                <a:solidFill>
                  <a:srgbClr val="161B26"/>
                </a:solidFill>
                <a:latin typeface="Arial"/>
              </a:rPr>
              <a:t>•  Props flow one way, parent to child, and they are read-only — a child must never reassign a prop.</a:t>
            </a:r>
          </a:p>
          <a:p>
            <a:pPr>
              <a:spcAft>
                <a:spcPts val="900"/>
              </a:spcAft>
            </a:pPr>
            <a:r>
              <a:rPr sz="1300" b="0">
                <a:solidFill>
                  <a:srgbClr val="161B26"/>
                </a:solidFill>
                <a:latin typeface="Arial"/>
              </a:rPr>
              <a:t>•  String props use quotes; any other type uses braces: title="Macaron Masterclass" fee={420}.</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Props are read-only arguments that flow down from parent to child.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CourseCard({ title, fee = 0 }) {</a:t>
            </a:r>
          </a:p>
          <a:p>
            <a:pPr algn="l">
              <a:spcAft>
                <a:spcPts val="200"/>
              </a:spcAft>
            </a:pPr>
            <a:r>
              <a:rPr sz="1150" b="0">
                <a:solidFill>
                  <a:srgbClr val="9CDCFE"/>
                </a:solidFill>
                <a:latin typeface="Arial"/>
              </a:rPr>
              <a:t>  return &lt;h3&gt;{title} — S${fee}&lt;/h3&gt;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&lt;CourseCard title="Macaron Masterclass" fee={420} /&gt;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Props are a recipe card handed to a component: it reads the ingredients and cooks, but never edits the card.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One object prop beats nine loose 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real CourseCard takes ONE prop — course — and destructures the fields it needs inside.</a:t>
            </a:r>
          </a:p>
          <a:p>
            <a:pPr>
              <a:spcAft>
                <a:spcPts val="900"/>
              </a:spcAft>
            </a:pPr>
            <a:r>
              <a:rPr sz="1300" b="0">
                <a:solidFill>
                  <a:srgbClr val="161B26"/>
                </a:solidFill>
                <a:latin typeface="Arial"/>
              </a:rPr>
              <a:t>•  That object's shape is the database row you will fetch in Topic 5, so nothing downstream changes.</a:t>
            </a:r>
          </a:p>
          <a:p>
            <a:pPr>
              <a:spcAft>
                <a:spcPts val="900"/>
              </a:spcAft>
            </a:pPr>
            <a:r>
              <a:rPr sz="1300" b="0">
                <a:solidFill>
                  <a:srgbClr val="161B26"/>
                </a:solidFill>
                <a:latin typeface="Arial"/>
              </a:rPr>
              <a:t>•  Nine separate props means nine things to keep in step at every call site. One object means one.</a:t>
            </a:r>
          </a:p>
          <a:p>
            <a:pPr>
              <a:spcAft>
                <a:spcPts val="900"/>
              </a:spcAft>
            </a:pPr>
            <a:r>
              <a:rPr sz="1300" b="0">
                <a:solidFill>
                  <a:srgbClr val="161B26"/>
                </a:solidFill>
                <a:latin typeface="Arial"/>
              </a:rPr>
              <a:t>•  Destructure inside the body when the object is the prop: const { slug, title, fee } = course.</a:t>
            </a:r>
          </a:p>
          <a:p>
            <a:pPr>
              <a:spcAft>
                <a:spcPts val="900"/>
              </a:spcAft>
            </a:pPr>
            <a:r>
              <a:rPr sz="1300" b="0">
                <a:solidFill>
                  <a:srgbClr val="161B26"/>
                </a:solidFill>
                <a:latin typeface="Arial"/>
              </a:rPr>
              <a:t>•  Collect leftover props with ...rest and spread them onward: &lt;article {...rest}&gt;.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Pass the whole object; its shape is the DB row, so the card never changes.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src/components/CourseCard.jsx (real code)</a:t>
            </a:r>
          </a:p>
          <a:p>
            <a:pPr algn="l">
              <a:spcAft>
                <a:spcPts val="200"/>
              </a:spcAft>
            </a:pPr>
            <a:r>
              <a:rPr sz="1150" b="0">
                <a:solidFill>
                  <a:srgbClr val="9CDCFE"/>
                </a:solidFill>
                <a:latin typeface="Arial"/>
              </a:rPr>
              <a:t>export default function CourseCard({ course }) {</a:t>
            </a:r>
          </a:p>
          <a:p>
            <a:pPr algn="l">
              <a:spcAft>
                <a:spcPts val="200"/>
              </a:spcAft>
            </a:pPr>
            <a:r>
              <a:rPr sz="1150" b="0">
                <a:solidFill>
                  <a:srgbClr val="9CDCFE"/>
                </a:solidFill>
                <a:latin typeface="Arial"/>
              </a:rPr>
              <a:t>  const { slug, title, category, level, fee } = course</a:t>
            </a:r>
          </a:p>
          <a:p>
            <a:pPr algn="l">
              <a:spcAft>
                <a:spcPts val="200"/>
              </a:spcAft>
            </a:pPr>
            <a:r>
              <a:rPr sz="1150" b="0">
                <a:solidFill>
                  <a:srgbClr val="9CDCFE"/>
                </a:solidFill>
                <a:latin typeface="Arial"/>
              </a:rPr>
              <a:t>  return &lt;Link to={`/courses/${slug}`}&gt;{title}&lt;/Link&gt;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&lt;CourseCard course={course} /&gt;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Passing one course object is handing over the whole recipe card, not reading out nine ingredients down the phone.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MOUNTING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entry point: #root and main.jsx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index.html is almost empty — its job is to provide one &lt;div id="root"&gt;&lt;/div&gt;.</a:t>
            </a:r>
          </a:p>
          <a:p>
            <a:pPr>
              <a:spcAft>
                <a:spcPts val="900"/>
              </a:spcAft>
            </a:pPr>
            <a:r>
              <a:rPr sz="1300" b="0">
                <a:solidFill>
                  <a:srgbClr val="161B26"/>
                </a:solidFill>
                <a:latin typeface="Arial"/>
              </a:rPr>
              <a:t>•  main.jsx is the entry file: it imports App and mounts it into that root div.</a:t>
            </a:r>
          </a:p>
          <a:p>
            <a:pPr>
              <a:spcAft>
                <a:spcPts val="900"/>
              </a:spcAft>
            </a:pPr>
            <a:r>
              <a:rPr sz="1300" b="0">
                <a:solidFill>
                  <a:srgbClr val="161B26"/>
                </a:solidFill>
                <a:latin typeface="Arial"/>
              </a:rPr>
              <a:t>•  createRoot(...).render(&lt;App/&gt;) is the single call that hands the whole app over to React.</a:t>
            </a:r>
          </a:p>
          <a:p>
            <a:pPr>
              <a:spcAft>
                <a:spcPts val="900"/>
              </a:spcAft>
            </a:pPr>
            <a:r>
              <a:rPr sz="1300" b="0">
                <a:solidFill>
                  <a:srgbClr val="161B26"/>
                </a:solidFill>
                <a:latin typeface="Arial"/>
              </a:rPr>
              <a:t>•  This is the ONE place React touches the real DOM by hand. Everything below it is declarative.</a:t>
            </a:r>
          </a:p>
          <a:p>
            <a:pPr>
              <a:spcAft>
                <a:spcPts val="900"/>
              </a:spcAft>
            </a:pPr>
            <a:r>
              <a:rPr sz="1300" b="0">
                <a:solidFill>
                  <a:srgbClr val="161B26"/>
                </a:solidFill>
                <a:latin typeface="Arial"/>
              </a:rPr>
              <a:t>•  Knowing this chain explains where the app 'starts' when you read AI-scaffolded code.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main.jsx mounts &lt;App/&gt; into the single #root div in index.html.</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index.html</a:t>
            </a:r>
          </a:p>
          <a:p>
            <a:pPr algn="l">
              <a:spcAft>
                <a:spcPts val="200"/>
              </a:spcAft>
            </a:pPr>
            <a:r>
              <a:rPr sz="1150" b="0">
                <a:solidFill>
                  <a:srgbClr val="9CDCFE"/>
                </a:solidFill>
                <a:latin typeface="Arial"/>
              </a:rPr>
              <a:t>&lt;div id="root"&gt;&lt;/div&gt;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src/main.jsx (real code)</a:t>
            </a:r>
          </a:p>
          <a:p>
            <a:pPr algn="l">
              <a:spcAft>
                <a:spcPts val="200"/>
              </a:spcAft>
            </a:pPr>
            <a:r>
              <a:rPr sz="1150" b="0">
                <a:solidFill>
                  <a:srgbClr val="9CDCFE"/>
                </a:solidFill>
                <a:latin typeface="Arial"/>
              </a:rPr>
              <a:t>createRoot(document.getElementById('root')).render(</a:t>
            </a:r>
          </a:p>
          <a:p>
            <a:pPr algn="l">
              <a:spcAft>
                <a:spcPts val="200"/>
              </a:spcAft>
            </a:pPr>
            <a:r>
              <a:rPr sz="1150" b="0">
                <a:solidFill>
                  <a:srgbClr val="9CDCFE"/>
                </a:solidFill>
                <a:latin typeface="Arial"/>
              </a:rPr>
              <a:t>  &lt;StrictMode&gt;&lt;App /&gt;&lt;/StrictMode&gt;,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index.html is an empty stage with one marked spot; main.jsx is the stagehand who mounts the whole React play onto 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JUDGEMENT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Never ship code you cannot read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Code that compiles and renders can still hide bugs the agent has no way to notice.</a:t>
            </a:r>
          </a:p>
          <a:p>
            <a:pPr>
              <a:spcAft>
                <a:spcPts val="900"/>
              </a:spcAft>
            </a:pPr>
            <a:r>
              <a:rPr sz="1300" b="0">
                <a:solidFill>
                  <a:srgbClr val="161B26"/>
                </a:solidFill>
                <a:latin typeface="Arial"/>
              </a:rPr>
              <a:t>•  Run every generated file past a short checklist before you trust it in your project.</a:t>
            </a:r>
          </a:p>
          <a:p>
            <a:pPr>
              <a:spcAft>
                <a:spcPts val="900"/>
              </a:spcAft>
            </a:pPr>
            <a:r>
              <a:rPr sz="1300" b="0">
                <a:solidFill>
                  <a:srgbClr val="161B26"/>
                </a:solidFill>
                <a:latin typeface="Arial"/>
              </a:rPr>
              <a:t>•  Common landmines: key={index}, a useEffect with no cleanup, a fetch with no error branch.</a:t>
            </a:r>
          </a:p>
          <a:p>
            <a:pPr>
              <a:spcAft>
                <a:spcPts val="900"/>
              </a:spcAft>
            </a:pPr>
            <a:r>
              <a:rPr sz="1300" b="0">
                <a:solidFill>
                  <a:srgbClr val="161B26"/>
                </a:solidFill>
                <a:latin typeface="Arial"/>
              </a:rPr>
              <a:t>•  Also check that no secret has been placed in a VITE_ variable, where it becomes public.</a:t>
            </a:r>
          </a:p>
          <a:p>
            <a:pPr>
              <a:spcAft>
                <a:spcPts val="900"/>
              </a:spcAft>
            </a:pPr>
            <a:r>
              <a:rPr sz="1300" b="0">
                <a:solidFill>
                  <a:srgbClr val="161B26"/>
                </a:solidFill>
                <a:latin typeface="Arial"/>
              </a:rPr>
              <a:t>•  If you cannot explain why a line is there, you are not ready to ship it — that is the whole skill.</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Audit generated code against a checklist before you trust it.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Audit checklist before you run AI code:</a:t>
            </a:r>
          </a:p>
          <a:p>
            <a:pPr algn="l">
              <a:spcAft>
                <a:spcPts val="200"/>
              </a:spcAft>
            </a:pPr>
            <a:r>
              <a:rPr sz="1150" b="0">
                <a:solidFill>
                  <a:srgbClr val="9CDCFE"/>
                </a:solidFill>
                <a:latin typeface="Arial"/>
              </a:rPr>
              <a:t>//   - key={index} on a list?</a:t>
            </a:r>
          </a:p>
          <a:p>
            <a:pPr algn="l">
              <a:spcAft>
                <a:spcPts val="200"/>
              </a:spcAft>
            </a:pPr>
            <a:r>
              <a:rPr sz="1150" b="0">
                <a:solidFill>
                  <a:srgbClr val="9CDCFE"/>
                </a:solidFill>
                <a:latin typeface="Arial"/>
              </a:rPr>
              <a:t>//   - useEffect missing a cleanup return?</a:t>
            </a:r>
          </a:p>
          <a:p>
            <a:pPr algn="l">
              <a:spcAft>
                <a:spcPts val="200"/>
              </a:spcAft>
            </a:pPr>
            <a:r>
              <a:rPr sz="1150" b="0">
                <a:solidFill>
                  <a:srgbClr val="9CDCFE"/>
                </a:solidFill>
                <a:latin typeface="Arial"/>
              </a:rPr>
              <a:t>//   - fetch with no error state?</a:t>
            </a:r>
          </a:p>
          <a:p>
            <a:pPr algn="l">
              <a:spcAft>
                <a:spcPts val="200"/>
              </a:spcAft>
            </a:pPr>
            <a:r>
              <a:rPr sz="1150" b="0">
                <a:solidFill>
                  <a:srgbClr val="9CDCFE"/>
                </a:solidFill>
                <a:latin typeface="Arial"/>
              </a:rPr>
              <a:t>//   - a secret sitting in a VITE_ variable?</a:t>
            </a:r>
          </a:p>
          <a:p>
            <a:pPr algn="l">
              <a:spcAft>
                <a:spcPts val="200"/>
              </a:spcAft>
            </a:pPr>
            <a:r>
              <a:rPr sz="1150" b="0">
                <a:solidFill>
                  <a:srgbClr val="9CDCFE"/>
                </a:solidFill>
                <a:latin typeface="Arial"/>
              </a:rPr>
              <a:t>//   - SQL built by string concatenation?</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AI code that runs is a contract you have not read — it may work today and cost you everything on the clause you skipped.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component is a function that returns JSX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This is the whole shape of a React component: a capitalised function that returns JSX.</a:t>
            </a:r>
          </a:p>
          <a:p>
            <a:pPr>
              <a:spcAft>
                <a:spcPts val="1000"/>
              </a:spcAft>
            </a:pPr>
            <a:r>
              <a:rPr sz="1300" b="0">
                <a:solidFill>
                  <a:srgbClr val="161B26"/>
                </a:solidFill>
                <a:latin typeface="Arial"/>
              </a:rPr>
              <a:t>•  It destructures its props ({ name }) straight out of the parameter list, like function arguments.</a:t>
            </a:r>
          </a:p>
          <a:p>
            <a:pPr>
              <a:spcAft>
                <a:spcPts val="1000"/>
              </a:spcAft>
            </a:pPr>
            <a:r>
              <a:rPr sz="1300" b="0">
                <a:solidFill>
                  <a:srgbClr val="161B26"/>
                </a:solidFill>
                <a:latin typeface="Arial"/>
              </a:rPr>
              <a:t>•  The {name} in the markup is a curly-brace window where a live JavaScript value flows in.</a:t>
            </a:r>
          </a:p>
          <a:p>
            <a:pPr>
              <a:spcAft>
                <a:spcPts val="1000"/>
              </a:spcAft>
            </a:pPr>
            <a:r>
              <a:rPr sz="1300" b="0">
                <a:solidFill>
                  <a:srgbClr val="161B26"/>
                </a:solidFill>
                <a:latin typeface="Arial"/>
              </a:rPr>
              <a:t>•  export default makes the component importable and usable elsewhere as &lt;WelcomeMessage /&gt;.</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mple-component-1.png"/>
          <p:cNvPicPr>
            <a:picLocks noChangeAspect="1"/>
          </p:cNvPicPr>
          <p:nvPr/>
        </p:nvPicPr>
        <p:blipFill>
          <a:blip r:embed="rId2"/>
          <a:stretch>
            <a:fillRect/>
          </a:stretch>
        </p:blipFill>
        <p:spPr>
          <a:xfrm>
            <a:off x="5916168" y="2623853"/>
            <a:ext cx="5385816" cy="2113213"/>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A minimal React component: props in through destructuring, JSX out, exported for reuse.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COMPONENT THINKING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Everything on screen is a component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Before you write a line of code, look at a real interface and draw boxes around its parts.</a:t>
            </a:r>
          </a:p>
          <a:p>
            <a:pPr>
              <a:spcAft>
                <a:spcPts val="1000"/>
              </a:spcAft>
            </a:pPr>
            <a:r>
              <a:rPr sz="1300" b="0">
                <a:solidFill>
                  <a:srgbClr val="161B26"/>
                </a:solidFill>
                <a:latin typeface="Arial"/>
              </a:rPr>
              <a:t>•  Each box is a component: a sidebar, a page header, a row, a button, a comment.</a:t>
            </a:r>
          </a:p>
          <a:p>
            <a:pPr>
              <a:spcAft>
                <a:spcPts val="1000"/>
              </a:spcAft>
            </a:pPr>
            <a:r>
              <a:rPr sz="1300" b="0">
                <a:solidFill>
                  <a:srgbClr val="161B26"/>
                </a:solidFill>
                <a:latin typeface="Arial"/>
              </a:rPr>
              <a:t>•  Boxes nest. A page contains a header; the header contains a title and an avatar.</a:t>
            </a:r>
          </a:p>
          <a:p>
            <a:pPr>
              <a:spcAft>
                <a:spcPts val="1000"/>
              </a:spcAft>
            </a:pPr>
            <a:r>
              <a:rPr sz="1300" b="0">
                <a:solidFill>
                  <a:srgbClr val="161B26"/>
                </a:solidFill>
                <a:latin typeface="Arial"/>
              </a:rPr>
              <a:t>•  That nesting is exactly the component tree React renders, parent passing props to child.</a:t>
            </a:r>
          </a:p>
          <a:p>
            <a:pPr>
              <a:spcAft>
                <a:spcPts val="1000"/>
              </a:spcAft>
            </a:pPr>
            <a:r>
              <a:rPr sz="1300" b="0">
                <a:solidFill>
                  <a:srgbClr val="161B26"/>
                </a:solidFill>
                <a:latin typeface="Arial"/>
              </a:rPr>
              <a:t>•  Naming the boxes first is how you decide what components to build.</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notion-components.png"/>
          <p:cNvPicPr>
            <a:picLocks noChangeAspect="1"/>
          </p:cNvPicPr>
          <p:nvPr/>
        </p:nvPicPr>
        <p:blipFill>
          <a:blip r:embed="rId2"/>
          <a:stretch>
            <a:fillRect/>
          </a:stretch>
        </p:blipFill>
        <p:spPr>
          <a:xfrm>
            <a:off x="5916168" y="1949804"/>
            <a:ext cx="5385816" cy="3461312"/>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A familiar app decomposed into boxes — this is the component tree, before any code exists.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Your Vibe Coding Workspace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client wants a website for their cooking &amp; bakery school. The learner installs Node, VS Code and an AI coding agent, scaffolds the cookbake Vite + React app, traces how index.html, main.jsx and App.jsx put React on the page, and runs the Prompt to Generate to Read to Understand to Correct loop for the first time.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running Vite + React dev server serving your own cookbake app at http://localhost:5173</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Node 22, Vite, React 19, VS Code, Claude Code / Cursor /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Your Vibe Coding Workspace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dev server runs at http://localhost:5173 showing your Cook &amp; Bake Academy heading, edits hot-reload instantly, and you can explain out loud what index.html, main.jsx and App.jsx each do.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First Vibe-Coded Component: CourseCard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catalogue is 20 bakery and cooking courses, so the card that shows one course is the component the whole site is built from. The learner prompts the agent for CourseCard, then reads the output line by line: a component is a function, JSX is not HTML, and props are read-only arguments flowing one way from parent to child.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reusable &lt;CourseCard /&gt; showing one course's emoji, title, level, fee, duration and campus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React function components, JSX, props, destructuring, src/components/CourseCard.jsx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CourseCard.jsx — your first component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src/components/CourseCard.jsx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CourseCard({</a:t>
            </a:r>
          </a:p>
          <a:p>
            <a:pPr algn="l">
              <a:spcAft>
                <a:spcPts val="200"/>
              </a:spcAft>
            </a:pPr>
            <a:r>
              <a:rPr sz="1250" b="0">
                <a:solidFill>
                  <a:srgbClr val="9CDCFE"/>
                </a:solidFill>
                <a:latin typeface="Arial"/>
              </a:rPr>
              <a:t>  title, category, level, fee,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&lt;article className="card"&gt;</a:t>
            </a:r>
          </a:p>
          <a:p>
            <a:pPr algn="l">
              <a:spcAft>
                <a:spcPts val="200"/>
              </a:spcAft>
            </a:pPr>
            <a:r>
              <a:rPr sz="1250" b="0">
                <a:solidFill>
                  <a:srgbClr val="9CDCFE"/>
                </a:solidFill>
                <a:latin typeface="Arial"/>
              </a:rPr>
              <a:t>      &lt;span className="card__tag"&gt;{category}&lt;/span&gt;</a:t>
            </a:r>
          </a:p>
          <a:p>
            <a:pPr algn="l">
              <a:spcAft>
                <a:spcPts val="200"/>
              </a:spcAft>
            </a:pPr>
            <a:r>
              <a:rPr sz="1250" b="0">
                <a:solidFill>
                  <a:srgbClr val="9CDCFE"/>
                </a:solidFill>
                <a:latin typeface="Arial"/>
              </a:rPr>
              <a:t>      &lt;h3&gt;{title}&lt;/h3&gt;</a:t>
            </a:r>
          </a:p>
          <a:p>
            <a:pPr algn="l">
              <a:spcAft>
                <a:spcPts val="200"/>
              </a:spcAft>
            </a:pPr>
            <a:r>
              <a:rPr sz="1250" b="0">
                <a:solidFill>
                  <a:srgbClr val="9CDCFE"/>
                </a:solidFill>
                <a:latin typeface="Arial"/>
              </a:rPr>
              <a:t>      &lt;span className="card__lvl"&gt;{level}&lt;/span&gt;</a:t>
            </a:r>
          </a:p>
          <a:p>
            <a:pPr algn="l">
              <a:spcAft>
                <a:spcPts val="200"/>
              </a:spcAft>
            </a:pPr>
            <a:r>
              <a:rPr sz="1250" b="0">
                <a:solidFill>
                  <a:srgbClr val="9CDCFE"/>
                </a:solidFill>
                <a:latin typeface="Arial"/>
              </a:rPr>
              <a:t>      &lt;strong&gt;S${fee}&lt;/strong&gt;</a:t>
            </a:r>
          </a:p>
          <a:p>
            <a:pPr algn="l">
              <a:spcAft>
                <a:spcPts val="200"/>
              </a:spcAft>
            </a:pPr>
            <a:r>
              <a:rPr sz="1250" b="0">
                <a:solidFill>
                  <a:srgbClr val="9CDCFE"/>
                </a:solidFill>
                <a:latin typeface="Arial"/>
              </a:rPr>
              <a:t>    &lt;/article&gt;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component is a function whose name is Capitalised and returns JSX markup.</a:t>
            </a:r>
          </a:p>
          <a:p>
            <a:pPr>
              <a:spcAft>
                <a:spcPts val="1000"/>
              </a:spcAft>
            </a:pPr>
            <a:r>
              <a:rPr sz="1250" b="0">
                <a:solidFill>
                  <a:srgbClr val="161B26"/>
                </a:solidFill>
                <a:latin typeface="Arial"/>
              </a:rPr>
              <a:t>•  It destructures its props — title, category, level, fee — from the single argument object.</a:t>
            </a:r>
          </a:p>
          <a:p>
            <a:pPr>
              <a:spcAft>
                <a:spcPts val="1000"/>
              </a:spcAft>
            </a:pPr>
            <a:r>
              <a:rPr sz="1250" b="0">
                <a:solidFill>
                  <a:srgbClr val="161B26"/>
                </a:solidFill>
                <a:latin typeface="Arial"/>
              </a:rPr>
              <a:t>•  {title} is a curly-brace window where a live JavaScript value flows into the markup.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App.jsx — passing props 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CourseCard from './components/CourseCard'</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export default function App()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&lt;div className="container"&gt;</a:t>
            </a:r>
          </a:p>
          <a:p>
            <a:pPr algn="l">
              <a:spcAft>
                <a:spcPts val="200"/>
              </a:spcAft>
            </a:pPr>
            <a:r>
              <a:rPr sz="1250" b="0">
                <a:solidFill>
                  <a:srgbClr val="9CDCFE"/>
                </a:solidFill>
                <a:latin typeface="Arial"/>
              </a:rPr>
              <a:t>      &lt;h1&gt;Cook &amp;amp; Bake Academy&lt;/h1&gt;</a:t>
            </a:r>
          </a:p>
          <a:p>
            <a:pPr algn="l">
              <a:spcAft>
                <a:spcPts val="200"/>
              </a:spcAft>
            </a:pPr>
            <a:r>
              <a:rPr sz="1250" b="0">
                <a:solidFill>
                  <a:srgbClr val="9CDCFE"/>
                </a:solidFill>
                <a:latin typeface="Arial"/>
              </a:rPr>
              <a:t>      &lt;CourseCard</a:t>
            </a:r>
          </a:p>
          <a:p>
            <a:pPr algn="l">
              <a:spcAft>
                <a:spcPts val="200"/>
              </a:spcAft>
            </a:pPr>
            <a:r>
              <a:rPr sz="1250" b="0">
                <a:solidFill>
                  <a:srgbClr val="9CDCFE"/>
                </a:solidFill>
                <a:latin typeface="Arial"/>
              </a:rPr>
              <a:t>        title="Artisan Sourdough Bread Baking"</a:t>
            </a:r>
          </a:p>
          <a:p>
            <a:pPr algn="l">
              <a:spcAft>
                <a:spcPts val="200"/>
              </a:spcAft>
            </a:pPr>
            <a:r>
              <a:rPr sz="1250" b="0">
                <a:solidFill>
                  <a:srgbClr val="9CDCFE"/>
                </a:solidFill>
                <a:latin typeface="Arial"/>
              </a:rPr>
              <a:t>        category="Bakery"</a:t>
            </a:r>
          </a:p>
          <a:p>
            <a:pPr algn="l">
              <a:spcAft>
                <a:spcPts val="200"/>
              </a:spcAft>
            </a:pPr>
            <a:r>
              <a:rPr sz="1250" b="0">
                <a:solidFill>
                  <a:srgbClr val="9CDCFE"/>
                </a:solidFill>
                <a:latin typeface="Arial"/>
              </a:rPr>
              <a:t>        level="Beginner"</a:t>
            </a:r>
          </a:p>
          <a:p>
            <a:pPr algn="l">
              <a:spcAft>
                <a:spcPts val="200"/>
              </a:spcAft>
            </a:pPr>
            <a:r>
              <a:rPr sz="1250" b="0">
                <a:solidFill>
                  <a:srgbClr val="9CDCFE"/>
                </a:solidFill>
                <a:latin typeface="Arial"/>
              </a:rPr>
              <a:t>        fee={680}</a:t>
            </a:r>
          </a:p>
          <a:p>
            <a:pPr algn="l">
              <a:spcAft>
                <a:spcPts val="200"/>
              </a:spcAft>
            </a:pPr>
            <a:r>
              <a:rPr sz="1250" b="0">
                <a:solidFill>
                  <a:srgbClr val="9CDCFE"/>
                </a:solidFill>
                <a:latin typeface="Arial"/>
              </a:rPr>
              <a:t>      /&gt;</a:t>
            </a:r>
          </a:p>
          <a:p>
            <a:pPr algn="l">
              <a:spcAft>
                <a:spcPts val="200"/>
              </a:spcAft>
            </a:pPr>
            <a:r>
              <a:rPr sz="1250" b="0">
                <a:solidFill>
                  <a:srgbClr val="9CDCFE"/>
                </a:solidFill>
                <a:latin typeface="Arial"/>
              </a:rPr>
              <a:t>    &lt;/div&gt;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Props are passed like HTML attributes: strings in quotes, numbers in braces (fee={680}).</a:t>
            </a:r>
          </a:p>
          <a:p>
            <a:pPr>
              <a:spcAft>
                <a:spcPts val="1000"/>
              </a:spcAft>
            </a:pPr>
            <a:r>
              <a:rPr sz="1250" b="0">
                <a:solidFill>
                  <a:srgbClr val="161B26"/>
                </a:solidFill>
                <a:latin typeface="Arial"/>
              </a:rPr>
              <a:t>•  Each &lt;CourseCard .../&gt; renders one card from the exact values you hand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First Vibe-Coded Component: CourseCard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One course card renders the sourdough course with its emoji, title, level, S$680 fee, 4 weeks and campus; changing a prop in App.jsx changes what the card shows; and you can say why a component may never assign to its own props.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Vibe-Code the Cook &amp; Bake Academy Landing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vibe-codes the whole landing page — navbar, hero, a six-card course grid and a footer — from the client's mockup, then stops and audits it. The page works, but the AI left two smells behind: every component crammed into one file, and six copy-pasted cards. Naming them is the point of the lab.</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full Cook &amp; Bake Academy landing page: navbar, hero, six course cards and a footer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JSX composition, props, src/App.jsx, src/components/CourseCard.jsx, src/index.css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One file, six hand-typed cards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function CourseGrid()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&lt;section id="courses" className="container"&gt;</a:t>
            </a:r>
          </a:p>
          <a:p>
            <a:pPr algn="l">
              <a:spcAft>
                <a:spcPts val="200"/>
              </a:spcAft>
            </a:pPr>
            <a:r>
              <a:rPr sz="1250" b="0">
                <a:solidFill>
                  <a:srgbClr val="9CDCFE"/>
                </a:solidFill>
                <a:latin typeface="Arial"/>
              </a:rPr>
              <a:t>      &lt;h2&gt;Popular courses&lt;/h2&gt;</a:t>
            </a:r>
          </a:p>
          <a:p>
            <a:pPr algn="l">
              <a:spcAft>
                <a:spcPts val="200"/>
              </a:spcAft>
            </a:pPr>
            <a:r>
              <a:rPr sz="1250" b="0">
                <a:solidFill>
                  <a:srgbClr val="9CDCFE"/>
                </a:solidFill>
                <a:latin typeface="Arial"/>
              </a:rPr>
              <a:t>      &lt;div className="grid"&gt;</a:t>
            </a:r>
          </a:p>
          <a:p>
            <a:pPr algn="l">
              <a:spcAft>
                <a:spcPts val="200"/>
              </a:spcAft>
            </a:pPr>
            <a:r>
              <a:rPr sz="1250" b="0">
                <a:solidFill>
                  <a:srgbClr val="9CDCFE"/>
                </a:solidFill>
                <a:latin typeface="Arial"/>
              </a:rPr>
              <a:t>        &lt;CourseCard title="Artisan Sourdough Bread Baking"</a:t>
            </a:r>
          </a:p>
          <a:p>
            <a:pPr algn="l">
              <a:spcAft>
                <a:spcPts val="200"/>
              </a:spcAft>
            </a:pPr>
            <a:r>
              <a:rPr sz="1250" b="0">
                <a:solidFill>
                  <a:srgbClr val="9CDCFE"/>
                </a:solidFill>
                <a:latin typeface="Arial"/>
              </a:rPr>
              <a:t>          category="Bakery" level="Beginner" fee={680} /&gt;</a:t>
            </a:r>
          </a:p>
          <a:p>
            <a:pPr algn="l">
              <a:spcAft>
                <a:spcPts val="200"/>
              </a:spcAft>
            </a:pPr>
            <a:r>
              <a:rPr sz="1250" b="0">
                <a:solidFill>
                  <a:srgbClr val="9CDCFE"/>
                </a:solidFill>
                <a:latin typeface="Arial"/>
              </a:rPr>
              <a:t>        &lt;CourseCard title="Macaron Masterclass"</a:t>
            </a:r>
          </a:p>
          <a:p>
            <a:pPr algn="l">
              <a:spcAft>
                <a:spcPts val="200"/>
              </a:spcAft>
            </a:pPr>
            <a:r>
              <a:rPr sz="1250" b="0">
                <a:solidFill>
                  <a:srgbClr val="9CDCFE"/>
                </a:solidFill>
                <a:latin typeface="Arial"/>
              </a:rPr>
              <a:t>          category="Bakery" level="Intermediate" fee={420} /&gt;</a:t>
            </a:r>
          </a:p>
          <a:p>
            <a:pPr algn="l">
              <a:spcAft>
                <a:spcPts val="200"/>
              </a:spcAft>
            </a:pPr>
            <a:r>
              <a:rPr sz="1250" b="0">
                <a:solidFill>
                  <a:srgbClr val="9CDCFE"/>
                </a:solidFill>
                <a:latin typeface="Arial"/>
              </a:rPr>
              <a:t>        {/* ...four more, all hand-typed... */}</a:t>
            </a:r>
          </a:p>
          <a:p>
            <a:pPr algn="l">
              <a:spcAft>
                <a:spcPts val="200"/>
              </a:spcAft>
            </a:pPr>
            <a:r>
              <a:rPr sz="1250" b="0">
                <a:solidFill>
                  <a:srgbClr val="9CDCFE"/>
                </a:solidFill>
                <a:latin typeface="Arial"/>
              </a:rPr>
              <a:t>      &lt;/div&gt;</a:t>
            </a:r>
          </a:p>
          <a:p>
            <a:pPr algn="l">
              <a:spcAft>
                <a:spcPts val="200"/>
              </a:spcAft>
            </a:pPr>
            <a:r>
              <a:rPr sz="1250" b="0">
                <a:solidFill>
                  <a:srgbClr val="9CDCFE"/>
                </a:solidFill>
                <a:latin typeface="Arial"/>
              </a:rPr>
              <a:t>    &lt;/section&gt;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Every card is the same component pasted again with different literal values.</a:t>
            </a:r>
          </a:p>
          <a:p>
            <a:pPr>
              <a:spcAft>
                <a:spcPts val="1000"/>
              </a:spcAft>
            </a:pPr>
            <a:r>
              <a:rPr sz="1250" b="0">
                <a:solidFill>
                  <a:srgbClr val="161B26"/>
                </a:solidFill>
                <a:latin typeface="Arial"/>
              </a:rPr>
              <a:t>•  Notice the repetition — it is the smell Topic 3 removes with data plus .map().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 composes small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App()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&lt;Navbar /&gt;</a:t>
            </a:r>
          </a:p>
          <a:p>
            <a:pPr algn="l">
              <a:spcAft>
                <a:spcPts val="200"/>
              </a:spcAft>
            </a:pPr>
            <a:r>
              <a:rPr sz="1250" b="0">
                <a:solidFill>
                  <a:srgbClr val="9CDCFE"/>
                </a:solidFill>
                <a:latin typeface="Arial"/>
              </a:rPr>
              <a:t>      &lt;Hero /&gt;</a:t>
            </a:r>
          </a:p>
          <a:p>
            <a:pPr algn="l">
              <a:spcAft>
                <a:spcPts val="200"/>
              </a:spcAft>
            </a:pPr>
            <a:r>
              <a:rPr sz="1250" b="0">
                <a:solidFill>
                  <a:srgbClr val="9CDCFE"/>
                </a:solidFill>
                <a:latin typeface="Arial"/>
              </a:rPr>
              <a:t>      &lt;CourseGrid /&gt;</a:t>
            </a:r>
          </a:p>
          <a:p>
            <a:pPr algn="l">
              <a:spcAft>
                <a:spcPts val="200"/>
              </a:spcAft>
            </a:pPr>
            <a:r>
              <a:rPr sz="1250" b="0">
                <a:solidFill>
                  <a:srgbClr val="9CDCFE"/>
                </a:solidFill>
                <a:latin typeface="Arial"/>
              </a:rPr>
              <a:t>      &lt;Footer /&gt;</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component can render other components, nesting them like HTML tags.</a:t>
            </a:r>
          </a:p>
          <a:p>
            <a:pPr>
              <a:spcAft>
                <a:spcPts val="1000"/>
              </a:spcAft>
            </a:pPr>
            <a:r>
              <a:rPr sz="1250" b="0">
                <a:solidFill>
                  <a:srgbClr val="161B26"/>
                </a:solidFill>
                <a:latin typeface="Arial"/>
              </a:rPr>
              <a:t>•  App reads like a table of contents: Navbar, Hero, CourseGrid, Footer.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Vibe-Code the Cook &amp; Bake Academy Landing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landing page renders the Cook &amp; Bake navbar, hero, six real course cards and a footer; the grid is responsive; and you can name the two design flaws the AI left behind and say which later lab repairs each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01</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show a real bakery site in the browser, built from your own components.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Put It on the Internet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the exact same app live on a public URL, redeployed automatically on every git push</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Put It on the Internet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The bakery site runs only on your laptop.</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the exact same app live on a public URL, redeployed automatically on every git push.</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Git, the production build and environment variables.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Git is the vibe coder's safety net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Commit before you ask the agent to change anything, so you always have a clean point to return to.</a:t>
            </a:r>
          </a:p>
          <a:p>
            <a:pPr>
              <a:spcAft>
                <a:spcPts val="900"/>
              </a:spcAft>
            </a:pPr>
            <a:r>
              <a:rPr sz="1300" b="0">
                <a:solidFill>
                  <a:srgbClr val="161B26"/>
                </a:solidFill>
                <a:latin typeface="Arial"/>
              </a:rPr>
              <a:t>•  git diff shows exactly which lines the agent touched, line by line, before you accept them.</a:t>
            </a:r>
          </a:p>
          <a:p>
            <a:pPr>
              <a:spcAft>
                <a:spcPts val="900"/>
              </a:spcAft>
            </a:pPr>
            <a:r>
              <a:rPr sz="1300" b="0">
                <a:solidFill>
                  <a:srgbClr val="161B26"/>
                </a:solidFill>
                <a:latin typeface="Arial"/>
              </a:rPr>
              <a:t>•  git restore . throws away the working changes and puts you back at your last commit.</a:t>
            </a:r>
          </a:p>
          <a:p>
            <a:pPr>
              <a:spcAft>
                <a:spcPts val="900"/>
              </a:spcAft>
            </a:pPr>
            <a:r>
              <a:rPr sz="1300" b="0">
                <a:solidFill>
                  <a:srgbClr val="161B26"/>
                </a:solidFill>
                <a:latin typeface="Arial"/>
              </a:rPr>
              <a:t>•  Small, frequent commits make it obvious which prompt introduced which change.</a:t>
            </a:r>
          </a:p>
          <a:p>
            <a:pPr>
              <a:spcAft>
                <a:spcPts val="900"/>
              </a:spcAft>
            </a:pPr>
            <a:r>
              <a:rPr sz="1300" b="0">
                <a:solidFill>
                  <a:srgbClr val="161B26"/>
                </a:solidFill>
                <a:latin typeface="Arial"/>
              </a:rPr>
              <a:t>•  Without this habit, one confident-but-wrong AI edit can quietly break code you cannot recover.</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Commit before you prompt; diff to review; restore to undo.</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git add -A &amp;&amp; git commit -m 'before AI edit'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prompt the agent, then review:</a:t>
            </a:r>
          </a:p>
          <a:p>
            <a:pPr algn="l">
              <a:spcAft>
                <a:spcPts val="200"/>
              </a:spcAft>
            </a:pPr>
            <a:r>
              <a:rPr sz="1150" b="0">
                <a:solidFill>
                  <a:srgbClr val="9CDCFE"/>
                </a:solidFill>
                <a:latin typeface="Arial"/>
              </a:rPr>
              <a:t>git diff              # what did it change?</a:t>
            </a:r>
          </a:p>
          <a:p>
            <a:pPr algn="l">
              <a:spcAft>
                <a:spcPts val="200"/>
              </a:spcAft>
            </a:pPr>
            <a:r>
              <a:rPr sz="1150" b="0">
                <a:solidFill>
                  <a:srgbClr val="9CDCFE"/>
                </a:solidFill>
                <a:latin typeface="Arial"/>
              </a:rPr>
              <a:t>git restore .         # undo if it went wrong</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Git is a video-game save point: commit before you prompt, and any bad edit is one 'load' away from undone.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THE BUILD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React compiles to static files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npm run build bundles your source into a dist/ folder of plain HTML, CSS and JavaScript.</a:t>
            </a:r>
          </a:p>
          <a:p>
            <a:pPr>
              <a:spcAft>
                <a:spcPts val="900"/>
              </a:spcAft>
            </a:pPr>
            <a:r>
              <a:rPr sz="1300" b="0">
                <a:solidFill>
                  <a:srgbClr val="161B26"/>
                </a:solidFill>
                <a:latin typeface="Arial"/>
              </a:rPr>
              <a:t>•  Babel has already compiled every piece of JSX away — the shipped bundle contains no JSX at all.</a:t>
            </a:r>
          </a:p>
          <a:p>
            <a:pPr>
              <a:spcAft>
                <a:spcPts val="900"/>
              </a:spcAft>
            </a:pPr>
            <a:r>
              <a:rPr sz="1300" b="0">
                <a:solidFill>
                  <a:srgbClr val="161B26"/>
                </a:solidFill>
                <a:latin typeface="Arial"/>
              </a:rPr>
              <a:t>•  Those files are static: no Node server runs them, so any file host on earth can serve them.</a:t>
            </a:r>
          </a:p>
          <a:p>
            <a:pPr>
              <a:spcAft>
                <a:spcPts val="900"/>
              </a:spcAft>
            </a:pPr>
            <a:r>
              <a:rPr sz="1300" b="0">
                <a:solidFill>
                  <a:srgbClr val="161B26"/>
                </a:solidFill>
                <a:latin typeface="Arial"/>
              </a:rPr>
              <a:t>•  npm run preview serves the built dist/ locally so you can test the real production output.</a:t>
            </a:r>
          </a:p>
          <a:p>
            <a:pPr>
              <a:spcAft>
                <a:spcPts val="900"/>
              </a:spcAft>
            </a:pPr>
            <a:r>
              <a:rPr sz="1300" b="0">
                <a:solidFill>
                  <a:srgbClr val="161B26"/>
                </a:solidFill>
                <a:latin typeface="Arial"/>
              </a:rPr>
              <a:t>•  The API routes in api/ are NOT part of this bundle — Vercel deploys them as separate functions.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React build is a folder of static files any host can serve.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npm run build     # -&gt; dist/ (html, css, js — no JSX)</a:t>
            </a:r>
          </a:p>
          <a:p>
            <a:pPr algn="l">
              <a:spcAft>
                <a:spcPts val="200"/>
              </a:spcAft>
            </a:pPr>
            <a:r>
              <a:rPr sz="1150" b="0">
                <a:solidFill>
                  <a:srgbClr val="9CDCFE"/>
                </a:solidFill>
                <a:latin typeface="Arial"/>
              </a:rPr>
              <a:t>npm run preview   # serve dist/ locally to test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dist/assets/index-*.js is what every visitor</a:t>
            </a:r>
          </a:p>
          <a:p>
            <a:pPr algn="l">
              <a:spcAft>
                <a:spcPts val="200"/>
              </a:spcAft>
            </a:pPr>
            <a:r>
              <a:rPr sz="1150" b="0">
                <a:solidFill>
                  <a:srgbClr val="9CDCFE"/>
                </a:solidFill>
                <a:latin typeface="Arial"/>
              </a:rPr>
              <a:t># downloads. Open it. Anything in there is public.</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npm run build is packing for a trip — your sprawling workshop becomes one sealed suitcase of plain files any host can carry.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GITIGNORE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Never commit secrets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.gitignore lists paths Git must never track, keeping junk and secrets out of your history.</a:t>
            </a:r>
          </a:p>
          <a:p>
            <a:pPr>
              <a:spcAft>
                <a:spcPts val="900"/>
              </a:spcAft>
            </a:pPr>
            <a:r>
              <a:rPr sz="1300" b="0">
                <a:solidFill>
                  <a:srgbClr val="161B26"/>
                </a:solidFill>
                <a:latin typeface="Arial"/>
              </a:rPr>
              <a:t>•  Always ignore node_modules (huge, reinstallable), dist (rebuildable), and .env.local (secret).</a:t>
            </a:r>
          </a:p>
          <a:p>
            <a:pPr>
              <a:spcAft>
                <a:spcPts val="900"/>
              </a:spcAft>
            </a:pPr>
            <a:r>
              <a:rPr sz="1300" b="0">
                <a:solidFill>
                  <a:srgbClr val="161B26"/>
                </a:solidFill>
                <a:latin typeface="Arial"/>
              </a:rPr>
              <a:t>•  A credential committed even once lives in the history forever, even after you delete the line.</a:t>
            </a:r>
          </a:p>
          <a:p>
            <a:pPr>
              <a:spcAft>
                <a:spcPts val="900"/>
              </a:spcAft>
            </a:pPr>
            <a:r>
              <a:rPr sz="1300" b="0">
                <a:solidFill>
                  <a:srgbClr val="161B26"/>
                </a:solidFill>
                <a:latin typeface="Arial"/>
              </a:rPr>
              <a:t>•  If a secret is ever pushed, treat it as leaked: rotate it immediately, do not just remove it.</a:t>
            </a:r>
          </a:p>
          <a:p>
            <a:pPr>
              <a:spcAft>
                <a:spcPts val="900"/>
              </a:spcAft>
            </a:pPr>
            <a:r>
              <a:rPr sz="1300" b="0">
                <a:solidFill>
                  <a:srgbClr val="161B26"/>
                </a:solidFill>
                <a:latin typeface="Arial"/>
              </a:rPr>
              <a:t>•  Commit .env.example instead — the variable NAMES, with placeholder values and no real secrets.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node_modules, dist and .env.local never belong in Git history.</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.gitignore</a:t>
            </a:r>
          </a:p>
          <a:p>
            <a:pPr algn="l">
              <a:spcAft>
                <a:spcPts val="200"/>
              </a:spcAft>
            </a:pPr>
            <a:r>
              <a:rPr sz="1150" b="0">
                <a:solidFill>
                  <a:srgbClr val="9CDCFE"/>
                </a:solidFill>
                <a:latin typeface="Arial"/>
              </a:rPr>
              <a:t>node_modules</a:t>
            </a:r>
          </a:p>
          <a:p>
            <a:pPr algn="l">
              <a:spcAft>
                <a:spcPts val="200"/>
              </a:spcAft>
            </a:pPr>
            <a:r>
              <a:rPr sz="1150" b="0">
                <a:solidFill>
                  <a:srgbClr val="9CDCFE"/>
                </a:solidFill>
                <a:latin typeface="Arial"/>
              </a:rPr>
              <a:t>dist</a:t>
            </a:r>
          </a:p>
          <a:p>
            <a:pPr algn="l">
              <a:spcAft>
                <a:spcPts val="200"/>
              </a:spcAft>
            </a:pPr>
            <a:r>
              <a:rPr sz="1150" b="0">
                <a:solidFill>
                  <a:srgbClr val="9CDCFE"/>
                </a:solidFill>
                <a:latin typeface="Arial"/>
              </a:rPr>
              <a:t>.env.local        # holds DATABASE_URL and JWT_SECRET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.env.example    &lt;- this one IS committed</a:t>
            </a:r>
          </a:p>
          <a:p>
            <a:pPr algn="l">
              <a:spcAft>
                <a:spcPts val="200"/>
              </a:spcAft>
            </a:pPr>
            <a:r>
              <a:rPr sz="1150" b="0">
                <a:solidFill>
                  <a:srgbClr val="9CDCFE"/>
                </a:solidFill>
                <a:latin typeface="Arial"/>
              </a:rPr>
              <a:t>DATABASE_URL=postgresql://USER:PASSWORD@...</a:t>
            </a:r>
          </a:p>
          <a:p>
            <a:pPr algn="l">
              <a:spcAft>
                <a:spcPts val="200"/>
              </a:spcAft>
            </a:pPr>
            <a:r>
              <a:rPr sz="1150" b="0">
                <a:solidFill>
                  <a:srgbClr val="9CDCFE"/>
                </a:solidFill>
                <a:latin typeface="Arial"/>
              </a:rPr>
              <a:t>JWT_SECRET=dev-secret-change-me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secret in Git history is a postcard, not a letter — once written on the back, everyone down the line can read it forever.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ENV VARS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VITE_ variables are public. Always.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Vite exposes only variables prefixed VITE_ to browser code, via import.meta.env.VITE_SOMETHING.</a:t>
            </a:r>
          </a:p>
          <a:p>
            <a:pPr>
              <a:spcAft>
                <a:spcPts val="900"/>
              </a:spcAft>
            </a:pPr>
            <a:r>
              <a:rPr sz="1300" b="0">
                <a:solidFill>
                  <a:srgbClr val="161B26"/>
                </a:solidFill>
                <a:latin typeface="Arial"/>
              </a:rPr>
              <a:t>•  It SUBSTITUTES the value straight into the .js file it ships. It is not looked up at runtime.</a:t>
            </a:r>
          </a:p>
          <a:p>
            <a:pPr>
              <a:spcAft>
                <a:spcPts val="900"/>
              </a:spcAft>
            </a:pPr>
            <a:r>
              <a:rPr sz="1300" b="0">
                <a:solidFill>
                  <a:srgbClr val="161B26"/>
                </a:solidFill>
                <a:latin typeface="Arial"/>
              </a:rPr>
              <a:t>•  So a VITE_ variable is visible to every visitor: open devtools, or just read dist/assets/index-*.js.</a:t>
            </a:r>
          </a:p>
          <a:p>
            <a:pPr>
              <a:spcAft>
                <a:spcPts val="900"/>
              </a:spcAft>
            </a:pPr>
            <a:r>
              <a:rPr sz="1300" b="0">
                <a:solidFill>
                  <a:srgbClr val="161B26"/>
                </a:solidFill>
                <a:latin typeface="Arial"/>
              </a:rPr>
              <a:t>•  A VITE_ variable may hold a public URL. It may never hold a password, a key or a token.</a:t>
            </a:r>
          </a:p>
          <a:p>
            <a:pPr>
              <a:spcAft>
                <a:spcPts val="900"/>
              </a:spcAft>
            </a:pPr>
            <a:r>
              <a:rPr sz="1300" b="0">
                <a:solidFill>
                  <a:srgbClr val="161B26"/>
                </a:solidFill>
                <a:latin typeface="Arial"/>
              </a:rPr>
              <a:t>•  A variable with no VITE_ prefix is never touched by Vite and never reaches the browser at all.</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VITE_ vars are compiled into the public bundle — no secrets, ever.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.env.local</a:t>
            </a:r>
          </a:p>
          <a:p>
            <a:pPr algn="l">
              <a:spcAft>
                <a:spcPts val="200"/>
              </a:spcAft>
            </a:pPr>
            <a:r>
              <a:rPr sz="1150" b="0">
                <a:solidFill>
                  <a:srgbClr val="9CDCFE"/>
                </a:solidFill>
                <a:latin typeface="Arial"/>
              </a:rPr>
              <a:t>VITE_SITE_NAME=Cook &amp; Bake Academy   # public. fine.</a:t>
            </a:r>
          </a:p>
          <a:p>
            <a:pPr algn="l">
              <a:spcAft>
                <a:spcPts val="200"/>
              </a:spcAft>
            </a:pPr>
            <a:r>
              <a:rPr sz="1150" b="0">
                <a:solidFill>
                  <a:srgbClr val="9CDCFE"/>
                </a:solidFill>
                <a:latin typeface="Arial"/>
              </a:rPr>
              <a:t>DATABASE_URL=postgresql://user:PASSWORD@...  # SERVER ONLY</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Browser code can only ever see the first one:</a:t>
            </a:r>
          </a:p>
          <a:p>
            <a:pPr algn="l">
              <a:spcAft>
                <a:spcPts val="200"/>
              </a:spcAft>
            </a:pPr>
            <a:r>
              <a:rPr sz="1150" b="0">
                <a:solidFill>
                  <a:srgbClr val="9CDCFE"/>
                </a:solidFill>
                <a:latin typeface="Arial"/>
              </a:rPr>
              <a:t>const name = import.meta.env.VITE_SITE_NAME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VITE_ variable is printed on the flyer, not whispered — baked into the bundle for anyone to read.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CI/CD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on every push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Connect your GitHub repo to Vercel once, and every push to main triggers a fresh build and deploy.</a:t>
            </a:r>
          </a:p>
          <a:p>
            <a:pPr>
              <a:spcAft>
                <a:spcPts val="900"/>
              </a:spcAft>
            </a:pPr>
            <a:r>
              <a:rPr sz="1300" b="0">
                <a:solidFill>
                  <a:srgbClr val="161B26"/>
                </a:solidFill>
                <a:latin typeface="Arial"/>
              </a:rPr>
              <a:t>•  This is continuous deployment: your live site always reflects the latest committed code.</a:t>
            </a:r>
          </a:p>
          <a:p>
            <a:pPr>
              <a:spcAft>
                <a:spcPts val="900"/>
              </a:spcAft>
            </a:pPr>
            <a:r>
              <a:rPr sz="1300" b="0">
                <a:solidFill>
                  <a:srgbClr val="161B26"/>
                </a:solidFill>
                <a:latin typeface="Arial"/>
              </a:rPr>
              <a:t>•  Every branch and pull request gets its own preview URL, so you can test before merging.</a:t>
            </a:r>
          </a:p>
          <a:p>
            <a:pPr>
              <a:spcAft>
                <a:spcPts val="900"/>
              </a:spcAft>
            </a:pPr>
            <a:r>
              <a:rPr sz="1300" b="0">
                <a:solidFill>
                  <a:srgbClr val="161B26"/>
                </a:solidFill>
                <a:latin typeface="Arial"/>
              </a:rPr>
              <a:t>•  Vercel also builds everything in api/ into serverless functions, on the same domain as the site.</a:t>
            </a:r>
          </a:p>
          <a:p>
            <a:pPr>
              <a:spcAft>
                <a:spcPts val="900"/>
              </a:spcAft>
            </a:pPr>
            <a:r>
              <a:rPr sz="1300" b="0">
                <a:solidFill>
                  <a:srgbClr val="161B26"/>
                </a:solidFill>
                <a:latin typeface="Arial"/>
              </a:rPr>
              <a:t>•  Secrets like DATABASE_URL are set in the Vercel dashboard, encrypted — never in the repo.</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Push to GitHub; Vercel rebuilds the site AND the API functions.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git push origin main</a:t>
            </a:r>
          </a:p>
          <a:p>
            <a:pPr algn="l">
              <a:spcAft>
                <a:spcPts val="200"/>
              </a:spcAft>
            </a:pPr>
            <a:r>
              <a:rPr sz="1150" b="0">
                <a:solidFill>
                  <a:srgbClr val="9CDCFE"/>
                </a:solidFill>
                <a:latin typeface="Arial"/>
              </a:rPr>
              <a:t># Vercel rebuilds and deploys automatically:</a:t>
            </a:r>
          </a:p>
          <a:p>
            <a:pPr algn="l">
              <a:spcAft>
                <a:spcPts val="200"/>
              </a:spcAft>
            </a:pPr>
            <a:r>
              <a:rPr sz="1150" b="0">
                <a:solidFill>
                  <a:srgbClr val="9CDCFE"/>
                </a:solidFill>
                <a:latin typeface="Arial"/>
              </a:rPr>
              <a:t>#   dist/   -&gt; the static site</a:t>
            </a:r>
          </a:p>
          <a:p>
            <a:pPr algn="l">
              <a:spcAft>
                <a:spcPts val="200"/>
              </a:spcAft>
            </a:pPr>
            <a:r>
              <a:rPr sz="1150" b="0">
                <a:solidFill>
                  <a:srgbClr val="9CDCFE"/>
                </a:solidFill>
                <a:latin typeface="Arial"/>
              </a:rPr>
              <a:t>#   api/    -&gt; serverless functions</a:t>
            </a:r>
          </a:p>
          <a:p>
            <a:pPr algn="l">
              <a:spcAft>
                <a:spcPts val="200"/>
              </a:spcAft>
            </a:pPr>
            <a:r>
              <a:rPr sz="1150" b="0">
                <a:solidFill>
                  <a:srgbClr val="9CDCFE"/>
                </a:solidFill>
                <a:latin typeface="Arial"/>
              </a:rPr>
              <a:t># Same domain, so the browser calls /api/courses</a:t>
            </a:r>
          </a:p>
          <a:p>
            <a:pPr algn="l">
              <a:spcAft>
                <a:spcPts val="200"/>
              </a:spcAft>
            </a:pPr>
            <a:r>
              <a:rPr sz="1150" b="0">
                <a:solidFill>
                  <a:srgbClr val="9CDCFE"/>
                </a:solidFill>
                <a:latin typeface="Arial"/>
              </a:rPr>
              <a:t># with no CORS and no separate backend URL.</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Connecting Vercel to GitHub is a standing order to a baker — every push, a fresh loaf is baked and set out, no phone call needed.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SPA HOSTING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SPA deep links need a rewrite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single-page app has only one real file, index.html; the router fakes the other paths in the browser.</a:t>
            </a:r>
          </a:p>
          <a:p>
            <a:pPr>
              <a:spcAft>
                <a:spcPts val="900"/>
              </a:spcAft>
            </a:pPr>
            <a:r>
              <a:rPr sz="1300" b="0">
                <a:solidFill>
                  <a:srgbClr val="161B26"/>
                </a:solidFill>
                <a:latin typeface="Arial"/>
              </a:rPr>
              <a:t>•  Type /courses directly or refresh, and the static host looks for that file on disk and 404s.</a:t>
            </a:r>
          </a:p>
          <a:p>
            <a:pPr>
              <a:spcAft>
                <a:spcPts val="900"/>
              </a:spcAft>
            </a:pPr>
            <a:r>
              <a:rPr sz="1300" b="0">
                <a:solidFill>
                  <a:srgbClr val="161B26"/>
                </a:solidFill>
                <a:latin typeface="Arial"/>
              </a:rPr>
              <a:t>•  The fix is a rewrite rule: send every path to /index.html and let React Router match it.</a:t>
            </a:r>
          </a:p>
          <a:p>
            <a:pPr>
              <a:spcAft>
                <a:spcPts val="900"/>
              </a:spcAft>
            </a:pPr>
            <a:r>
              <a:rPr sz="1300" b="0">
                <a:solidFill>
                  <a:srgbClr val="161B26"/>
                </a:solidFill>
                <a:latin typeface="Arial"/>
              </a:rPr>
              <a:t>•  But you must EXCLUDE /api/*, or your API calls get rewritten to index.html and return a web page.</a:t>
            </a:r>
          </a:p>
          <a:p>
            <a:pPr>
              <a:spcAft>
                <a:spcPts val="900"/>
              </a:spcAft>
            </a:pPr>
            <a:r>
              <a:rPr sz="1300" b="0">
                <a:solidFill>
                  <a:srgbClr val="161B26"/>
                </a:solidFill>
                <a:latin typeface="Arial"/>
              </a:rPr>
              <a:t>•  That is what "Unexpected token '&lt;'" means: you fetched a URL and res.json() got HTML back.</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Rewrite every path to /index.html — except /api/*, or the API breaks.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vercel.json (real) — note the negative lookahead</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"rewrites": [</a:t>
            </a:r>
          </a:p>
          <a:p>
            <a:pPr algn="l">
              <a:spcAft>
                <a:spcPts val="200"/>
              </a:spcAft>
            </a:pPr>
            <a:r>
              <a:rPr sz="1150" b="0">
                <a:solidFill>
                  <a:srgbClr val="9CDCFE"/>
                </a:solidFill>
                <a:latin typeface="Arial"/>
              </a:rPr>
              <a:t>    { "source": "/((?!api/).*)", "destination": "/index.html" }</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Everything EXCEPT /api/* falls back to index.html.</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static host is a receptionist with a filing cabinet — ask for /courses, find no such file, and you must be told to always hand back index.html.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DEPLOYMENT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Deploying from Git to the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You connect the host to your GitHub repository once; after that, a push is a deploy.</a:t>
            </a:r>
          </a:p>
          <a:p>
            <a:pPr>
              <a:spcAft>
                <a:spcPts val="1000"/>
              </a:spcAft>
            </a:pPr>
            <a:r>
              <a:rPr sz="1300" b="0">
                <a:solidFill>
                  <a:srgbClr val="161B26"/>
                </a:solidFill>
                <a:latin typeface="Arial"/>
              </a:rPr>
              <a:t>•  The host clones your repo, runs npm run build, and serves the static dist/ folder.</a:t>
            </a:r>
          </a:p>
          <a:p>
            <a:pPr>
              <a:spcAft>
                <a:spcPts val="1000"/>
              </a:spcAft>
            </a:pPr>
            <a:r>
              <a:rPr sz="1300" b="0">
                <a:solidFill>
                  <a:srgbClr val="161B26"/>
                </a:solidFill>
                <a:latin typeface="Arial"/>
              </a:rPr>
              <a:t>•  Every branch gets its own preview URL, so you can review a change before it reaches users.</a:t>
            </a:r>
          </a:p>
          <a:p>
            <a:pPr>
              <a:spcAft>
                <a:spcPts val="1000"/>
              </a:spcAft>
            </a:pPr>
            <a:r>
              <a:rPr sz="1300" b="0">
                <a:solidFill>
                  <a:srgbClr val="161B26"/>
                </a:solidFill>
                <a:latin typeface="Arial"/>
              </a:rPr>
              <a:t>•  Environment variables are set in the dashboard, not committed — and VITE_ ones are public.</a:t>
            </a:r>
          </a:p>
          <a:p>
            <a:pPr>
              <a:spcAft>
                <a:spcPts val="1000"/>
              </a:spcAft>
            </a:pPr>
            <a:r>
              <a:rPr sz="1300" b="0">
                <a:solidFill>
                  <a:srgbClr val="161B26"/>
                </a:solidFill>
                <a:latin typeface="Arial"/>
              </a:rPr>
              <a:t>•  Because they are baked in at build time, changing one requires a redeploy, not a restart.</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ercel-1.png"/>
          <p:cNvPicPr>
            <a:picLocks noChangeAspect="1"/>
          </p:cNvPicPr>
          <p:nvPr/>
        </p:nvPicPr>
        <p:blipFill>
          <a:blip r:embed="rId2"/>
          <a:stretch>
            <a:fillRect/>
          </a:stretch>
        </p:blipFill>
        <p:spPr>
          <a:xfrm>
            <a:off x="7261580" y="1892808"/>
            <a:ext cx="2694991" cy="3575304"/>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Git-connected deployment: push to main, the host rebuilds and publishes automatically.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2.1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Version Control with Git and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landing page only exists on one laptop, and the next lab hands it to an AI agent to rewrite. The learner initialises a repository, writes a .gitignore that keeps dependencies and secrets out of history, pushes cookbake to GitHub, and adopts the vibe coder's habit: commit before you prompt, diff after.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GitHub repository holding the Cook &amp; Bake Academy app, with node_modules, dist and .env.local excluded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git, GitHub, gh CLI, .gitignore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Version Control with Git and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cookbake repository exists on GitHub, git status is clean, node_modules and .env.local are untracked, and you can demonstrate reverting an AI edit with git diff followed by git restore.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2.2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Cook &amp; Bake Academy to Vercel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client wants to see their website. The learner inspects what npm run build actually emits, deploys the GitHub repo to Vercel so every push redeploys, adds the SPA rewrite that Topic 6's routing will need, and learns the VITE_ rule: anything with that prefix is baked into the bundle and is therefore public.</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Cook &amp; Bake Academy live on a public Vercel URL, redeployed automatically on every git push</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Vite production build, Vercel, vercel.json, environment variables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Cook &amp; Bake Academy to Vercel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app is live on a public Vercel URL, a fresh git push triggers an automatic redeploy, the VITE_ value is visibly present inside dist/assets/*.js, and you can explain why a VITE_ variable can never hold a secret.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2.3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to GitHub Pages with GitHub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Not every client uses Vercel. The learner vibe-codes a GitHub Actions workflow that builds and publishes the app on every push to main, then debugs the two classic static-host failures for themselves: a blank page caused by the wrong base path, and a 404 on refresh caused by the missing SPA fallback.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GitHub Actions workflow deploying Cook &amp; Bake Academy to GitHub Pages on every push to main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GitHub Actions, actions/deploy-pages, vite.config.js base path</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to GitHub Pages with GitHub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Actions workflow completes green, the site loads at https://&lt;user&gt;.github.io/cookbake/ with its CSS and images intact, refreshing a sub-path does not 404, and you can explain what the base path and the 404.html fallback each fix.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send the client a link to their running website.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30 minutes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Make It Real, Not Hardcoded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real components driven by data, all 20 courses rendered with map(), and a working Bakery/Cooking filter and search</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Make It Real, Not Hardcoded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The page is copy-pasted markup — six course cards typed by hand.</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real components driven by data, all 20 courses rendered with map(), and a working Bakery/Cooking filter and search.</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the real DOM vs the Virtual DOM, how Babel compiles JSX, composition, lists and keys, and events.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THE REAL DOM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real DOM, and life without React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DOM is the browser's live object tree. Change a node's property and the screen changes.</a:t>
            </a:r>
          </a:p>
          <a:p>
            <a:pPr>
              <a:spcAft>
                <a:spcPts val="900"/>
              </a:spcAft>
            </a:pPr>
            <a:r>
              <a:rPr sz="1300" b="0">
                <a:solidFill>
                  <a:srgbClr val="161B26"/>
                </a:solidFill>
                <a:latin typeface="Arial"/>
              </a:rPr>
              <a:t>•  Without React you say HOW: getElementById, then overwrite textContent, className, style, value.</a:t>
            </a:r>
          </a:p>
          <a:p>
            <a:pPr>
              <a:spcAft>
                <a:spcPts val="900"/>
              </a:spcAft>
            </a:pPr>
            <a:r>
              <a:rPr sz="1300" b="0">
                <a:solidFill>
                  <a:srgbClr val="161B26"/>
                </a:solidFill>
                <a:latin typeface="Arial"/>
              </a:rPr>
              <a:t>•  The truth now lives in a DOM string, so you read '10 courses' back out and parse it to add to it.</a:t>
            </a:r>
          </a:p>
          <a:p>
            <a:pPr>
              <a:spcAft>
                <a:spcPts val="900"/>
              </a:spcAft>
            </a:pPr>
            <a:r>
              <a:rPr sz="1300" b="0">
                <a:solidFill>
                  <a:srgbClr val="161B26"/>
                </a:solidFill>
                <a:latin typeface="Arial"/>
              </a:rPr>
              <a:t>•  Every new feature multiplies the patches: filter the grid and you must also fix the count and the chip.</a:t>
            </a:r>
          </a:p>
          <a:p>
            <a:pPr>
              <a:spcAft>
                <a:spcPts val="900"/>
              </a:spcAft>
            </a:pPr>
            <a:r>
              <a:rPr sz="1300" b="0">
                <a:solidFill>
                  <a:srgbClr val="161B26"/>
                </a:solidFill>
                <a:latin typeface="Arial"/>
              </a:rPr>
              <a:t>•  One missed patch and the screen quietly disagrees with your data. Nothing throws. Nobody notices.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Hand-patching the DOM means saying HOW, in every place, every time.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Vanilla: filtering the Cook &amp; Bake catalogue.</a:t>
            </a:r>
          </a:p>
          <a:p>
            <a:pPr algn="l">
              <a:spcAft>
                <a:spcPts val="200"/>
              </a:spcAft>
            </a:pPr>
            <a:r>
              <a:rPr sz="1150" b="0">
                <a:solidFill>
                  <a:srgbClr val="9CDCFE"/>
                </a:solidFill>
                <a:latin typeface="Arial"/>
              </a:rPr>
              <a:t>document.querySelectorAll('.card').forEach((card) =&gt; {</a:t>
            </a:r>
          </a:p>
          <a:p>
            <a:pPr algn="l">
              <a:spcAft>
                <a:spcPts val="200"/>
              </a:spcAft>
            </a:pPr>
            <a:r>
              <a:rPr sz="1150" b="0">
                <a:solidFill>
                  <a:srgbClr val="9CDCFE"/>
                </a:solidFill>
                <a:latin typeface="Arial"/>
              </a:rPr>
              <a:t>  const show = card.dataset.category === 'Bakery'</a:t>
            </a:r>
          </a:p>
          <a:p>
            <a:pPr algn="l">
              <a:spcAft>
                <a:spcPts val="200"/>
              </a:spcAft>
            </a:pPr>
            <a:r>
              <a:rPr sz="1150" b="0">
                <a:solidFill>
                  <a:srgbClr val="9CDCFE"/>
                </a:solidFill>
                <a:latin typeface="Arial"/>
              </a:rPr>
              <a:t>  card.style.display = show ? 'block' : 'none'</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document.getElementById('count').textContent = '10 courses'</a:t>
            </a:r>
          </a:p>
          <a:p>
            <a:pPr algn="l">
              <a:spcAft>
                <a:spcPts val="200"/>
              </a:spcAft>
            </a:pPr>
            <a:r>
              <a:rPr sz="1150" b="0">
                <a:solidFill>
                  <a:srgbClr val="9CDCFE"/>
                </a:solidFill>
                <a:latin typeface="Arial"/>
              </a:rPr>
              <a:t>// ...plus the chip, the heading, the empty state...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DOM is the page itself — a live object tree. Editing it by hand is rewiring a running machine.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VIRTUAL DOM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Virtual DOM and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React keeps a lightweight JavaScript tree — the Virtual DOM — describing what the UI should be.</a:t>
            </a:r>
          </a:p>
          <a:p>
            <a:pPr>
              <a:spcAft>
                <a:spcPts val="900"/>
              </a:spcAft>
            </a:pPr>
            <a:r>
              <a:rPr sz="1300" b="0">
                <a:solidFill>
                  <a:srgbClr val="161B26"/>
                </a:solidFill>
                <a:latin typeface="Arial"/>
              </a:rPr>
              <a:t>•  Building it is cheap: it is just plain objects. Touching the real DOM is the expensive part.</a:t>
            </a:r>
          </a:p>
          <a:p>
            <a:pPr>
              <a:spcAft>
                <a:spcPts val="900"/>
              </a:spcAft>
            </a:pPr>
            <a:r>
              <a:rPr sz="1300" b="0">
                <a:solidFill>
                  <a:srgbClr val="161B26"/>
                </a:solidFill>
                <a:latin typeface="Arial"/>
              </a:rPr>
              <a:t>•  On each render React builds a NEW virtual tree for the current state.</a:t>
            </a:r>
          </a:p>
          <a:p>
            <a:pPr>
              <a:spcAft>
                <a:spcPts val="900"/>
              </a:spcAft>
            </a:pPr>
            <a:r>
              <a:rPr sz="1300" b="0">
                <a:solidFill>
                  <a:srgbClr val="161B26"/>
                </a:solidFill>
                <a:latin typeface="Arial"/>
              </a:rPr>
              <a:t>•  Reconciliation is the diff: it compares the new tree to the previous one to find what changed.</a:t>
            </a:r>
          </a:p>
          <a:p>
            <a:pPr>
              <a:spcAft>
                <a:spcPts val="900"/>
              </a:spcAft>
            </a:pPr>
            <a:r>
              <a:rPr sz="1300" b="0">
                <a:solidFill>
                  <a:srgbClr val="161B26"/>
                </a:solidFill>
                <a:latin typeface="Arial"/>
              </a:rPr>
              <a:t>•  It patches only those differences into the real DOM. Unchanged nodes are never touched.</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React diffs a virtual tree and patches only what actually changed.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You describe the UI for this state:</a:t>
            </a:r>
          </a:p>
          <a:p>
            <a:pPr algn="l">
              <a:spcAft>
                <a:spcPts val="200"/>
              </a:spcAft>
            </a:pPr>
            <a:r>
              <a:rPr sz="1150" b="0">
                <a:solidFill>
                  <a:srgbClr val="9CDCFE"/>
                </a:solidFill>
                <a:latin typeface="Arial"/>
              </a:rPr>
              <a:t>&lt;p&gt;{visible.length} courses&lt;/p&gt;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Filter to Bakery: React builds a new virtual tree,</a:t>
            </a:r>
          </a:p>
          <a:p>
            <a:pPr algn="l">
              <a:spcAft>
                <a:spcPts val="200"/>
              </a:spcAft>
            </a:pPr>
            <a:r>
              <a:rPr sz="1150" b="0">
                <a:solidFill>
                  <a:srgbClr val="9CDCFE"/>
                </a:solidFill>
                <a:latin typeface="Arial"/>
              </a:rPr>
              <a:t>// diffs it, and patches ONE text node ('20' -&gt; '10')</a:t>
            </a:r>
          </a:p>
          <a:p>
            <a:pPr algn="l">
              <a:spcAft>
                <a:spcPts val="200"/>
              </a:spcAft>
            </a:pPr>
            <a:r>
              <a:rPr sz="1150" b="0">
                <a:solidFill>
                  <a:srgbClr val="9CDCFE"/>
                </a:solidFill>
                <a:latin typeface="Arial"/>
              </a:rPr>
              <a:t>// plus removing 10 cards. The navbar, hero and footer</a:t>
            </a:r>
          </a:p>
          <a:p>
            <a:pPr algn="l">
              <a:spcAft>
                <a:spcPts val="200"/>
              </a:spcAft>
            </a:pPr>
            <a:r>
              <a:rPr sz="1150" b="0">
                <a:solidFill>
                  <a:srgbClr val="9CDCFE"/>
                </a:solidFill>
                <a:latin typeface="Arial"/>
              </a:rPr>
              <a:t>// were identical in both trees, so they are untouched.</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Virtual DOM is an architect's blueprint — React compares the new drawing to the old before knocking down a single real wall.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BABEL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Babel compiles JSX into function calls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browser has NEVER seen JSX. It is not JavaScript and no browser can parse it.</a:t>
            </a:r>
          </a:p>
          <a:p>
            <a:pPr>
              <a:spcAft>
                <a:spcPts val="900"/>
              </a:spcAft>
            </a:pPr>
            <a:r>
              <a:rPr sz="1300" b="0">
                <a:solidFill>
                  <a:srgbClr val="161B26"/>
                </a:solidFill>
                <a:latin typeface="Arial"/>
              </a:rPr>
              <a:t>•  Babel compiles it away at build time. Vite wires Babel in through @vitejs/plugin-react.</a:t>
            </a:r>
          </a:p>
          <a:p>
            <a:pPr>
              <a:spcAft>
                <a:spcPts val="900"/>
              </a:spcAft>
            </a:pPr>
            <a:r>
              <a:rPr sz="1300" b="0">
                <a:solidFill>
                  <a:srgbClr val="161B26"/>
                </a:solidFill>
                <a:latin typeface="Arial"/>
              </a:rPr>
              <a:t>•  &lt;CourseCard fee={680}/&gt; becomes React.createElement(CourseCard, { fee: 680 }).</a:t>
            </a:r>
          </a:p>
          <a:p>
            <a:pPr>
              <a:spcAft>
                <a:spcPts val="900"/>
              </a:spcAft>
            </a:pPr>
            <a:r>
              <a:rPr sz="1300" b="0">
                <a:solidFill>
                  <a:srgbClr val="161B26"/>
                </a:solidFill>
                <a:latin typeface="Arial"/>
              </a:rPr>
              <a:t>•  That call returns a plain JavaScript object — { type, props } — not HTML and not a DOM node.</a:t>
            </a:r>
          </a:p>
          <a:p>
            <a:pPr>
              <a:spcAft>
                <a:spcPts val="900"/>
              </a:spcAft>
            </a:pPr>
            <a:r>
              <a:rPr sz="1300" b="0">
                <a:solidFill>
                  <a:srgbClr val="161B26"/>
                </a:solidFill>
                <a:latin typeface="Arial"/>
              </a:rPr>
              <a:t>•  A tree of those objects IS the Virtual DOM. This is the join between the last slide and this one.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Babel rewrites every JSX tag into a call that returns a plain object.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YOU WRITE (JSX):</a:t>
            </a:r>
          </a:p>
          <a:p>
            <a:pPr algn="l">
              <a:spcAft>
                <a:spcPts val="200"/>
              </a:spcAft>
            </a:pPr>
            <a:r>
              <a:rPr sz="1150" b="0">
                <a:solidFill>
                  <a:srgbClr val="9CDCFE"/>
                </a:solidFill>
                <a:latin typeface="Arial"/>
              </a:rPr>
              <a:t>&lt;CourseCard course={course} fee={680} /&gt;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BABEL COMPILES IT TO (plain JavaScript):</a:t>
            </a:r>
          </a:p>
          <a:p>
            <a:pPr algn="l">
              <a:spcAft>
                <a:spcPts val="200"/>
              </a:spcAft>
            </a:pPr>
            <a:r>
              <a:rPr sz="1150" b="0">
                <a:solidFill>
                  <a:srgbClr val="9CDCFE"/>
                </a:solidFill>
                <a:latin typeface="Arial"/>
              </a:rPr>
              <a:t>React.createElement(CourseCard, { course: course, fee: 680 })</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WHICH RETURNS (a plain object — a React element):</a:t>
            </a:r>
          </a:p>
          <a:p>
            <a:pPr algn="l">
              <a:spcAft>
                <a:spcPts val="200"/>
              </a:spcAft>
            </a:pPr>
            <a:r>
              <a:rPr sz="1150" b="0">
                <a:solidFill>
                  <a:srgbClr val="9CDCFE"/>
                </a:solidFill>
                <a:latin typeface="Arial"/>
              </a:rPr>
              <a:t>{ type: CourseCard, props: { course: {...}, fee: 680 } }</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Babel is a translator in a booth — you speak JSX, and the browser only ever hears plain JavaScript.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DECLARATIVE UI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Declarative beats imperative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Imperative code lists the steps: find the element, set its text, toggle a class, and so on.</a:t>
            </a:r>
          </a:p>
          <a:p>
            <a:pPr>
              <a:spcAft>
                <a:spcPts val="900"/>
              </a:spcAft>
            </a:pPr>
            <a:r>
              <a:rPr sz="1300" b="0">
                <a:solidFill>
                  <a:srgbClr val="161B26"/>
                </a:solidFill>
                <a:latin typeface="Arial"/>
              </a:rPr>
              <a:t>•  Declarative code describes the end result for the current state and lets React reach it.</a:t>
            </a:r>
          </a:p>
          <a:p>
            <a:pPr>
              <a:spcAft>
                <a:spcPts val="900"/>
              </a:spcAft>
            </a:pPr>
            <a:r>
              <a:rPr sz="1300" b="0">
                <a:solidFill>
                  <a:srgbClr val="161B26"/>
                </a:solidFill>
                <a:latin typeface="Arial"/>
              </a:rPr>
              <a:t>•  In React you never write 'update this node' — you write what the UI is, as a function of state.</a:t>
            </a:r>
          </a:p>
          <a:p>
            <a:pPr>
              <a:spcAft>
                <a:spcPts val="900"/>
              </a:spcAft>
            </a:pPr>
            <a:r>
              <a:rPr sz="1300" b="0">
                <a:solidFill>
                  <a:srgbClr val="161B26"/>
                </a:solidFill>
                <a:latin typeface="Arial"/>
              </a:rPr>
              <a:t>•  This means the UI can never drift out of sync with your data the way manual DOM edits do.</a:t>
            </a:r>
          </a:p>
          <a:p>
            <a:pPr>
              <a:spcAft>
                <a:spcPts val="900"/>
              </a:spcAft>
            </a:pPr>
            <a:r>
              <a:rPr sz="1300" b="0">
                <a:solidFill>
                  <a:srgbClr val="161B26"/>
                </a:solidFill>
                <a:latin typeface="Arial"/>
              </a:rPr>
              <a:t>•  Change the state, and the correct UI follows automatically; that is React's core promise.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Describe the UI for the current state; React figures out the how.</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Imperative (vanilla): you do each step</a:t>
            </a:r>
          </a:p>
          <a:p>
            <a:pPr algn="l">
              <a:spcAft>
                <a:spcPts val="200"/>
              </a:spcAft>
            </a:pPr>
            <a:r>
              <a:rPr sz="1150" b="0">
                <a:solidFill>
                  <a:srgbClr val="9CDCFE"/>
                </a:solidFill>
                <a:latin typeface="Arial"/>
              </a:rPr>
              <a:t>el.textContent = String(visible.length)</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Declarative (React): you state the result</a:t>
            </a:r>
          </a:p>
          <a:p>
            <a:pPr algn="l">
              <a:spcAft>
                <a:spcPts val="200"/>
              </a:spcAft>
            </a:pPr>
            <a:r>
              <a:rPr sz="1150" b="0">
                <a:solidFill>
                  <a:srgbClr val="9CDCFE"/>
                </a:solidFill>
                <a:latin typeface="Arial"/>
              </a:rPr>
              <a:t>&lt;p&gt;{visible.length} courses&lt;/p&gt;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Declarative code is ordering a dish, not reciting the recipe — you state the result you want and let React cook.</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STATE vs PROPS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State vs props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Props are passed in from the parent and are read-only — the component cannot change them.</a:t>
            </a:r>
          </a:p>
          <a:p>
            <a:pPr>
              <a:spcAft>
                <a:spcPts val="900"/>
              </a:spcAft>
            </a:pPr>
            <a:r>
              <a:rPr sz="1300" b="0">
                <a:solidFill>
                  <a:srgbClr val="161B26"/>
                </a:solidFill>
                <a:latin typeface="Arial"/>
              </a:rPr>
              <a:t>•  State is owned by the component itself and can change over time in response to events.</a:t>
            </a:r>
          </a:p>
          <a:p>
            <a:pPr>
              <a:spcAft>
                <a:spcPts val="900"/>
              </a:spcAft>
            </a:pPr>
            <a:r>
              <a:rPr sz="1300" b="0">
                <a:solidFill>
                  <a:srgbClr val="161B26"/>
                </a:solidFill>
                <a:latin typeface="Arial"/>
              </a:rPr>
              <a:t>•  Changing state triggers a re-render; receiving new props from a parent also triggers a re-render.</a:t>
            </a:r>
          </a:p>
          <a:p>
            <a:pPr>
              <a:spcAft>
                <a:spcPts val="900"/>
              </a:spcAft>
            </a:pPr>
            <a:r>
              <a:rPr sz="1300" b="0">
                <a:solidFill>
                  <a:srgbClr val="161B26"/>
                </a:solidFill>
                <a:latin typeface="Arial"/>
              </a:rPr>
              <a:t>•  Ask 'does this component own this value, or is it given?' to decide between state and props.</a:t>
            </a:r>
          </a:p>
          <a:p>
            <a:pPr>
              <a:spcAft>
                <a:spcPts val="900"/>
              </a:spcAft>
            </a:pPr>
            <a:r>
              <a:rPr sz="1300" b="0">
                <a:solidFill>
                  <a:srgbClr val="161B26"/>
                </a:solidFill>
                <a:latin typeface="Arial"/>
              </a:rPr>
              <a:t>•  CourseCard is all props and no state. CoursesPage owns the query state and passes it down.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Props come from outside and are read-only; state is owned and changeable.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SearchBar owns nothing — pure props.</a:t>
            </a:r>
          </a:p>
          <a:p>
            <a:pPr algn="l">
              <a:spcAft>
                <a:spcPts val="200"/>
              </a:spcAft>
            </a:pPr>
            <a:r>
              <a:rPr sz="1095" b="0">
                <a:solidFill>
                  <a:srgbClr val="9CDCFE"/>
                </a:solidFill>
                <a:latin typeface="Arial"/>
              </a:rPr>
              <a:t>function SearchBar({ value, onChange }) {</a:t>
            </a:r>
          </a:p>
          <a:p>
            <a:pPr algn="l">
              <a:spcAft>
                <a:spcPts val="200"/>
              </a:spcAft>
            </a:pPr>
            <a:r>
              <a:rPr sz="1095" b="0">
                <a:solidFill>
                  <a:srgbClr val="9CDCFE"/>
                </a:solidFill>
                <a:latin typeface="Arial"/>
              </a:rPr>
              <a:t>  return &lt;input value={value}</a:t>
            </a:r>
          </a:p>
          <a:p>
            <a:pPr algn="l">
              <a:spcAft>
                <a:spcPts val="200"/>
              </a:spcAft>
            </a:pPr>
            <a:r>
              <a:rPr sz="1095" b="0">
                <a:solidFill>
                  <a:srgbClr val="9CDCFE"/>
                </a:solidFill>
                <a:latin typeface="Arial"/>
              </a:rPr>
              <a:t>    onChange={(e) =&gt; onChange(e.target.value)} /&gt;</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CoursesPage owns the state:</a:t>
            </a:r>
          </a:p>
          <a:p>
            <a:pPr algn="l">
              <a:spcAft>
                <a:spcPts val="200"/>
              </a:spcAft>
            </a:pPr>
            <a:r>
              <a:rPr sz="1095" b="0">
                <a:solidFill>
                  <a:srgbClr val="9CDCFE"/>
                </a:solidFill>
                <a:latin typeface="Arial"/>
              </a:rPr>
              <a:t>const [query, setQuery] = useState('')</a:t>
            </a:r>
          </a:p>
          <a:p>
            <a:pPr algn="l">
              <a:spcAft>
                <a:spcPts val="200"/>
              </a:spcAft>
            </a:pPr>
            <a:r>
              <a:rPr sz="1095" b="0">
                <a:solidFill>
                  <a:srgbClr val="9CDCFE"/>
                </a:solidFill>
                <a:latin typeface="Arial"/>
              </a:rPr>
              <a:t>&lt;SearchBar value={query} onChange={setQuery} /&gt;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Props are the mail a component receives; state is the note it keeps on its own desk — one comes from outside, one it writes itself.</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State: a component's memory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State is data a component owns and remembers across renders, unlike a variable reset every render.</a:t>
            </a:r>
          </a:p>
          <a:p>
            <a:pPr>
              <a:spcAft>
                <a:spcPts val="900"/>
              </a:spcAft>
            </a:pPr>
            <a:r>
              <a:rPr sz="1300" b="0">
                <a:solidFill>
                  <a:srgbClr val="161B26"/>
                </a:solidFill>
                <a:latin typeface="Arial"/>
              </a:rPr>
              <a:t>•  A plain let is recomputed and lost each render, so changing it can never update what is on screen.</a:t>
            </a:r>
          </a:p>
          <a:p>
            <a:pPr>
              <a:spcAft>
                <a:spcPts val="900"/>
              </a:spcAft>
            </a:pPr>
            <a:r>
              <a:rPr sz="1300" b="0">
                <a:solidFill>
                  <a:srgbClr val="161B26"/>
                </a:solidFill>
                <a:latin typeface="Arial"/>
              </a:rPr>
              <a:t>•  useState gives a remembered value plus a setter: const [query, setQuery] = useState('').</a:t>
            </a:r>
          </a:p>
          <a:p>
            <a:pPr>
              <a:spcAft>
                <a:spcPts val="900"/>
              </a:spcAft>
            </a:pPr>
            <a:r>
              <a:rPr sz="1300" b="0">
                <a:solidFill>
                  <a:srgbClr val="161B26"/>
                </a:solidFill>
                <a:latin typeface="Arial"/>
              </a:rPr>
              <a:t>•  Calling the setter does two things: it stores the new value and schedules a re-render to show it.</a:t>
            </a:r>
          </a:p>
          <a:p>
            <a:pPr>
              <a:spcAft>
                <a:spcPts val="900"/>
              </a:spcAft>
            </a:pPr>
            <a:r>
              <a:rPr sz="1300" b="0">
                <a:solidFill>
                  <a:srgbClr val="161B26"/>
                </a:solidFill>
                <a:latin typeface="Arial"/>
              </a:rPr>
              <a:t>•  That re-render is the point — the UI redraws from the new state, so screen and data stay in step.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State is remembered data; its setter stores the value and re-renders.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let q = ''       // reset every render — useless</a:t>
            </a:r>
          </a:p>
          <a:p>
            <a:pPr algn="l">
              <a:spcAft>
                <a:spcPts val="200"/>
              </a:spcAft>
            </a:pPr>
            <a:r>
              <a:rPr sz="1150" b="0">
                <a:solidFill>
                  <a:srgbClr val="9CDCFE"/>
                </a:solidFill>
                <a:latin typeface="Arial"/>
              </a:rPr>
              <a:t>q = 'sushi'      // nothing on screen changes</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const [q, setQ] = useState('')</a:t>
            </a:r>
          </a:p>
          <a:p>
            <a:pPr algn="l">
              <a:spcAft>
                <a:spcPts val="200"/>
              </a:spcAft>
            </a:pPr>
            <a:r>
              <a:rPr sz="1150" b="0">
                <a:solidFill>
                  <a:srgbClr val="9CDCFE"/>
                </a:solidFill>
                <a:latin typeface="Arial"/>
              </a:rPr>
              <a:t>setQ('sushi')    // stored, AND schedules a re-render</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State is a component's memory — a notepad it keeps between renders, not scratch paper binned each time.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COMPOSITION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Composition and the children prop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Composition means building complex UI by nesting simple components inside one another.</a:t>
            </a:r>
          </a:p>
          <a:p>
            <a:pPr>
              <a:spcAft>
                <a:spcPts val="900"/>
              </a:spcAft>
            </a:pPr>
            <a:r>
              <a:rPr sz="1300" b="0">
                <a:solidFill>
                  <a:srgbClr val="161B26"/>
                </a:solidFill>
                <a:latin typeface="Arial"/>
              </a:rPr>
              <a:t>•  The special children prop holds whatever JSX sits between a component's opening and closing tags.</a:t>
            </a:r>
          </a:p>
          <a:p>
            <a:pPr>
              <a:spcAft>
                <a:spcPts val="900"/>
              </a:spcAft>
            </a:pPr>
            <a:r>
              <a:rPr sz="1300" b="0">
                <a:solidFill>
                  <a:srgbClr val="161B26"/>
                </a:solidFill>
                <a:latin typeface="Arial"/>
              </a:rPr>
              <a:t>•  This lets Section, a Card or a Layout wrap arbitrary content without knowing what that content is.</a:t>
            </a:r>
          </a:p>
          <a:p>
            <a:pPr>
              <a:spcAft>
                <a:spcPts val="900"/>
              </a:spcAft>
            </a:pPr>
            <a:r>
              <a:rPr sz="1300" b="0">
                <a:solidFill>
                  <a:srgbClr val="161B26"/>
                </a:solidFill>
                <a:latin typeface="Arial"/>
              </a:rPr>
              <a:t>•  Favour composition over configuration — do not pile endless boolean props onto one component.</a:t>
            </a:r>
          </a:p>
          <a:p>
            <a:pPr>
              <a:spcAft>
                <a:spcPts val="900"/>
              </a:spcAft>
            </a:pPr>
            <a:r>
              <a:rPr sz="1300" b="0">
                <a:solidFill>
                  <a:srgbClr val="161B26"/>
                </a:solidFill>
                <a:latin typeface="Arial"/>
              </a:rPr>
              <a:t>•  The real Section takes id, title, eyebrow, alt and children — and renders anything you nest in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children lets a component wrap any content instead of endless props.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src/components/Section.jsx (real code)</a:t>
            </a:r>
          </a:p>
          <a:p>
            <a:pPr algn="l">
              <a:spcAft>
                <a:spcPts val="200"/>
              </a:spcAft>
            </a:pPr>
            <a:r>
              <a:rPr sz="900" b="0">
                <a:solidFill>
                  <a:srgbClr val="9CDCFE"/>
                </a:solidFill>
                <a:latin typeface="Arial"/>
              </a:rPr>
              <a:t>export default function Section({ title, children }) {</a:t>
            </a:r>
          </a:p>
          <a:p>
            <a:pPr algn="l">
              <a:spcAft>
                <a:spcPts val="200"/>
              </a:spcAft>
            </a:pPr>
            <a:r>
              <a:rPr sz="900" b="0">
                <a:solidFill>
                  <a:srgbClr val="9CDCFE"/>
                </a:solidFill>
                <a:latin typeface="Arial"/>
              </a:rPr>
              <a:t>  return (</a:t>
            </a:r>
          </a:p>
          <a:p>
            <a:pPr algn="l">
              <a:spcAft>
                <a:spcPts val="200"/>
              </a:spcAft>
            </a:pPr>
            <a:r>
              <a:rPr sz="900" b="0">
                <a:solidFill>
                  <a:srgbClr val="9CDCFE"/>
                </a:solidFill>
                <a:latin typeface="Arial"/>
              </a:rPr>
              <a:t>    &lt;section className="section"&gt;</a:t>
            </a:r>
          </a:p>
          <a:p>
            <a:pPr algn="l">
              <a:spcAft>
                <a:spcPts val="200"/>
              </a:spcAft>
            </a:pPr>
            <a:r>
              <a:rPr sz="900" b="0">
                <a:solidFill>
                  <a:srgbClr val="9CDCFE"/>
                </a:solidFill>
                <a:latin typeface="Arial"/>
              </a:rPr>
              <a:t>      {title &amp;&amp; &lt;h2&gt;{title}&lt;/h2&gt;}</a:t>
            </a:r>
          </a:p>
          <a:p>
            <a:pPr algn="l">
              <a:spcAft>
                <a:spcPts val="200"/>
              </a:spcAft>
            </a:pPr>
            <a:r>
              <a:rPr sz="900" b="0">
                <a:solidFill>
                  <a:srgbClr val="9CDCFE"/>
                </a:solidFill>
                <a:latin typeface="Arial"/>
              </a:rPr>
              <a:t>      {children}</a:t>
            </a:r>
          </a:p>
          <a:p>
            <a:pPr algn="l">
              <a:spcAft>
                <a:spcPts val="200"/>
              </a:spcAft>
            </a:pPr>
            <a:r>
              <a:rPr sz="900" b="0">
                <a:solidFill>
                  <a:srgbClr val="9CDCFE"/>
                </a:solidFill>
                <a:latin typeface="Arial"/>
              </a:rPr>
              <a:t>    &lt;/section&gt;</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&lt;Section title="Popular courses"&gt;&lt;CourseGrid /&gt;&lt;/Section&gt;</a:t>
            </a:r>
          </a:p>
          <a:p>
            <a:pPr algn="l">
              <a:spcAft>
                <a:spcPts val="200"/>
              </a:spcAft>
            </a:pPr>
            <a:r>
              <a:rPr sz="90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children prop is a picture frame — it does not care what photo you slide in, it just wraps whatever you hand 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LISTS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Rendering lists with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You render a list by calling map() to turn an array of data into an array of JSX elements.</a:t>
            </a:r>
          </a:p>
          <a:p>
            <a:pPr>
              <a:spcAft>
                <a:spcPts val="900"/>
              </a:spcAft>
            </a:pPr>
            <a:r>
              <a:rPr sz="1300" b="0">
                <a:solidFill>
                  <a:srgbClr val="161B26"/>
                </a:solidFill>
                <a:latin typeface="Arial"/>
              </a:rPr>
              <a:t>•  React accepts an array of elements directly inside JSX and renders them in order.</a:t>
            </a:r>
          </a:p>
          <a:p>
            <a:pPr>
              <a:spcAft>
                <a:spcPts val="900"/>
              </a:spcAft>
            </a:pPr>
            <a:r>
              <a:rPr sz="1300" b="0">
                <a:solidFill>
                  <a:srgbClr val="161B26"/>
                </a:solidFill>
                <a:latin typeface="Arial"/>
              </a:rPr>
              <a:t>•  This is what kills the hand-typed cards from Topic 1: 20 courses, one CourseGrid, one map().</a:t>
            </a:r>
          </a:p>
          <a:p>
            <a:pPr>
              <a:spcAft>
                <a:spcPts val="900"/>
              </a:spcAft>
            </a:pPr>
            <a:r>
              <a:rPr sz="1300" b="0">
                <a:solidFill>
                  <a:srgbClr val="161B26"/>
                </a:solidFill>
                <a:latin typeface="Arial"/>
              </a:rPr>
              <a:t>•  Adding a course is now a data edit, not a markup edit — and the grid updates itself.</a:t>
            </a:r>
          </a:p>
          <a:p>
            <a:pPr>
              <a:spcAft>
                <a:spcPts val="900"/>
              </a:spcAft>
            </a:pPr>
            <a:r>
              <a:rPr sz="1300" b="0">
                <a:solidFill>
                  <a:srgbClr val="161B26"/>
                </a:solidFill>
                <a:latin typeface="Arial"/>
              </a:rPr>
              <a:t>•  Every element in the returned list needs a key, which the next slide explains.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map() turns a data array into an array of elements React renders.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src/components/CourseGrid.jsx (real code)</a:t>
            </a:r>
          </a:p>
          <a:p>
            <a:pPr algn="l">
              <a:spcAft>
                <a:spcPts val="200"/>
              </a:spcAft>
            </a:pPr>
            <a:r>
              <a:rPr sz="1150" b="0">
                <a:solidFill>
                  <a:srgbClr val="9CDCFE"/>
                </a:solidFill>
                <a:latin typeface="Arial"/>
              </a:rPr>
              <a:t>&lt;div className="grid"&gt;</a:t>
            </a:r>
          </a:p>
          <a:p>
            <a:pPr algn="l">
              <a:spcAft>
                <a:spcPts val="200"/>
              </a:spcAft>
            </a:pPr>
            <a:r>
              <a:rPr sz="1150" b="0">
                <a:solidFill>
                  <a:srgbClr val="9CDCFE"/>
                </a:solidFill>
                <a:latin typeface="Arial"/>
              </a:rPr>
              <a:t>  {courses.map((course) =&gt; (</a:t>
            </a:r>
          </a:p>
          <a:p>
            <a:pPr algn="l">
              <a:spcAft>
                <a:spcPts val="200"/>
              </a:spcAft>
            </a:pPr>
            <a:r>
              <a:rPr sz="1150" b="0">
                <a:solidFill>
                  <a:srgbClr val="9CDCFE"/>
                </a:solidFill>
                <a:latin typeface="Arial"/>
              </a:rPr>
              <a:t>    &lt;CourseCard key={course.id} course={course} /&gt;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&lt;/div&gt;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map is a name-tag printer: feed it a list of students and it hands back one printed tag per person, in order.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KEYS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is identity, not decoration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key is a stable id React uses to track which item is which across renders.</a:t>
            </a:r>
          </a:p>
          <a:p>
            <a:pPr>
              <a:spcAft>
                <a:spcPts val="900"/>
              </a:spcAft>
            </a:pPr>
            <a:r>
              <a:rPr sz="1300" b="0">
                <a:solidFill>
                  <a:srgbClr val="161B26"/>
                </a:solidFill>
                <a:latin typeface="Arial"/>
              </a:rPr>
              <a:t>•  It lets React move, keep or remove the right cards instead of rebuilding the whole grid.</a:t>
            </a:r>
          </a:p>
          <a:p>
            <a:pPr>
              <a:spcAft>
                <a:spcPts val="900"/>
              </a:spcAft>
            </a:pPr>
            <a:r>
              <a:rPr sz="1300" b="0">
                <a:solidFill>
                  <a:srgbClr val="161B26"/>
                </a:solidFill>
                <a:latin typeface="Arial"/>
              </a:rPr>
              <a:t>•  Use a stable id from your data (course.id), never the array index, as the key.</a:t>
            </a:r>
          </a:p>
          <a:p>
            <a:pPr>
              <a:spcAft>
                <a:spcPts val="900"/>
              </a:spcAft>
            </a:pPr>
            <a:r>
              <a:rPr sz="1300" b="0">
                <a:solidFill>
                  <a:srgbClr val="161B26"/>
                </a:solidFill>
                <a:latin typeface="Arial"/>
              </a:rPr>
              <a:t>•  key={index} looks fine until you filter, reorder or delete — then state attaches to the wrong card.</a:t>
            </a:r>
          </a:p>
          <a:p>
            <a:pPr>
              <a:spcAft>
                <a:spcPts val="900"/>
              </a:spcAft>
            </a:pPr>
            <a:r>
              <a:rPr sz="1300" b="0">
                <a:solidFill>
                  <a:srgbClr val="161B26"/>
                </a:solidFill>
                <a:latin typeface="Arial"/>
              </a:rPr>
              <a:t>•  This is one of the single most common bugs in AI-generated list code, so always check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Key each card by a stable id; key={index} corrupts state on change.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{courses.map((course) =&gt; (</a:t>
            </a:r>
          </a:p>
          <a:p>
            <a:pPr algn="l">
              <a:spcAft>
                <a:spcPts val="200"/>
              </a:spcAft>
            </a:pPr>
            <a:r>
              <a:rPr sz="1150" b="0">
                <a:solidFill>
                  <a:srgbClr val="9CDCFE"/>
                </a:solidFill>
                <a:latin typeface="Arial"/>
              </a:rPr>
              <a:t>  &lt;CourseCard key={course.id} course={course} /&gt;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key={index} corrupts state when you filter to Bakery:</a:t>
            </a:r>
          </a:p>
          <a:p>
            <a:pPr algn="l">
              <a:spcAft>
                <a:spcPts val="200"/>
              </a:spcAft>
            </a:pPr>
            <a:r>
              <a:rPr sz="1150" b="0">
                <a:solidFill>
                  <a:srgbClr val="9CDCFE"/>
                </a:solidFill>
                <a:latin typeface="Arial"/>
              </a:rPr>
              <a:t>// the card at index 0 is now a different course, but</a:t>
            </a:r>
          </a:p>
          <a:p>
            <a:pPr algn="l">
              <a:spcAft>
                <a:spcPts val="200"/>
              </a:spcAft>
            </a:pPr>
            <a:r>
              <a:rPr sz="1150" b="0">
                <a:solidFill>
                  <a:srgbClr val="9CDCFE"/>
                </a:solidFill>
                <a:latin typeface="Arial"/>
              </a:rPr>
              <a:t>// React thinks it is the same one and keeps its state.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key is a student's name tag, not their seat number — reshuffle the room and React still knows exactly who is who.</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CONDITIONALS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Conditional rendering and the 0 &amp;&amp; trap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 a ternary in JSX to choose between two elements based on a condition.</a:t>
            </a:r>
          </a:p>
          <a:p>
            <a:pPr>
              <a:spcAft>
                <a:spcPts val="900"/>
              </a:spcAft>
            </a:pPr>
            <a:r>
              <a:rPr sz="1300" b="0">
                <a:solidFill>
                  <a:srgbClr val="161B26"/>
                </a:solidFill>
                <a:latin typeface="Arial"/>
              </a:rPr>
              <a:t>•  Use &amp;&amp; to render an element only when a condition is true, and nothing otherwise.</a:t>
            </a:r>
          </a:p>
          <a:p>
            <a:pPr>
              <a:spcAft>
                <a:spcPts val="900"/>
              </a:spcAft>
            </a:pPr>
            <a:r>
              <a:rPr sz="1300" b="0">
                <a:solidFill>
                  <a:srgbClr val="161B26"/>
                </a:solidFill>
                <a:latin typeface="Arial"/>
              </a:rPr>
              <a:t>•  The footgun: {seats &amp;&amp; &lt;Badge/&gt;} renders a literal 0 on screen when seats is 0, because 0 is falsy.</a:t>
            </a:r>
          </a:p>
          <a:p>
            <a:pPr>
              <a:spcAft>
                <a:spcPts val="900"/>
              </a:spcAft>
            </a:pPr>
            <a:r>
              <a:rPr sz="1300" b="0">
                <a:solidFill>
                  <a:srgbClr val="161B26"/>
                </a:solidFill>
                <a:latin typeface="Arial"/>
              </a:rPr>
              <a:t>•  Fix it by making the left side a real boolean: {seats &gt; 0 &amp;&amp; &lt;Badge/&gt;}.</a:t>
            </a:r>
          </a:p>
          <a:p>
            <a:pPr>
              <a:spcAft>
                <a:spcPts val="900"/>
              </a:spcAft>
            </a:pPr>
            <a:r>
              <a:rPr sz="1300" b="0">
                <a:solidFill>
                  <a:srgbClr val="161B26"/>
                </a:solidFill>
                <a:latin typeface="Arial"/>
              </a:rPr>
              <a:t>•  This is subtle and the agent produces it often, so scan every &amp;&amp; for a number on its left.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Gate &amp;&amp; on a real boolean (seats &gt; 0), never a bare number.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From CourseCard: a ternary picks one of two.</a:t>
            </a:r>
          </a:p>
          <a:p>
            <a:pPr algn="l">
              <a:spcAft>
                <a:spcPts val="200"/>
              </a:spcAft>
            </a:pPr>
            <a:r>
              <a:rPr sz="1150" b="0">
                <a:solidFill>
                  <a:srgbClr val="9CDCFE"/>
                </a:solidFill>
                <a:latin typeface="Arial"/>
              </a:rPr>
              <a:t>&lt;span&gt;{isBakery ? '🧁 Bakery' : '🍳 Cooking'}&lt;/span&gt;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&amp;&amp; renders one thing or nothing:</a:t>
            </a:r>
          </a:p>
          <a:p>
            <a:pPr algn="l">
              <a:spcAft>
                <a:spcPts val="200"/>
              </a:spcAft>
            </a:pPr>
            <a:r>
              <a:rPr sz="1150" b="0">
                <a:solidFill>
                  <a:srgbClr val="9CDCFE"/>
                </a:solidFill>
                <a:latin typeface="Arial"/>
              </a:rPr>
              <a:t>{seats &gt; 0 &amp;&amp; &lt;span&gt;{seats} places left&lt;/span&gt;}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{seats &amp;&amp; ...} prints a literal 0 when seats is 0.</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0 &amp;&amp; is a trapdoor — zero is falsy but not nothing, so React renders a bare 0 unless you gate on seats &gt; 0.</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DERIVED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Derived state must not be stored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If a value can be computed from existing state during render, compute it. Do not store it.</a:t>
            </a:r>
          </a:p>
          <a:p>
            <a:pPr>
              <a:spcAft>
                <a:spcPts val="900"/>
              </a:spcAft>
            </a:pPr>
            <a:r>
              <a:rPr sz="1300" b="0">
                <a:solidFill>
                  <a:srgbClr val="161B26"/>
                </a:solidFill>
                <a:latin typeface="Arial"/>
              </a:rPr>
              <a:t>•  The filtered course list is derived from courses + category + query. It is not its own state.</a:t>
            </a:r>
          </a:p>
          <a:p>
            <a:pPr>
              <a:spcAft>
                <a:spcPts val="900"/>
              </a:spcAft>
            </a:pPr>
            <a:r>
              <a:rPr sz="1300" b="0">
                <a:solidFill>
                  <a:srgbClr val="161B26"/>
                </a:solidFill>
                <a:latin typeface="Arial"/>
              </a:rPr>
              <a:t>•  Mirroring it into useState creates two sources of truth, and they will drift apart.</a:t>
            </a:r>
          </a:p>
          <a:p>
            <a:pPr>
              <a:spcAft>
                <a:spcPts val="900"/>
              </a:spcAft>
            </a:pPr>
            <a:r>
              <a:rPr sz="1300" b="0">
                <a:solidFill>
                  <a:srgbClr val="161B26"/>
                </a:solidFill>
                <a:latin typeface="Arial"/>
              </a:rPr>
              <a:t>•  Computing on render is cheap and always correct; a stored copy needs syncing you will forget.</a:t>
            </a:r>
          </a:p>
          <a:p>
            <a:pPr>
              <a:spcAft>
                <a:spcPts val="900"/>
              </a:spcAft>
            </a:pPr>
            <a:r>
              <a:rPr sz="1300" b="0">
                <a:solidFill>
                  <a:srgbClr val="161B26"/>
                </a:solidFill>
                <a:latin typeface="Arial"/>
              </a:rPr>
              <a:t>•  The agent loves to add a useState for filtered lists and totals. Delete it and compute inline.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Compute derived values on render; never mirror them into useState.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src/pages/CoursesPage.jsx (real code) — DERIVED.</a:t>
            </a:r>
          </a:p>
          <a:p>
            <a:pPr algn="l">
              <a:spcAft>
                <a:spcPts val="200"/>
              </a:spcAft>
            </a:pPr>
            <a:r>
              <a:rPr sz="1150" b="0">
                <a:solidFill>
                  <a:srgbClr val="9CDCFE"/>
                </a:solidFill>
                <a:latin typeface="Arial"/>
              </a:rPr>
              <a:t>const visible = courses.filter((c) =&gt; {</a:t>
            </a:r>
          </a:p>
          <a:p>
            <a:pPr algn="l">
              <a:spcAft>
                <a:spcPts val="200"/>
              </a:spcAft>
            </a:pPr>
            <a:r>
              <a:rPr sz="1150" b="0">
                <a:solidFill>
                  <a:srgbClr val="9CDCFE"/>
                </a:solidFill>
                <a:latin typeface="Arial"/>
              </a:rPr>
              <a:t>  const matchesCat = category === 'All'</a:t>
            </a:r>
          </a:p>
          <a:p>
            <a:pPr algn="l">
              <a:spcAft>
                <a:spcPts val="200"/>
              </a:spcAft>
            </a:pPr>
            <a:r>
              <a:rPr sz="1150" b="0">
                <a:solidFill>
                  <a:srgbClr val="9CDCFE"/>
                </a:solidFill>
                <a:latin typeface="Arial"/>
              </a:rPr>
              <a:t>    || c.category === category</a:t>
            </a:r>
          </a:p>
          <a:p>
            <a:pPr algn="l">
              <a:spcAft>
                <a:spcPts val="200"/>
              </a:spcAft>
            </a:pPr>
            <a:r>
              <a:rPr sz="1150" b="0">
                <a:solidFill>
                  <a:srgbClr val="9CDCFE"/>
                </a:solidFill>
                <a:latin typeface="Arial"/>
              </a:rPr>
              <a:t>  const matchesQ = !needle</a:t>
            </a:r>
          </a:p>
          <a:p>
            <a:pPr algn="l">
              <a:spcAft>
                <a:spcPts val="200"/>
              </a:spcAft>
            </a:pPr>
            <a:r>
              <a:rPr sz="1150" b="0">
                <a:solidFill>
                  <a:srgbClr val="9CDCFE"/>
                </a:solidFill>
                <a:latin typeface="Arial"/>
              </a:rPr>
              <a:t>    || c.title.toLowerCase().includes(needle)</a:t>
            </a:r>
          </a:p>
          <a:p>
            <a:pPr algn="l">
              <a:spcAft>
                <a:spcPts val="200"/>
              </a:spcAft>
            </a:pPr>
            <a:r>
              <a:rPr sz="1150" b="0">
                <a:solidFill>
                  <a:srgbClr val="9CDCFE"/>
                </a:solidFill>
                <a:latin typeface="Arial"/>
              </a:rPr>
              <a:t>  return matchesCat &amp;&amp; matchesQ</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Storing a derived value is photocopying a number already on the page — keep the copy and it soon disagrees with the original.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EVENTS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Synthetic events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You attach handlers with camelCase props like onClick and onChange, passing a function.</a:t>
            </a:r>
          </a:p>
          <a:p>
            <a:pPr>
              <a:spcAft>
                <a:spcPts val="900"/>
              </a:spcAft>
            </a:pPr>
            <a:r>
              <a:rPr sz="1300" b="0">
                <a:solidFill>
                  <a:srgbClr val="161B26"/>
                </a:solidFill>
                <a:latin typeface="Arial"/>
              </a:rPr>
              <a:t>•  Pass the function, do not call it: onClick={handleEnroll}, not onClick={handleEnroll()}.</a:t>
            </a:r>
          </a:p>
          <a:p>
            <a:pPr>
              <a:spcAft>
                <a:spcPts val="900"/>
              </a:spcAft>
            </a:pPr>
            <a:r>
              <a:rPr sz="1300" b="0">
                <a:solidFill>
                  <a:srgbClr val="161B26"/>
                </a:solidFill>
                <a:latin typeface="Arial"/>
              </a:rPr>
              <a:t>•  To pass an argument, wrap it in an arrow: onClick={() =&gt; onChange(cat.value)}.</a:t>
            </a:r>
          </a:p>
          <a:p>
            <a:pPr>
              <a:spcAft>
                <a:spcPts val="900"/>
              </a:spcAft>
            </a:pPr>
            <a:r>
              <a:rPr sz="1300" b="0">
                <a:solidFill>
                  <a:srgbClr val="161B26"/>
                </a:solidFill>
                <a:latin typeface="Arial"/>
              </a:rPr>
              <a:t>•  React hands your handler a synthetic event, a cross-browser wrapper over the native event.</a:t>
            </a:r>
          </a:p>
          <a:p>
            <a:pPr>
              <a:spcAft>
                <a:spcPts val="900"/>
              </a:spcAft>
            </a:pPr>
            <a:r>
              <a:rPr sz="1300" b="0">
                <a:solidFill>
                  <a:srgbClr val="161B26"/>
                </a:solidFill>
                <a:latin typeface="Arial"/>
              </a:rPr>
              <a:t>•  Read the input's value from e.target.value; call e.preventDefault() to stop a form reloading.</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Pass a function to onClick; wrap in an arrow to pass an argument.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src/components/CategoryFilter.jsx (real code)</a:t>
            </a:r>
          </a:p>
          <a:p>
            <a:pPr algn="l">
              <a:spcAft>
                <a:spcPts val="200"/>
              </a:spcAft>
            </a:pPr>
            <a:r>
              <a:rPr sz="1150" b="0">
                <a:solidFill>
                  <a:srgbClr val="9CDCFE"/>
                </a:solidFill>
                <a:latin typeface="Arial"/>
              </a:rPr>
              <a:t>{categories.map((cat) =&gt; (</a:t>
            </a:r>
          </a:p>
          <a:p>
            <a:pPr algn="l">
              <a:spcAft>
                <a:spcPts val="200"/>
              </a:spcAft>
            </a:pPr>
            <a:r>
              <a:rPr sz="1150" b="0">
                <a:solidFill>
                  <a:srgbClr val="9CDCFE"/>
                </a:solidFill>
                <a:latin typeface="Arial"/>
              </a:rPr>
              <a:t>  &lt;button key={cat.value}</a:t>
            </a:r>
          </a:p>
          <a:p>
            <a:pPr algn="l">
              <a:spcAft>
                <a:spcPts val="200"/>
              </a:spcAft>
            </a:pPr>
            <a:r>
              <a:rPr sz="1150" b="0">
                <a:solidFill>
                  <a:srgbClr val="9CDCFE"/>
                </a:solidFill>
                <a:latin typeface="Arial"/>
              </a:rPr>
              <a:t>    onClick={() =&gt; onChange(cat.value)}&gt;</a:t>
            </a:r>
          </a:p>
          <a:p>
            <a:pPr algn="l">
              <a:spcAft>
                <a:spcPts val="200"/>
              </a:spcAft>
            </a:pPr>
            <a:r>
              <a:rPr sz="1150" b="0">
                <a:solidFill>
                  <a:srgbClr val="9CDCFE"/>
                </a:solidFill>
                <a:latin typeface="Arial"/>
              </a:rPr>
              <a:t>    {cat.label}</a:t>
            </a:r>
          </a:p>
          <a:p>
            <a:pPr algn="l">
              <a:spcAft>
                <a:spcPts val="200"/>
              </a:spcAft>
            </a:pPr>
            <a:r>
              <a:rPr sz="1150" b="0">
                <a:solidFill>
                  <a:srgbClr val="9CDCFE"/>
                </a:solidFill>
                <a:latin typeface="Arial"/>
              </a:rPr>
              <a:t>  &lt;/button&gt;</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onClick={onChange(cat.value)} would CALL it on render.</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synthetic event is a universal remote — React wraps every browser's quirks in one consistent set of buttons.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Controlled inputs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In a controlled input, React state is the single source of truth for the field's value.</a:t>
            </a:r>
          </a:p>
          <a:p>
            <a:pPr>
              <a:spcAft>
                <a:spcPts val="900"/>
              </a:spcAft>
            </a:pPr>
            <a:r>
              <a:rPr sz="1300" b="0">
                <a:solidFill>
                  <a:srgbClr val="161B26"/>
                </a:solidFill>
                <a:latin typeface="Arial"/>
              </a:rPr>
              <a:t>•  You bind value={state} and update it in onChange, so state and the input never disagree.</a:t>
            </a:r>
          </a:p>
          <a:p>
            <a:pPr>
              <a:spcAft>
                <a:spcPts val="900"/>
              </a:spcAft>
            </a:pPr>
            <a:r>
              <a:rPr sz="1300" b="0">
                <a:solidFill>
                  <a:srgbClr val="161B26"/>
                </a:solidFill>
                <a:latin typeface="Arial"/>
              </a:rPr>
              <a:t>•  This unlocks live search, validation, formatting and disabling a submit button as the user types.</a:t>
            </a:r>
          </a:p>
          <a:p>
            <a:pPr>
              <a:spcAft>
                <a:spcPts val="900"/>
              </a:spcAft>
            </a:pPr>
            <a:r>
              <a:rPr sz="1300" b="0">
                <a:solidFill>
                  <a:srgbClr val="161B26"/>
                </a:solidFill>
                <a:latin typeface="Arial"/>
              </a:rPr>
              <a:t>•  A value with no onChange makes the field read-only — React warns you in the console.</a:t>
            </a:r>
          </a:p>
          <a:p>
            <a:pPr>
              <a:spcAft>
                <a:spcPts val="900"/>
              </a:spcAft>
            </a:pPr>
            <a:r>
              <a:rPr sz="1300" b="0">
                <a:solidFill>
                  <a:srgbClr val="161B26"/>
                </a:solidFill>
                <a:latin typeface="Arial"/>
              </a:rPr>
              <a:t>•  SearchBar is controlled and owns nothing: the value comes down, every keystroke goes back up.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Bind value to state and update it in onChange — React owns the field.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src/components/SearchBar.jsx (real code)</a:t>
            </a:r>
          </a:p>
          <a:p>
            <a:pPr algn="l">
              <a:spcAft>
                <a:spcPts val="200"/>
              </a:spcAft>
            </a:pPr>
            <a:r>
              <a:rPr sz="1150" b="0">
                <a:solidFill>
                  <a:srgbClr val="9CDCFE"/>
                </a:solidFill>
                <a:latin typeface="Arial"/>
              </a:rPr>
              <a:t>&lt;input</a:t>
            </a:r>
          </a:p>
          <a:p>
            <a:pPr algn="l">
              <a:spcAft>
                <a:spcPts val="200"/>
              </a:spcAft>
            </a:pPr>
            <a:r>
              <a:rPr sz="1150" b="0">
                <a:solidFill>
                  <a:srgbClr val="9CDCFE"/>
                </a:solidFill>
                <a:latin typeface="Arial"/>
              </a:rPr>
              <a:t>  type="search"</a:t>
            </a:r>
          </a:p>
          <a:p>
            <a:pPr algn="l">
              <a:spcAft>
                <a:spcPts val="200"/>
              </a:spcAft>
            </a:pPr>
            <a:r>
              <a:rPr sz="1150" b="0">
                <a:solidFill>
                  <a:srgbClr val="9CDCFE"/>
                </a:solidFill>
                <a:latin typeface="Arial"/>
              </a:rPr>
              <a:t>  placeholder="Search sourdough, sushi, macaron…"</a:t>
            </a:r>
          </a:p>
          <a:p>
            <a:pPr algn="l">
              <a:spcAft>
                <a:spcPts val="200"/>
              </a:spcAft>
            </a:pPr>
            <a:r>
              <a:rPr sz="1150" b="0">
                <a:solidFill>
                  <a:srgbClr val="9CDCFE"/>
                </a:solidFill>
                <a:latin typeface="Arial"/>
              </a:rPr>
              <a:t>  value={value}</a:t>
            </a:r>
          </a:p>
          <a:p>
            <a:pPr algn="l">
              <a:spcAft>
                <a:spcPts val="200"/>
              </a:spcAft>
            </a:pPr>
            <a:r>
              <a:rPr sz="1150" b="0">
                <a:solidFill>
                  <a:srgbClr val="9CDCFE"/>
                </a:solidFill>
                <a:latin typeface="Arial"/>
              </a:rPr>
              <a:t>  onChange={(e) =&gt; onChange(e.target.value)}</a:t>
            </a:r>
          </a:p>
          <a:p>
            <a:pPr algn="l">
              <a:spcAft>
                <a:spcPts val="200"/>
              </a:spcAft>
            </a:pPr>
            <a:r>
              <a:rPr sz="1150" b="0">
                <a:solidFill>
                  <a:srgbClr val="9CDCFE"/>
                </a:solidFill>
                <a:latin typeface="Arial"/>
              </a:rPr>
              <a:t>/&gt;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controlled input is a puppet on React's strings — state moves the field, and every keystroke reports back to pull the string.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COMPOSITION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 app is a tree of nested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A React app is a tree: App contains Timer, which contains TimerDisplay and TimerControls.</a:t>
            </a:r>
          </a:p>
          <a:p>
            <a:pPr>
              <a:spcAft>
                <a:spcPts val="1000"/>
              </a:spcAft>
            </a:pPr>
            <a:r>
              <a:rPr sz="1300" b="0">
                <a:solidFill>
                  <a:srgbClr val="161B26"/>
                </a:solidFill>
                <a:latin typeface="Arial"/>
              </a:rPr>
              <a:t>•  Each box is one component with one job, composed together to build the whole interface.</a:t>
            </a:r>
          </a:p>
          <a:p>
            <a:pPr>
              <a:spcAft>
                <a:spcPts val="1000"/>
              </a:spcAft>
            </a:pPr>
            <a:r>
              <a:rPr sz="1300" b="0">
                <a:solidFill>
                  <a:srgbClr val="161B26"/>
                </a:solidFill>
                <a:latin typeface="Arial"/>
              </a:rPr>
              <a:t>•  Data flows down this tree as props; a parent passes values to the children it renders.</a:t>
            </a:r>
          </a:p>
          <a:p>
            <a:pPr>
              <a:spcAft>
                <a:spcPts val="1000"/>
              </a:spcAft>
            </a:pPr>
            <a:r>
              <a:rPr sz="1300" b="0">
                <a:solidFill>
                  <a:srgbClr val="161B26"/>
                </a:solidFill>
                <a:latin typeface="Arial"/>
              </a:rPr>
              <a:t>•  Breaking UI into small nested components is what makes it readable, reusable and testable.</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imer-components.png"/>
          <p:cNvPicPr>
            <a:picLocks noChangeAspect="1"/>
          </p:cNvPicPr>
          <p:nvPr/>
        </p:nvPicPr>
        <p:blipFill>
          <a:blip r:embed="rId2"/>
          <a:stretch>
            <a:fillRect/>
          </a:stretch>
        </p:blipFill>
        <p:spPr>
          <a:xfrm>
            <a:off x="7244180" y="1892808"/>
            <a:ext cx="2729792" cy="3575304"/>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Composition in practice: a parent component nests smaller, single-purpose children.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3.1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Real DOM, the Virtual DOM and Babel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Before improving the app, the learner finds out what React is doing on their behalf. They build the Cook &amp; Bake course grid TWICE: once by hand with document.getElementById and innerHTML (the real DOM), and once in React. They then see, with their own eyes, that the browser never receives a single line of JSX — Babel has already compiled it into React.createElement calls that return plain JavaScript objects, and it is those objects that React diffs.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hand-built vanilla DOM grid at /vanilla.html, sitting next to the React grid — and the compiled output of your own JSX</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document.getElementById, innerHTML, the Virtual DOM, reconciliation, Babel, @vitejs/plugin-react, babeljs.io/repl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Without React: you patch the DOM by hand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(vanilla JS, for contrast)</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function filterBakery() {</a:t>
            </a:r>
          </a:p>
          <a:p>
            <a:pPr algn="l">
              <a:spcAft>
                <a:spcPts val="200"/>
              </a:spcAft>
            </a:pPr>
            <a:r>
              <a:rPr sz="1250" b="0">
                <a:solidFill>
                  <a:srgbClr val="9CDCFE"/>
                </a:solidFill>
                <a:latin typeface="Arial"/>
              </a:rPr>
              <a:t>  // Find every card and toggle it, one by one.</a:t>
            </a:r>
          </a:p>
          <a:p>
            <a:pPr algn="l">
              <a:spcAft>
                <a:spcPts val="200"/>
              </a:spcAft>
            </a:pPr>
            <a:r>
              <a:rPr sz="1250" b="0">
                <a:solidFill>
                  <a:srgbClr val="9CDCFE"/>
                </a:solidFill>
                <a:latin typeface="Arial"/>
              </a:rPr>
              <a:t>  document.querySelectorAll('.card').forEach((card) =&gt; {</a:t>
            </a:r>
          </a:p>
          <a:p>
            <a:pPr algn="l">
              <a:spcAft>
                <a:spcPts val="200"/>
              </a:spcAft>
            </a:pPr>
            <a:r>
              <a:rPr sz="1250" b="0">
                <a:solidFill>
                  <a:srgbClr val="9CDCFE"/>
                </a:solidFill>
                <a:latin typeface="Arial"/>
              </a:rPr>
              <a:t>    const show = card.dataset.category === 'Bakery'</a:t>
            </a:r>
          </a:p>
          <a:p>
            <a:pPr algn="l">
              <a:spcAft>
                <a:spcPts val="200"/>
              </a:spcAft>
            </a:pPr>
            <a:r>
              <a:rPr sz="1250" b="0">
                <a:solidFill>
                  <a:srgbClr val="9CDCFE"/>
                </a:solidFill>
                <a:latin typeface="Arial"/>
              </a:rPr>
              <a:t>    card.style.display = show ? 'block' : 'none'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 ...and now keep the count in step, by hand:</a:t>
            </a:r>
          </a:p>
          <a:p>
            <a:pPr algn="l">
              <a:spcAft>
                <a:spcPts val="200"/>
              </a:spcAft>
            </a:pPr>
            <a:r>
              <a:rPr sz="1250" b="0">
                <a:solidFill>
                  <a:srgbClr val="9CDCFE"/>
                </a:solidFill>
                <a:latin typeface="Arial"/>
              </a:rPr>
              <a:t>  const el = document.getElementById('count')</a:t>
            </a:r>
          </a:p>
          <a:p>
            <a:pPr algn="l">
              <a:spcAft>
                <a:spcPts val="200"/>
              </a:spcAft>
            </a:pPr>
            <a:r>
              <a:rPr sz="1250" b="0">
                <a:solidFill>
                  <a:srgbClr val="9CDCFE"/>
                </a:solidFill>
                <a:latin typeface="Arial"/>
              </a:rPr>
              <a:t>  el.textContent = '10 courses'</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vanilla-JS way: find nodes and mutate them — you own every step of HOW.</a:t>
            </a:r>
          </a:p>
          <a:p>
            <a:pPr>
              <a:spcAft>
                <a:spcPts val="1000"/>
              </a:spcAft>
            </a:pPr>
            <a:r>
              <a:rPr sz="1250" b="0">
                <a:solidFill>
                  <a:srgbClr val="161B26"/>
                </a:solidFill>
                <a:latin typeface="Arial"/>
              </a:rPr>
              <a:t>•  The truth now lives in a DOM string; reading '10' back out to add to it is your problem.</a:t>
            </a:r>
          </a:p>
          <a:p>
            <a:pPr>
              <a:spcAft>
                <a:spcPts val="1000"/>
              </a:spcAft>
            </a:pPr>
            <a:r>
              <a:rPr sz="1250" b="0">
                <a:solidFill>
                  <a:srgbClr val="161B26"/>
                </a:solidFill>
                <a:latin typeface="Arial"/>
              </a:rPr>
              <a:t>•  Every extra feature is another patch you must remember to keep in sync.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With React: you describe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src/pages/CoursesPage.jsx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const [category, setCategory] = useState('All')</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visible = courses.filter(</a:t>
            </a:r>
          </a:p>
          <a:p>
            <a:pPr algn="l">
              <a:spcAft>
                <a:spcPts val="200"/>
              </a:spcAft>
            </a:pPr>
            <a:r>
              <a:rPr sz="1250" b="0">
                <a:solidFill>
                  <a:srgbClr val="9CDCFE"/>
                </a:solidFill>
                <a:latin typeface="Arial"/>
              </a:rPr>
              <a:t>  (c) =&gt; category === 'All' || c.category === category</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return (</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&lt;p&gt;{visible.length} courses&lt;/p&gt;</a:t>
            </a:r>
          </a:p>
          <a:p>
            <a:pPr algn="l">
              <a:spcAft>
                <a:spcPts val="200"/>
              </a:spcAft>
            </a:pPr>
            <a:r>
              <a:rPr sz="1250" b="0">
                <a:solidFill>
                  <a:srgbClr val="9CDCFE"/>
                </a:solidFill>
                <a:latin typeface="Arial"/>
              </a:rPr>
              <a:t>    &lt;CourseGrid courses={visible} /&gt;</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State holds the filter; you only declare WHAT the UI is for the current value.</a:t>
            </a:r>
          </a:p>
          <a:p>
            <a:pPr>
              <a:spcAft>
                <a:spcPts val="1000"/>
              </a:spcAft>
            </a:pPr>
            <a:r>
              <a:rPr sz="1250" b="0">
                <a:solidFill>
                  <a:srgbClr val="161B26"/>
                </a:solidFill>
                <a:latin typeface="Arial"/>
              </a:rPr>
              <a:t>•  setCategory re-renders — React builds a new virtual tree, diffs it, and patches only what changed.</a:t>
            </a:r>
          </a:p>
          <a:p>
            <a:pPr>
              <a:spcAft>
                <a:spcPts val="1000"/>
              </a:spcAft>
            </a:pPr>
            <a:r>
              <a:rPr sz="1250" b="0">
                <a:solidFill>
                  <a:srgbClr val="161B26"/>
                </a:solidFill>
                <a:latin typeface="Arial"/>
              </a:rPr>
              <a:t>•  No getElementById, no textContent, no style: the count and the grid can never drift apart.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Real DOM, the Virtual DOM and Babel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Both grids show the same six courses, but you can demonstrate that the vanilla one rebuilds every card on each keystroke while React repaints only what changed; you can show the Babel output of your own JSX as a React.createElement call; and you can state what the Virtual DOM object tree is and where the ONE real-DOM write in a React app lives (main.jsx).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3.2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Components, Props and Composition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This lab pays off smell 1 from Lab 1.3. The learner moves the Cook &amp; Bake catalogue into src/data/courses.js, splits App.jsx into real component files, builds a Section layout component that wraps arbitrary content with the children prop, and refactors CourseCard to take ONE course object — the same shape the Neon Postgres row will have in Topic 5, so the card will never need changing again.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Navbar, Hero, Section, CourseGrid, CourseCard and Footer as separate files, composed by App.jsx and driven by src/data/courses.js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Components, props, the children prop, composition, src/data/courses.js, src/components/*.jsx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CourseCard takes one course object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src/components/CourseCard.jsx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One prop, one object — the shape of a DB row.</a:t>
            </a:r>
          </a:p>
          <a:p>
            <a:pPr algn="l">
              <a:spcAft>
                <a:spcPts val="200"/>
              </a:spcAft>
            </a:pPr>
            <a:r>
              <a:rPr sz="1250" b="0">
                <a:solidFill>
                  <a:srgbClr val="9CDCFE"/>
                </a:solidFill>
                <a:latin typeface="Arial"/>
              </a:rPr>
              <a:t>export default function CourseCard({ course }) {</a:t>
            </a:r>
          </a:p>
          <a:p>
            <a:pPr algn="l">
              <a:spcAft>
                <a:spcPts val="200"/>
              </a:spcAft>
            </a:pPr>
            <a:r>
              <a:rPr sz="1250" b="0">
                <a:solidFill>
                  <a:srgbClr val="9CDCFE"/>
                </a:solidFill>
                <a:latin typeface="Arial"/>
              </a:rPr>
              <a:t>  const { slug, title, category, level, fee } = course</a:t>
            </a:r>
          </a:p>
          <a:p>
            <a:pPr algn="l">
              <a:spcAft>
                <a:spcPts val="200"/>
              </a:spcAft>
            </a:pPr>
            <a:r>
              <a:rPr sz="1250" b="0">
                <a:solidFill>
                  <a:srgbClr val="9CDCFE"/>
                </a:solidFill>
                <a:latin typeface="Arial"/>
              </a:rPr>
              <a:t>  const isBakery = category === 'Bakery'</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&lt;Link to={`/courses/${slug}`} className="card"&gt;</a:t>
            </a:r>
          </a:p>
          <a:p>
            <a:pPr algn="l">
              <a:spcAft>
                <a:spcPts val="200"/>
              </a:spcAft>
            </a:pPr>
            <a:r>
              <a:rPr sz="1250" b="0">
                <a:solidFill>
                  <a:srgbClr val="9CDCFE"/>
                </a:solidFill>
                <a:latin typeface="Arial"/>
              </a:rPr>
              <a:t>      &lt;span className="card__tag"&gt;</a:t>
            </a:r>
          </a:p>
          <a:p>
            <a:pPr algn="l">
              <a:spcAft>
                <a:spcPts val="200"/>
              </a:spcAft>
            </a:pPr>
            <a:r>
              <a:rPr sz="1250" b="0">
                <a:solidFill>
                  <a:srgbClr val="9CDCFE"/>
                </a:solidFill>
                <a:latin typeface="Arial"/>
              </a:rPr>
              <a:t>        {isBakery ? '🧁 Bakery' : '🍳 Cooking'}</a:t>
            </a:r>
          </a:p>
          <a:p>
            <a:pPr algn="l">
              <a:spcAft>
                <a:spcPts val="200"/>
              </a:spcAft>
            </a:pPr>
            <a:r>
              <a:rPr sz="1250" b="0">
                <a:solidFill>
                  <a:srgbClr val="9CDCFE"/>
                </a:solidFill>
                <a:latin typeface="Arial"/>
              </a:rPr>
              <a:t>      &lt;/span&gt;</a:t>
            </a:r>
          </a:p>
          <a:p>
            <a:pPr algn="l">
              <a:spcAft>
                <a:spcPts val="200"/>
              </a:spcAft>
            </a:pPr>
            <a:r>
              <a:rPr sz="1250" b="0">
                <a:solidFill>
                  <a:srgbClr val="9CDCFE"/>
                </a:solidFill>
                <a:latin typeface="Arial"/>
              </a:rPr>
              <a:t>      &lt;h3&gt;{title}&lt;/h3&gt;</a:t>
            </a:r>
          </a:p>
          <a:p>
            <a:pPr algn="l">
              <a:spcAft>
                <a:spcPts val="200"/>
              </a:spcAft>
            </a:pPr>
            <a:r>
              <a:rPr sz="1250" b="0">
                <a:solidFill>
                  <a:srgbClr val="9CDCFE"/>
                </a:solidFill>
                <a:latin typeface="Arial"/>
              </a:rPr>
              <a:t>      &lt;span className="card__price"&gt;S${fee}&lt;/span&gt;</a:t>
            </a:r>
          </a:p>
          <a:p>
            <a:pPr algn="l">
              <a:spcAft>
                <a:spcPts val="200"/>
              </a:spcAft>
            </a:pPr>
            <a:r>
              <a:rPr sz="1250" b="0">
                <a:solidFill>
                  <a:srgbClr val="9CDCFE"/>
                </a:solidFill>
                <a:latin typeface="Arial"/>
              </a:rPr>
              <a:t>    &lt;/Link&gt;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One `course` prop replaces five — its shape matches the DB row you fetch in Topic 5.</a:t>
            </a:r>
          </a:p>
          <a:p>
            <a:pPr>
              <a:spcAft>
                <a:spcPts val="1000"/>
              </a:spcAft>
            </a:pPr>
            <a:r>
              <a:rPr sz="1250" b="0">
                <a:solidFill>
                  <a:srgbClr val="161B26"/>
                </a:solidFill>
                <a:latin typeface="Arial"/>
              </a:rPr>
              <a:t>•  Destructuring pulls the fields you need out of the object in a single line.</a:t>
            </a:r>
          </a:p>
          <a:p>
            <a:pPr>
              <a:spcAft>
                <a:spcPts val="1000"/>
              </a:spcAft>
            </a:pPr>
            <a:r>
              <a:rPr sz="1250" b="0">
                <a:solidFill>
                  <a:srgbClr val="161B26"/>
                </a:solidFill>
                <a:latin typeface="Arial"/>
              </a:rPr>
              <a:t>•  The whole card is a &lt;Link&gt;, so a click routes to the detail page with no reload.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Section composes with children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src/components/Section.jsx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Section({ title, children })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&lt;section className="section"&gt;</a:t>
            </a:r>
          </a:p>
          <a:p>
            <a:pPr algn="l">
              <a:spcAft>
                <a:spcPts val="200"/>
              </a:spcAft>
            </a:pPr>
            <a:r>
              <a:rPr sz="1250" b="0">
                <a:solidFill>
                  <a:srgbClr val="9CDCFE"/>
                </a:solidFill>
                <a:latin typeface="Arial"/>
              </a:rPr>
              <a:t>      {title &amp;&amp; &lt;h2&gt;{title}&lt;/h2&gt;}</a:t>
            </a:r>
          </a:p>
          <a:p>
            <a:pPr algn="l">
              <a:spcAft>
                <a:spcPts val="200"/>
              </a:spcAft>
            </a:pPr>
            <a:r>
              <a:rPr sz="1250" b="0">
                <a:solidFill>
                  <a:srgbClr val="9CDCFE"/>
                </a:solidFill>
                <a:latin typeface="Arial"/>
              </a:rPr>
              <a:t>      {children}</a:t>
            </a:r>
          </a:p>
          <a:p>
            <a:pPr algn="l">
              <a:spcAft>
                <a:spcPts val="200"/>
              </a:spcAft>
            </a:pPr>
            <a:r>
              <a:rPr sz="1250" b="0">
                <a:solidFill>
                  <a:srgbClr val="9CDCFE"/>
                </a:solidFill>
                <a:latin typeface="Arial"/>
              </a:rPr>
              <a:t>    &lt;/section&gt;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Used as a wrapper around anything:</a:t>
            </a:r>
          </a:p>
          <a:p>
            <a:pPr algn="l">
              <a:spcAft>
                <a:spcPts val="200"/>
              </a:spcAft>
            </a:pPr>
            <a:r>
              <a:rPr sz="1250" b="0">
                <a:solidFill>
                  <a:srgbClr val="9CDCFE"/>
                </a:solidFill>
                <a:latin typeface="Arial"/>
              </a:rPr>
              <a:t>&lt;Section title="Popular courses"&gt;</a:t>
            </a:r>
          </a:p>
          <a:p>
            <a:pPr algn="l">
              <a:spcAft>
                <a:spcPts val="200"/>
              </a:spcAft>
            </a:pPr>
            <a:r>
              <a:rPr sz="1250" b="0">
                <a:solidFill>
                  <a:srgbClr val="9CDCFE"/>
                </a:solidFill>
                <a:latin typeface="Arial"/>
              </a:rPr>
              <a:t>  &lt;CourseGrid courses={popular} /&gt;</a:t>
            </a:r>
          </a:p>
          <a:p>
            <a:pPr algn="l">
              <a:spcAft>
                <a:spcPts val="200"/>
              </a:spcAft>
            </a:pPr>
            <a:r>
              <a:rPr sz="1250" b="0">
                <a:solidFill>
                  <a:srgbClr val="9CDCFE"/>
                </a:solidFill>
                <a:latin typeface="Arial"/>
              </a:rPr>
              <a:t>&lt;/Section&gt;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Whatever you nest between the tags arrives as the children prop.</a:t>
            </a:r>
          </a:p>
          <a:p>
            <a:pPr>
              <a:spcAft>
                <a:spcPts val="1000"/>
              </a:spcAft>
            </a:pPr>
            <a:r>
              <a:rPr sz="1250" b="0">
                <a:solidFill>
                  <a:srgbClr val="161B26"/>
                </a:solidFill>
                <a:latin typeface="Arial"/>
              </a:rPr>
              <a:t>•  Section wraps CourseGrid without knowing what it is — composition over configuration.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Components, Props and Composition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App.jsx defines no component other than App, the page renders exactly as before, CourseCard takes a single `course` prop, and adding a 21st course to src/data/courses.js requires no change to any component.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3.3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Lists, Keys and Conditional Rendering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This lab pays off smell 2 from Lab 1.3. Six copy-pasted cards become one .map() over all 20 courses. The learner then deliberately BREAKS it with key={index} to see state stick to the wrong course card, and meets the 0 &amp;&amp; footgun that puts a stray zero on the page.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CourseGrid rendering all 20 Cook &amp; Bake courses from data, with a level badge and a real empty state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Array.map, the key prop, reconciliation, conditional rendering, src/components/CourseGrid.jsx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Render a list with .map() and key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src/components/CourseGrid.jsx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CourseGrid({ courses }) {</a:t>
            </a:r>
          </a:p>
          <a:p>
            <a:pPr algn="l">
              <a:spcAft>
                <a:spcPts val="200"/>
              </a:spcAft>
            </a:pPr>
            <a:r>
              <a:rPr sz="1250" b="0">
                <a:solidFill>
                  <a:srgbClr val="9CDCFE"/>
                </a:solidFill>
                <a:latin typeface="Arial"/>
              </a:rPr>
              <a:t>  if (!courses.length) {</a:t>
            </a:r>
          </a:p>
          <a:p>
            <a:pPr algn="l">
              <a:spcAft>
                <a:spcPts val="200"/>
              </a:spcAft>
            </a:pPr>
            <a:r>
              <a:rPr sz="1250" b="0">
                <a:solidFill>
                  <a:srgbClr val="9CDCFE"/>
                </a:solidFill>
                <a:latin typeface="Arial"/>
              </a:rPr>
              <a:t>    return &lt;p className="muted"&gt;No courses match your search.&lt;/p&gt;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&lt;div className="grid"&gt;</a:t>
            </a:r>
          </a:p>
          <a:p>
            <a:pPr algn="l">
              <a:spcAft>
                <a:spcPts val="200"/>
              </a:spcAft>
            </a:pPr>
            <a:r>
              <a:rPr sz="1250" b="0">
                <a:solidFill>
                  <a:srgbClr val="9CDCFE"/>
                </a:solidFill>
                <a:latin typeface="Arial"/>
              </a:rPr>
              <a:t>      {courses.map((course) =&gt; (</a:t>
            </a:r>
          </a:p>
          <a:p>
            <a:pPr algn="l">
              <a:spcAft>
                <a:spcPts val="200"/>
              </a:spcAft>
            </a:pPr>
            <a:r>
              <a:rPr sz="1250" b="0">
                <a:solidFill>
                  <a:srgbClr val="9CDCFE"/>
                </a:solidFill>
                <a:latin typeface="Arial"/>
              </a:rPr>
              <a:t>        &lt;CourseCard</a:t>
            </a:r>
          </a:p>
          <a:p>
            <a:pPr algn="l">
              <a:spcAft>
                <a:spcPts val="200"/>
              </a:spcAft>
            </a:pPr>
            <a:r>
              <a:rPr sz="1250" b="0">
                <a:solidFill>
                  <a:srgbClr val="9CDCFE"/>
                </a:solidFill>
                <a:latin typeface="Arial"/>
              </a:rPr>
              <a:t>          key={course.id}</a:t>
            </a:r>
          </a:p>
          <a:p>
            <a:pPr algn="l">
              <a:spcAft>
                <a:spcPts val="200"/>
              </a:spcAft>
            </a:pPr>
            <a:r>
              <a:rPr sz="1250" b="0">
                <a:solidFill>
                  <a:srgbClr val="9CDCFE"/>
                </a:solidFill>
                <a:latin typeface="Arial"/>
              </a:rPr>
              <a:t>          course={course}</a:t>
            </a:r>
          </a:p>
          <a:p>
            <a:pPr algn="l">
              <a:spcAft>
                <a:spcPts val="200"/>
              </a:spcAft>
            </a:pPr>
            <a:r>
              <a:rPr sz="1250" b="0">
                <a:solidFill>
                  <a:srgbClr val="9CDCFE"/>
                </a:solidFill>
                <a:latin typeface="Arial"/>
              </a:rPr>
              <a:t>        /&gt;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&lt;/div&gt;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courses.map() turns an array of data into an array of &lt;CourseCard&gt; elements.</a:t>
            </a:r>
          </a:p>
          <a:p>
            <a:pPr>
              <a:spcAft>
                <a:spcPts val="1000"/>
              </a:spcAft>
            </a:pPr>
            <a:r>
              <a:rPr sz="1250" b="0">
                <a:solidFill>
                  <a:srgbClr val="161B26"/>
                </a:solidFill>
                <a:latin typeface="Arial"/>
              </a:rPr>
              <a:t>•  key={course.id} gives each card a stable identity so React reconciles efficiently.</a:t>
            </a:r>
          </a:p>
          <a:p>
            <a:pPr>
              <a:spcAft>
                <a:spcPts val="1000"/>
              </a:spcAft>
            </a:pPr>
            <a:r>
              <a:rPr sz="1250" b="0">
                <a:solidFill>
                  <a:srgbClr val="161B26"/>
                </a:solidFill>
                <a:latin typeface="Arial"/>
              </a:rPr>
              <a:t>•  Use the data's own id as the key — never the array index.</a:t>
            </a:r>
          </a:p>
          <a:p>
            <a:pPr>
              <a:spcAft>
                <a:spcPts val="1000"/>
              </a:spcAft>
            </a:pPr>
            <a:r>
              <a:rPr sz="1250" b="0">
                <a:solidFill>
                  <a:srgbClr val="161B26"/>
                </a:solidFill>
                <a:latin typeface="Arial"/>
              </a:rPr>
              <a:t>•  An early return handles the empty list first, so the JSX below can assume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Conditional rendering &amp; the 0 trap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src/components/CourseCard.jsx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Ternary: choose one of two things to render.</a:t>
            </a:r>
          </a:p>
          <a:p>
            <a:pPr algn="l">
              <a:spcAft>
                <a:spcPts val="200"/>
              </a:spcAft>
            </a:pPr>
            <a:r>
              <a:rPr sz="1250" b="0">
                <a:solidFill>
                  <a:srgbClr val="9CDCFE"/>
                </a:solidFill>
                <a:latin typeface="Arial"/>
              </a:rPr>
              <a:t>&lt;span className="card__tag"&gt;</a:t>
            </a:r>
          </a:p>
          <a:p>
            <a:pPr algn="l">
              <a:spcAft>
                <a:spcPts val="200"/>
              </a:spcAft>
            </a:pPr>
            <a:r>
              <a:rPr sz="1250" b="0">
                <a:solidFill>
                  <a:srgbClr val="9CDCFE"/>
                </a:solidFill>
                <a:latin typeface="Arial"/>
              </a:rPr>
              <a:t>  {isBakery ? '🧁 Bakery' : '🍳 Cooking'}</a:t>
            </a:r>
          </a:p>
          <a:p>
            <a:pPr algn="l">
              <a:spcAft>
                <a:spcPts val="200"/>
              </a:spcAft>
            </a:pPr>
            <a:r>
              <a:rPr sz="1250" b="0">
                <a:solidFill>
                  <a:srgbClr val="9CDCFE"/>
                </a:solidFill>
                <a:latin typeface="Arial"/>
              </a:rPr>
              <a:t>&lt;/span&gt;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&lt;span&gt;🕒 {weeks} week{weeks &gt; 1 ? 's' : ''}&lt;/span&gt;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Footgun: `seats &gt; 0 &amp;&amp;`, never `seats &amp;&amp;`.</a:t>
            </a:r>
          </a:p>
          <a:p>
            <a:pPr algn="l">
              <a:spcAft>
                <a:spcPts val="200"/>
              </a:spcAft>
            </a:pPr>
            <a:r>
              <a:rPr sz="1250" b="0">
                <a:solidFill>
                  <a:srgbClr val="9CDCFE"/>
                </a:solidFill>
                <a:latin typeface="Arial"/>
              </a:rPr>
              <a:t>    A bare 0 renders a literal "0" on the card. */}</a:t>
            </a:r>
          </a:p>
          <a:p>
            <a:pPr algn="l">
              <a:spcAft>
                <a:spcPts val="200"/>
              </a:spcAft>
            </a:pPr>
            <a:r>
              <a:rPr sz="1250" b="0">
                <a:solidFill>
                  <a:srgbClr val="9CDCFE"/>
                </a:solidFill>
                <a:latin typeface="Arial"/>
              </a:rPr>
              <a:t>{seats &gt; 0 &amp;&amp; &lt;p&gt;{seats} places left&lt;/p&gt;}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ternary picks one of two elements: the Bakery tag vs the Cooking tag.</a:t>
            </a:r>
          </a:p>
          <a:p>
            <a:pPr>
              <a:spcAft>
                <a:spcPts val="1000"/>
              </a:spcAft>
            </a:pPr>
            <a:r>
              <a:rPr sz="1250" b="0">
                <a:solidFill>
                  <a:srgbClr val="161B26"/>
                </a:solidFill>
                <a:latin typeface="Arial"/>
              </a:rPr>
              <a:t>•  `{cond &amp;&amp; &lt;x/&gt;}` renders x only when cond is true.</a:t>
            </a:r>
          </a:p>
          <a:p>
            <a:pPr>
              <a:spcAft>
                <a:spcPts val="1000"/>
              </a:spcAft>
            </a:pPr>
            <a:r>
              <a:rPr sz="1250" b="0">
                <a:solidFill>
                  <a:srgbClr val="161B26"/>
                </a:solidFill>
                <a:latin typeface="Arial"/>
              </a:rPr>
              <a:t>•  Trap: write `seats &gt; 0 &amp;&amp;`, not `seats &amp;&amp;` — a bare 0 renders a literal '0' on screen.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Lists, Keys and Conditional Rendering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All 20 courses render from src/data/courses.js with key={course.id}, the home page shows 6, Advanced courses show the badge, an empty array shows the empty state, no literal 0 appears anywhere, and you can demonstrate the key={index} bug and explain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3.4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Events, the Bakery / Cooking Filter and a Controlled Search Box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final piece of the phase: the mockup's All / 🧁 Bakery / 🍳 Cooking chips and a live search box. The learner meets React's synthetic events and the controlled input, and then the single most common mistake in AI-generated React — mirroring a value that can simply be COMPUTED into a second piece of state.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toolbar over the catalogue: a SearchBar and the CategoryFilter chips, filtering all 20 courses live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Synthetic events, onClick, onChange, onSubmit, controlled inputs, useState (preview), src/components/{SearchBar,CategoryFilter}.jsx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controlled input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src/components/SearchBar.jsx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default function SearchBar({ value, onChange })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&lt;input</a:t>
            </a:r>
          </a:p>
          <a:p>
            <a:pPr algn="l">
              <a:spcAft>
                <a:spcPts val="200"/>
              </a:spcAft>
            </a:pPr>
            <a:r>
              <a:rPr sz="1250" b="0">
                <a:solidFill>
                  <a:srgbClr val="9CDCFE"/>
                </a:solidFill>
                <a:latin typeface="Arial"/>
              </a:rPr>
              <a:t>      type="search"</a:t>
            </a:r>
          </a:p>
          <a:p>
            <a:pPr algn="l">
              <a:spcAft>
                <a:spcPts val="200"/>
              </a:spcAft>
            </a:pPr>
            <a:r>
              <a:rPr sz="1250" b="0">
                <a:solidFill>
                  <a:srgbClr val="9CDCFE"/>
                </a:solidFill>
                <a:latin typeface="Arial"/>
              </a:rPr>
              <a:t>      value={value}</a:t>
            </a:r>
          </a:p>
          <a:p>
            <a:pPr algn="l">
              <a:spcAft>
                <a:spcPts val="200"/>
              </a:spcAft>
            </a:pPr>
            <a:r>
              <a:rPr sz="1250" b="0">
                <a:solidFill>
                  <a:srgbClr val="9CDCFE"/>
                </a:solidFill>
                <a:latin typeface="Arial"/>
              </a:rPr>
              <a:t>      onChange={(e) =&gt; onChange(e.target.value)}</a:t>
            </a:r>
          </a:p>
          <a:p>
            <a:pPr algn="l">
              <a:spcAft>
                <a:spcPts val="200"/>
              </a:spcAft>
            </a:pPr>
            <a:r>
              <a:rPr sz="1250" b="0">
                <a:solidFill>
                  <a:srgbClr val="9CDCFE"/>
                </a:solidFill>
                <a:latin typeface="Arial"/>
              </a:rPr>
              <a:t>      placeholder="Search sourdough, sushi, macaron…"</a:t>
            </a:r>
          </a:p>
          <a:p>
            <a:pPr algn="l">
              <a:spcAft>
                <a:spcPts val="200"/>
              </a:spcAft>
            </a:pPr>
            <a:r>
              <a:rPr sz="1250" b="0">
                <a:solidFill>
                  <a:srgbClr val="9CDCFE"/>
                </a:solidFill>
                <a:latin typeface="Arial"/>
              </a:rPr>
              <a:t>    /&gt;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value comes from state and onChange reports every keystroke up to the parent.</a:t>
            </a:r>
          </a:p>
          <a:p>
            <a:pPr>
              <a:spcAft>
                <a:spcPts val="1000"/>
              </a:spcAft>
            </a:pPr>
            <a:r>
              <a:rPr sz="1250" b="0">
                <a:solidFill>
                  <a:srgbClr val="161B26"/>
                </a:solidFill>
                <a:latin typeface="Arial"/>
              </a:rPr>
              <a:t>•  React state is the single source of truth — the DOM input only displays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Derived data, not extra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src/pages/CoursesPage.jsx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const category = searchParams.get('category') ?? 'All'</a:t>
            </a:r>
          </a:p>
          <a:p>
            <a:pPr algn="l">
              <a:spcAft>
                <a:spcPts val="200"/>
              </a:spcAft>
            </a:pPr>
            <a:r>
              <a:rPr sz="1250" b="0">
                <a:solidFill>
                  <a:srgbClr val="9CDCFE"/>
                </a:solidFill>
                <a:latin typeface="Arial"/>
              </a:rPr>
              <a:t>const needle = q.toLowerCase()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Derived data — NOT state. Recomputed each render.</a:t>
            </a:r>
          </a:p>
          <a:p>
            <a:pPr algn="l">
              <a:spcAft>
                <a:spcPts val="200"/>
              </a:spcAft>
            </a:pPr>
            <a:r>
              <a:rPr sz="1250" b="0">
                <a:solidFill>
                  <a:srgbClr val="9CDCFE"/>
                </a:solidFill>
                <a:latin typeface="Arial"/>
              </a:rPr>
              <a:t>const visible = courses.filter((c) =&gt; {</a:t>
            </a:r>
          </a:p>
          <a:p>
            <a:pPr algn="l">
              <a:spcAft>
                <a:spcPts val="200"/>
              </a:spcAft>
            </a:pPr>
            <a:r>
              <a:rPr sz="1250" b="0">
                <a:solidFill>
                  <a:srgbClr val="9CDCFE"/>
                </a:solidFill>
                <a:latin typeface="Arial"/>
              </a:rPr>
              <a:t>  const matchesCat =</a:t>
            </a:r>
          </a:p>
          <a:p>
            <a:pPr algn="l">
              <a:spcAft>
                <a:spcPts val="200"/>
              </a:spcAft>
            </a:pPr>
            <a:r>
              <a:rPr sz="1250" b="0">
                <a:solidFill>
                  <a:srgbClr val="9CDCFE"/>
                </a:solidFill>
                <a:latin typeface="Arial"/>
              </a:rPr>
              <a:t>    category === 'All' || c.category === category</a:t>
            </a:r>
          </a:p>
          <a:p>
            <a:pPr algn="l">
              <a:spcAft>
                <a:spcPts val="200"/>
              </a:spcAft>
            </a:pPr>
            <a:r>
              <a:rPr sz="1250" b="0">
                <a:solidFill>
                  <a:srgbClr val="9CDCFE"/>
                </a:solidFill>
                <a:latin typeface="Arial"/>
              </a:rPr>
              <a:t>  const matchesQ =</a:t>
            </a:r>
          </a:p>
          <a:p>
            <a:pPr algn="l">
              <a:spcAft>
                <a:spcPts val="200"/>
              </a:spcAft>
            </a:pPr>
            <a:r>
              <a:rPr sz="1250" b="0">
                <a:solidFill>
                  <a:srgbClr val="9CDCFE"/>
                </a:solidFill>
                <a:latin typeface="Arial"/>
              </a:rPr>
              <a:t>    !needle ||</a:t>
            </a:r>
          </a:p>
          <a:p>
            <a:pPr algn="l">
              <a:spcAft>
                <a:spcPts val="200"/>
              </a:spcAft>
            </a:pPr>
            <a:r>
              <a:rPr sz="1250" b="0">
                <a:solidFill>
                  <a:srgbClr val="9CDCFE"/>
                </a:solidFill>
                <a:latin typeface="Arial"/>
              </a:rPr>
              <a:t>    c.title.toLowerCase().includes(needle) ||</a:t>
            </a:r>
          </a:p>
          <a:p>
            <a:pPr algn="l">
              <a:spcAft>
                <a:spcPts val="200"/>
              </a:spcAft>
            </a:pPr>
            <a:r>
              <a:rPr sz="1250" b="0">
                <a:solidFill>
                  <a:srgbClr val="9CDCFE"/>
                </a:solidFill>
                <a:latin typeface="Arial"/>
              </a:rPr>
              <a:t>    c.code.toLowerCase().includes(needle)</a:t>
            </a:r>
          </a:p>
          <a:p>
            <a:pPr algn="l">
              <a:spcAft>
                <a:spcPts val="200"/>
              </a:spcAft>
            </a:pPr>
            <a:r>
              <a:rPr sz="1250" b="0">
                <a:solidFill>
                  <a:srgbClr val="9CDCFE"/>
                </a:solidFill>
                <a:latin typeface="Arial"/>
              </a:rPr>
              <a:t>  return matchesCat &amp;&amp; matchesQ</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`visible` is recomputed from courses, category and the query on every render.</a:t>
            </a:r>
          </a:p>
          <a:p>
            <a:pPr>
              <a:spcAft>
                <a:spcPts val="1000"/>
              </a:spcAft>
            </a:pPr>
            <a:r>
              <a:rPr sz="1250" b="0">
                <a:solidFill>
                  <a:srgbClr val="161B26"/>
                </a:solidFill>
                <a:latin typeface="Arial"/>
              </a:rPr>
              <a:t>•  If you can calculate it, don't store it — duplicating it in state causes stale lists.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Passing an argument to a handler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src/components/CategoryFilter.jsx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{categories.map((cat) =&gt; (</a:t>
            </a:r>
          </a:p>
          <a:p>
            <a:pPr algn="l">
              <a:spcAft>
                <a:spcPts val="200"/>
              </a:spcAft>
            </a:pPr>
            <a:r>
              <a:rPr sz="1250" b="0">
                <a:solidFill>
                  <a:srgbClr val="9CDCFE"/>
                </a:solidFill>
                <a:latin typeface="Arial"/>
              </a:rPr>
              <a:t>  &lt;button</a:t>
            </a:r>
          </a:p>
          <a:p>
            <a:pPr algn="l">
              <a:spcAft>
                <a:spcPts val="200"/>
              </a:spcAft>
            </a:pPr>
            <a:r>
              <a:rPr sz="1250" b="0">
                <a:solidFill>
                  <a:srgbClr val="9CDCFE"/>
                </a:solidFill>
                <a:latin typeface="Arial"/>
              </a:rPr>
              <a:t>    key={cat.value}</a:t>
            </a:r>
          </a:p>
          <a:p>
            <a:pPr algn="l">
              <a:spcAft>
                <a:spcPts val="200"/>
              </a:spcAft>
            </a:pPr>
            <a:r>
              <a:rPr sz="1250" b="0">
                <a:solidFill>
                  <a:srgbClr val="9CDCFE"/>
                </a:solidFill>
                <a:latin typeface="Arial"/>
              </a:rPr>
              <a:t>    className={</a:t>
            </a:r>
          </a:p>
          <a:p>
            <a:pPr algn="l">
              <a:spcAft>
                <a:spcPts val="200"/>
              </a:spcAft>
            </a:pPr>
            <a:r>
              <a:rPr sz="1250" b="0">
                <a:solidFill>
                  <a:srgbClr val="9CDCFE"/>
                </a:solidFill>
                <a:latin typeface="Arial"/>
              </a:rPr>
              <a:t>      cat.value === value ? 'chip is-active' : 'chip'</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onClick={() =&gt; onChange(cat.value)}</a:t>
            </a:r>
          </a:p>
          <a:p>
            <a:pPr algn="l">
              <a:spcAft>
                <a:spcPts val="200"/>
              </a:spcAft>
            </a:pPr>
            <a:r>
              <a:rPr sz="1250" b="0">
                <a:solidFill>
                  <a:srgbClr val="9CDCFE"/>
                </a:solidFill>
                <a:latin typeface="Arial"/>
              </a:rPr>
              <a:t>  &gt;</a:t>
            </a:r>
          </a:p>
          <a:p>
            <a:pPr algn="l">
              <a:spcAft>
                <a:spcPts val="200"/>
              </a:spcAft>
            </a:pPr>
            <a:r>
              <a:rPr sz="1250" b="0">
                <a:solidFill>
                  <a:srgbClr val="9CDCFE"/>
                </a:solidFill>
                <a:latin typeface="Arial"/>
              </a:rPr>
              <a:t>    {cat.label}</a:t>
            </a:r>
          </a:p>
          <a:p>
            <a:pPr algn="l">
              <a:spcAft>
                <a:spcPts val="200"/>
              </a:spcAft>
            </a:pPr>
            <a:r>
              <a:rPr sz="1250" b="0">
                <a:solidFill>
                  <a:srgbClr val="9CDCFE"/>
                </a:solidFill>
                <a:latin typeface="Arial"/>
              </a:rPr>
              <a:t>  &lt;/button&gt;</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Wrap the call in an arrow: onClick={() =&gt; onChange(cat.value)}.</a:t>
            </a:r>
          </a:p>
          <a:p>
            <a:pPr>
              <a:spcAft>
                <a:spcPts val="1000"/>
              </a:spcAft>
            </a:pPr>
            <a:r>
              <a:rPr sz="1250" b="0">
                <a:solidFill>
                  <a:srgbClr val="161B26"/>
                </a:solidFill>
                <a:latin typeface="Arial"/>
              </a:rPr>
              <a:t>•  onClick={onChange(cat.value)} would CALL it during every render — a bug.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Events, the Bakery / Cooking Filter and a Controlled Search Box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Typing in the search box filters the 20 courses live, the 🧁 Bakery and 🍳 Cooking chips narrow the grid further and combine with the search, an unmatched search shows the empty state, and the filtered array exists only as a local variable — never in useState.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add a course by editing data, not markup — and filter the catalogue as you type.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See you tomorrow at 9:30am</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Make It Remember and React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a shortlist of courses, a dark-mode theme, a search box that focuses itself, and reusable logic — all powered by hooks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Make It Remember and React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A catalogue you can only look at — it forgets everything on refresh.</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a shortlist of courses, a dark-mode theme, a search box that focuses itself, and reusable logic — all powered by hooks.</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the hooks: useState, useEffect, useRef (the DOM escape hatch), useContext, useReducer and custom hooks.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Rules of Hooks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Call hooks only at the top level of a component or hook — never in a loop, condition or nested function.</a:t>
            </a:r>
          </a:p>
          <a:p>
            <a:pPr>
              <a:spcAft>
                <a:spcPts val="900"/>
              </a:spcAft>
            </a:pPr>
            <a:r>
              <a:rPr sz="1300" b="0">
                <a:solidFill>
                  <a:srgbClr val="161B26"/>
                </a:solidFill>
                <a:latin typeface="Arial"/>
              </a:rPr>
              <a:t>•  React identifies each hook purely by its call order, which must be identical on every render.</a:t>
            </a:r>
          </a:p>
          <a:p>
            <a:pPr>
              <a:spcAft>
                <a:spcPts val="900"/>
              </a:spcAft>
            </a:pPr>
            <a:r>
              <a:rPr sz="1300" b="0">
                <a:solidFill>
                  <a:srgbClr val="161B26"/>
                </a:solidFill>
                <a:latin typeface="Arial"/>
              </a:rPr>
              <a:t>•  A hook inside an if runs some renders and not others, and the whole list of hooks shifts and breaks.</a:t>
            </a:r>
          </a:p>
          <a:p>
            <a:pPr>
              <a:spcAft>
                <a:spcPts val="900"/>
              </a:spcAft>
            </a:pPr>
            <a:r>
              <a:rPr sz="1300" b="0">
                <a:solidFill>
                  <a:srgbClr val="161B26"/>
                </a:solidFill>
                <a:latin typeface="Arial"/>
              </a:rPr>
              <a:t>•  Only call hooks from React function components or from your own custom hooks.</a:t>
            </a:r>
          </a:p>
          <a:p>
            <a:pPr>
              <a:spcAft>
                <a:spcPts val="900"/>
              </a:spcAft>
            </a:pPr>
            <a:r>
              <a:rPr sz="1300" b="0">
                <a:solidFill>
                  <a:srgbClr val="161B26"/>
                </a:solidFill>
                <a:latin typeface="Arial"/>
              </a:rPr>
              <a:t>•  The lint rules for hooks catch most violations — do not disable them to silence a warning.</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Call hooks at the top level, in the same order, every render.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CoursesPage({ open }) {</a:t>
            </a:r>
          </a:p>
          <a:p>
            <a:pPr algn="l">
              <a:spcAft>
                <a:spcPts val="200"/>
              </a:spcAft>
            </a:pPr>
            <a:r>
              <a:rPr sz="1150" b="0">
                <a:solidFill>
                  <a:srgbClr val="9CDCFE"/>
                </a:solidFill>
                <a:latin typeface="Arial"/>
              </a:rPr>
              <a:t>  const [q, setQ] = useState('')  // ok: top level</a:t>
            </a:r>
          </a:p>
          <a:p>
            <a:pPr algn="l">
              <a:spcAft>
                <a:spcPts val="200"/>
              </a:spcAft>
            </a:pPr>
            <a:r>
              <a:rPr sz="1150" b="0">
                <a:solidFill>
                  <a:srgbClr val="9CDCFE"/>
                </a:solidFill>
                <a:latin typeface="Arial"/>
              </a:rPr>
              <a:t>  if (open) {</a:t>
            </a:r>
          </a:p>
          <a:p>
            <a:pPr algn="l">
              <a:spcAft>
                <a:spcPts val="200"/>
              </a:spcAft>
            </a:pPr>
            <a:r>
              <a:rPr sz="1150" b="0">
                <a:solidFill>
                  <a:srgbClr val="9CDCFE"/>
                </a:solidFill>
                <a:latin typeface="Arial"/>
              </a:rPr>
              <a:t>    const [x] = useState(1)       // never: in an if</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Hooks are called in roll-call order — React counts 'hook one, hook two' every render, so you must never skip or reorder a name.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HOOKS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 hook actually 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hook is a function whose name starts with 'use' that lets a function component use React features.</a:t>
            </a:r>
          </a:p>
          <a:p>
            <a:pPr>
              <a:spcAft>
                <a:spcPts val="900"/>
              </a:spcAft>
            </a:pPr>
            <a:r>
              <a:rPr sz="1300" b="0">
                <a:solidFill>
                  <a:srgbClr val="161B26"/>
                </a:solidFill>
                <a:latin typeface="Arial"/>
              </a:rPr>
              <a:t>•  Hooks let a stateless function remember values (useState) and sync with the outside (useEffect).</a:t>
            </a:r>
          </a:p>
          <a:p>
            <a:pPr>
              <a:spcAft>
                <a:spcPts val="900"/>
              </a:spcAft>
            </a:pPr>
            <a:r>
              <a:rPr sz="1300" b="0">
                <a:solidFill>
                  <a:srgbClr val="161B26"/>
                </a:solidFill>
                <a:latin typeface="Arial"/>
              </a:rPr>
              <a:t>•  React identifies each hook by call order, matching it to a memory slot by position, not by name.</a:t>
            </a:r>
          </a:p>
          <a:p>
            <a:pPr>
              <a:spcAft>
                <a:spcPts val="900"/>
              </a:spcAft>
            </a:pPr>
            <a:r>
              <a:rPr sz="1300" b="0">
                <a:solidFill>
                  <a:srgbClr val="161B26"/>
                </a:solidFill>
                <a:latin typeface="Arial"/>
              </a:rPr>
              <a:t>•  That is why hooks live at the top level — never inside an if, a loop, or after an early return.</a:t>
            </a:r>
          </a:p>
          <a:p>
            <a:pPr>
              <a:spcAft>
                <a:spcPts val="900"/>
              </a:spcAft>
            </a:pPr>
            <a:r>
              <a:rPr sz="1300" b="0">
                <a:solidFill>
                  <a:srgbClr val="161B26"/>
                </a:solidFill>
                <a:latin typeface="Arial"/>
              </a:rPr>
              <a:t>•  Only components and other hooks may call hooks; a plain helper function cannot.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hook is a use…() function; React tracks it by call order.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function CoursesPage() {</a:t>
            </a:r>
          </a:p>
          <a:p>
            <a:pPr algn="l">
              <a:spcAft>
                <a:spcPts val="200"/>
              </a:spcAft>
            </a:pPr>
            <a:r>
              <a:rPr sz="1150" b="0">
                <a:solidFill>
                  <a:srgbClr val="9CDCFE"/>
                </a:solidFill>
                <a:latin typeface="Arial"/>
              </a:rPr>
              <a:t>  const { courses } = useCourses()   // custom hook</a:t>
            </a:r>
          </a:p>
          <a:p>
            <a:pPr algn="l">
              <a:spcAft>
                <a:spcPts val="200"/>
              </a:spcAft>
            </a:pPr>
            <a:r>
              <a:rPr sz="1150" b="0">
                <a:solidFill>
                  <a:srgbClr val="9CDCFE"/>
                </a:solidFill>
                <a:latin typeface="Arial"/>
              </a:rPr>
              <a:t>  const [q, setQ] = useState('')     // slot 2</a:t>
            </a:r>
          </a:p>
          <a:p>
            <a:pPr algn="l">
              <a:spcAft>
                <a:spcPts val="200"/>
              </a:spcAft>
            </a:pPr>
            <a:r>
              <a:rPr sz="1150" b="0">
                <a:solidFill>
                  <a:srgbClr val="9CDCFE"/>
                </a:solidFill>
                <a:latin typeface="Arial"/>
              </a:rPr>
              <a:t>  const searchInput = useRef(null)   // slot 3</a:t>
            </a:r>
          </a:p>
          <a:p>
            <a:pPr algn="l">
              <a:spcAft>
                <a:spcPts val="200"/>
              </a:spcAft>
            </a:pPr>
            <a:r>
              <a:rPr sz="1150" b="0">
                <a:solidFill>
                  <a:srgbClr val="9CDCFE"/>
                </a:solidFill>
                <a:latin typeface="Arial"/>
              </a:rPr>
              <a:t>  useEffect(() =&gt; {                  // slot 4</a:t>
            </a:r>
          </a:p>
          <a:p>
            <a:pPr algn="l">
              <a:spcAft>
                <a:spcPts val="200"/>
              </a:spcAft>
            </a:pPr>
            <a:r>
              <a:rPr sz="1150" b="0">
                <a:solidFill>
                  <a:srgbClr val="9CDCFE"/>
                </a:solidFill>
                <a:latin typeface="Arial"/>
              </a:rPr>
              <a:t>    searchInput.current?.focus()</a:t>
            </a:r>
          </a:p>
          <a:p>
            <a:pPr algn="l">
              <a:spcAft>
                <a:spcPts val="200"/>
              </a:spcAft>
            </a:pPr>
            <a:r>
              <a:rPr sz="1150" b="0">
                <a:solidFill>
                  <a:srgbClr val="9CDCFE"/>
                </a:solidFill>
                <a:latin typeface="Arial"/>
              </a:rPr>
              <a:t>  }, [])</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hook is a power outlet on the render: plug in with use…() and your function taps React's memory and lifecycle.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useState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State is a snapshot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useState returns the current value and a setter: const [count, setCount] = useState(0).</a:t>
            </a:r>
          </a:p>
          <a:p>
            <a:pPr>
              <a:spcAft>
                <a:spcPts val="900"/>
              </a:spcAft>
            </a:pPr>
            <a:r>
              <a:rPr sz="1300" b="0">
                <a:solidFill>
                  <a:srgbClr val="161B26"/>
                </a:solidFill>
                <a:latin typeface="Arial"/>
              </a:rPr>
              <a:t>•  Within one render the state value never changes — it is a snapshot captured at render time.</a:t>
            </a:r>
          </a:p>
          <a:p>
            <a:pPr>
              <a:spcAft>
                <a:spcPts val="900"/>
              </a:spcAft>
            </a:pPr>
            <a:r>
              <a:rPr sz="1300" b="0">
                <a:solidFill>
                  <a:srgbClr val="161B26"/>
                </a:solidFill>
                <a:latin typeface="Arial"/>
              </a:rPr>
              <a:t>•  Calling setCount(count + 1) twice in a row adds only one, because both read the same stale count.</a:t>
            </a:r>
          </a:p>
          <a:p>
            <a:pPr>
              <a:spcAft>
                <a:spcPts val="900"/>
              </a:spcAft>
            </a:pPr>
            <a:r>
              <a:rPr sz="1300" b="0">
                <a:solidFill>
                  <a:srgbClr val="161B26"/>
                </a:solidFill>
                <a:latin typeface="Arial"/>
              </a:rPr>
              <a:t>•  When the next value depends on the previous, use the updater form: setCount(c =&gt; c + 1).</a:t>
            </a:r>
          </a:p>
          <a:p>
            <a:pPr>
              <a:spcAft>
                <a:spcPts val="900"/>
              </a:spcAft>
            </a:pPr>
            <a:r>
              <a:rPr sz="1300" b="0">
                <a:solidFill>
                  <a:srgbClr val="161B26"/>
                </a:solidFill>
                <a:latin typeface="Arial"/>
              </a:rPr>
              <a:t>•  Setting state schedules a re-render; it does not change the current variable mid-function.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State is fixed per render; use setX(prev =&gt; ...) for dependent updates.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setCount(count + 1)     // stale: +1 total</a:t>
            </a:r>
          </a:p>
          <a:p>
            <a:pPr algn="l">
              <a:spcAft>
                <a:spcPts val="200"/>
              </a:spcAft>
            </a:pPr>
            <a:r>
              <a:rPr sz="1150" b="0">
                <a:solidFill>
                  <a:srgbClr val="9CDCFE"/>
                </a:solidFill>
                <a:latin typeface="Arial"/>
              </a:rPr>
              <a:t>setCount(count + 1)</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setCount((c) =&gt; c + 1)  // updater: +1</a:t>
            </a:r>
          </a:p>
          <a:p>
            <a:pPr algn="l">
              <a:spcAft>
                <a:spcPts val="200"/>
              </a:spcAft>
            </a:pPr>
            <a:r>
              <a:rPr sz="1150" b="0">
                <a:solidFill>
                  <a:srgbClr val="9CDCFE"/>
                </a:solidFill>
                <a:latin typeface="Arial"/>
              </a:rPr>
              <a:t>setCount((c) =&gt; c + 1)  // updater: +2</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State is a photograph, not a live feed — count is frozen at the value it had when this render's photo was taken.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IMMUTABILITY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Immutable updates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React decides to re-render by checking whether the state value is a NEW reference.</a:t>
            </a:r>
          </a:p>
          <a:p>
            <a:pPr>
              <a:spcAft>
                <a:spcPts val="900"/>
              </a:spcAft>
            </a:pPr>
            <a:r>
              <a:rPr sz="1300" b="0">
                <a:solidFill>
                  <a:srgbClr val="161B26"/>
                </a:solidFill>
                <a:latin typeface="Arial"/>
              </a:rPr>
              <a:t>•  items.push(course) mutates the same array, so the reference is unchanged and nothing re-renders.</a:t>
            </a:r>
          </a:p>
          <a:p>
            <a:pPr>
              <a:spcAft>
                <a:spcPts val="900"/>
              </a:spcAft>
            </a:pPr>
            <a:r>
              <a:rPr sz="1300" b="0">
                <a:solidFill>
                  <a:srgbClr val="161B26"/>
                </a:solidFill>
                <a:latin typeface="Arial"/>
              </a:rPr>
              <a:t>•  Build a new value with spread instead: setItems([...items, course]) creates a fresh array.</a:t>
            </a:r>
          </a:p>
          <a:p>
            <a:pPr>
              <a:spcAft>
                <a:spcPts val="900"/>
              </a:spcAft>
            </a:pPr>
            <a:r>
              <a:rPr sz="1300" b="0">
                <a:solidFill>
                  <a:srgbClr val="161B26"/>
                </a:solidFill>
                <a:latin typeface="Arial"/>
              </a:rPr>
              <a:t>•  Update an object the same way: setCourse({ ...course, fee: 720 }).</a:t>
            </a:r>
          </a:p>
          <a:p>
            <a:pPr>
              <a:spcAft>
                <a:spcPts val="900"/>
              </a:spcAft>
            </a:pPr>
            <a:r>
              <a:rPr sz="1300" b="0">
                <a:solidFill>
                  <a:srgbClr val="161B26"/>
                </a:solidFill>
                <a:latin typeface="Arial"/>
              </a:rPr>
              <a:t>•  The real CartContext never mutates: every add, remove and clear returns a brand-new array.</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Never mutate state — build a new array or object with spread.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src/context/CartContext.jsx (real code)</a:t>
            </a:r>
          </a:p>
          <a:p>
            <a:pPr algn="l">
              <a:spcAft>
                <a:spcPts val="200"/>
              </a:spcAft>
            </a:pPr>
            <a:r>
              <a:rPr sz="1095" b="0">
                <a:solidFill>
                  <a:srgbClr val="9CDCFE"/>
                </a:solidFill>
                <a:latin typeface="Arial"/>
              </a:rPr>
              <a:t>const addItem = (course) =&gt;</a:t>
            </a:r>
          </a:p>
          <a:p>
            <a:pPr algn="l">
              <a:spcAft>
                <a:spcPts val="200"/>
              </a:spcAft>
            </a:pPr>
            <a:r>
              <a:rPr sz="1095" b="0">
                <a:solidFill>
                  <a:srgbClr val="9CDCFE"/>
                </a:solidFill>
                <a:latin typeface="Arial"/>
              </a:rPr>
              <a:t>  setItems((prev) =&gt;</a:t>
            </a:r>
          </a:p>
          <a:p>
            <a:pPr algn="l">
              <a:spcAft>
                <a:spcPts val="200"/>
              </a:spcAft>
            </a:pPr>
            <a:r>
              <a:rPr sz="1095" b="0">
                <a:solidFill>
                  <a:srgbClr val="9CDCFE"/>
                </a:solidFill>
                <a:latin typeface="Arial"/>
              </a:rPr>
              <a:t>    prev.some((c) =&gt; c.id === course.id)</a:t>
            </a:r>
          </a:p>
          <a:p>
            <a:pPr algn="l">
              <a:spcAft>
                <a:spcPts val="200"/>
              </a:spcAft>
            </a:pPr>
            <a:r>
              <a:rPr sz="1095" b="0">
                <a:solidFill>
                  <a:srgbClr val="9CDCFE"/>
                </a:solidFill>
                <a:latin typeface="Arial"/>
              </a:rPr>
              <a:t>      ? prev</a:t>
            </a:r>
          </a:p>
          <a:p>
            <a:pPr algn="l">
              <a:spcAft>
                <a:spcPts val="200"/>
              </a:spcAft>
            </a:pPr>
            <a:r>
              <a:rPr sz="1095" b="0">
                <a:solidFill>
                  <a:srgbClr val="9CDCFE"/>
                </a:solidFill>
                <a:latin typeface="Arial"/>
              </a:rPr>
              <a:t>      : [...prev, course])   // NEW array -&gt; re-renders</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const removeItem = (id) =&gt;</a:t>
            </a:r>
          </a:p>
          <a:p>
            <a:pPr algn="l">
              <a:spcAft>
                <a:spcPts val="200"/>
              </a:spcAft>
            </a:pPr>
            <a:r>
              <a:rPr sz="1095" b="0">
                <a:solidFill>
                  <a:srgbClr val="9CDCFE"/>
                </a:solidFill>
                <a:latin typeface="Arial"/>
              </a:rPr>
              <a:t>  setItems((prev) =&gt; prev.filter((c) =&gt; c.id !== id))</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Mutating state is editing the original photo — React only re-renders when you hand it a brand-new print.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useEffect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useEffect and the dependency array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useEffect runs code after render for side effects: fetching, subscriptions, timers, the DOM.</a:t>
            </a:r>
          </a:p>
          <a:p>
            <a:pPr>
              <a:spcAft>
                <a:spcPts val="900"/>
              </a:spcAft>
            </a:pPr>
            <a:r>
              <a:rPr sz="1300" b="0">
                <a:solidFill>
                  <a:srgbClr val="161B26"/>
                </a:solidFill>
                <a:latin typeface="Arial"/>
              </a:rPr>
              <a:t>•  Its second argument, the dependency array, decides when it re-runs.</a:t>
            </a:r>
          </a:p>
          <a:p>
            <a:pPr>
              <a:spcAft>
                <a:spcPts val="900"/>
              </a:spcAft>
            </a:pPr>
            <a:r>
              <a:rPr sz="1300" b="0">
                <a:solidFill>
                  <a:srgbClr val="161B26"/>
                </a:solidFill>
                <a:latin typeface="Arial"/>
              </a:rPr>
              <a:t>•  An empty array [] runs the effect once after the first render, and never again.</a:t>
            </a:r>
          </a:p>
          <a:p>
            <a:pPr>
              <a:spcAft>
                <a:spcPts val="900"/>
              </a:spcAft>
            </a:pPr>
            <a:r>
              <a:rPr sz="1300" b="0">
                <a:solidFill>
                  <a:srgbClr val="161B26"/>
                </a:solidFill>
                <a:latin typeface="Arial"/>
              </a:rPr>
              <a:t>•  Listing [slug] re-runs the effect whenever slug changes — that is how a new course gets fetched.</a:t>
            </a:r>
          </a:p>
          <a:p>
            <a:pPr>
              <a:spcAft>
                <a:spcPts val="900"/>
              </a:spcAft>
            </a:pPr>
            <a:r>
              <a:rPr sz="1300" b="0">
                <a:solidFill>
                  <a:srgbClr val="161B26"/>
                </a:solidFill>
                <a:latin typeface="Arial"/>
              </a:rPr>
              <a:t>•  Omit the array entirely and it runs after every render — the classic infinite-fetch loop.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 runs once; [dep] re-runs when dep changes; no array runs always.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src/context/ThemeContext.jsx (real code)</a:t>
            </a:r>
          </a:p>
          <a:p>
            <a:pPr algn="l">
              <a:spcAft>
                <a:spcPts val="200"/>
              </a:spcAft>
            </a:pPr>
            <a:r>
              <a:rPr sz="1150" b="0">
                <a:solidFill>
                  <a:srgbClr val="9CDCFE"/>
                </a:solidFill>
                <a:latin typeface="Arial"/>
              </a:rPr>
              <a:t>useEffect(() =&gt; {</a:t>
            </a:r>
          </a:p>
          <a:p>
            <a:pPr algn="l">
              <a:spcAft>
                <a:spcPts val="200"/>
              </a:spcAft>
            </a:pPr>
            <a:r>
              <a:rPr sz="1150" b="0">
                <a:solidFill>
                  <a:srgbClr val="9CDCFE"/>
                </a:solidFill>
                <a:latin typeface="Arial"/>
              </a:rPr>
              <a:t>  document.documentElement.dataset.theme = theme</a:t>
            </a:r>
          </a:p>
          <a:p>
            <a:pPr algn="l">
              <a:spcAft>
                <a:spcPts val="200"/>
              </a:spcAft>
            </a:pPr>
            <a:r>
              <a:rPr sz="1150" b="0">
                <a:solidFill>
                  <a:srgbClr val="9CDCFE"/>
                </a:solidFill>
                <a:latin typeface="Arial"/>
              </a:rPr>
              <a:t>}, [theme])   // re-runs only when the theme changes</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dependency array is a guest list — the effect only re-runs when a name on the list actually changes.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CLEANUP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 effect cleans up after itself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An effect that starts something ongoing must stop it, or you leak timers, listeners and requests.</a:t>
            </a:r>
          </a:p>
          <a:p>
            <a:pPr>
              <a:spcAft>
                <a:spcPts val="900"/>
              </a:spcAft>
            </a:pPr>
            <a:r>
              <a:rPr sz="1300" b="0">
                <a:solidFill>
                  <a:srgbClr val="161B26"/>
                </a:solidFill>
                <a:latin typeface="Arial"/>
              </a:rPr>
              <a:t>•  Return a cleanup function from the effect; React runs it before the next effect and on unmount.</a:t>
            </a:r>
          </a:p>
          <a:p>
            <a:pPr>
              <a:spcAft>
                <a:spcPts val="900"/>
              </a:spcAft>
            </a:pPr>
            <a:r>
              <a:rPr sz="1300" b="0">
                <a:solidFill>
                  <a:srgbClr val="161B26"/>
                </a:solidFill>
                <a:latin typeface="Arial"/>
              </a:rPr>
              <a:t>•  clearTimeout, clearInterval, removeEventListener and unsubscribe all belong in that function.</a:t>
            </a:r>
          </a:p>
          <a:p>
            <a:pPr>
              <a:spcAft>
                <a:spcPts val="900"/>
              </a:spcAft>
            </a:pPr>
            <a:r>
              <a:rPr sz="1300" b="0">
                <a:solidFill>
                  <a:srgbClr val="161B26"/>
                </a:solidFill>
                <a:latin typeface="Arial"/>
              </a:rPr>
              <a:t>•  In development, StrictMode mounts, unmounts and remounts once to expose effects with no cleanup.</a:t>
            </a:r>
          </a:p>
          <a:p>
            <a:pPr>
              <a:spcAft>
                <a:spcPts val="900"/>
              </a:spcAft>
            </a:pPr>
            <a:r>
              <a:rPr sz="1300" b="0">
                <a:solidFill>
                  <a:srgbClr val="161B26"/>
                </a:solidFill>
                <a:latin typeface="Arial"/>
              </a:rPr>
              <a:t>•  So a double log in dev is not a bug — it is React helping you find a missing cleanup.</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Return a cleanup for anything ongoing; StrictMode double-runs to test it.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src/hooks/useDebounce.js (real code)</a:t>
            </a:r>
          </a:p>
          <a:p>
            <a:pPr algn="l">
              <a:spcAft>
                <a:spcPts val="200"/>
              </a:spcAft>
            </a:pPr>
            <a:r>
              <a:rPr sz="1150" b="0">
                <a:solidFill>
                  <a:srgbClr val="9CDCFE"/>
                </a:solidFill>
                <a:latin typeface="Arial"/>
              </a:rPr>
              <a:t>useEffect(() =&gt; {</a:t>
            </a:r>
          </a:p>
          <a:p>
            <a:pPr algn="l">
              <a:spcAft>
                <a:spcPts val="200"/>
              </a:spcAft>
            </a:pPr>
            <a:r>
              <a:rPr sz="1150" b="0">
                <a:solidFill>
                  <a:srgbClr val="9CDCFE"/>
                </a:solidFill>
                <a:latin typeface="Arial"/>
              </a:rPr>
              <a:t>  const id = setTimeout(() =&gt; setDebounced(value), delay)</a:t>
            </a:r>
          </a:p>
          <a:p>
            <a:pPr algn="l">
              <a:spcAft>
                <a:spcPts val="200"/>
              </a:spcAft>
            </a:pPr>
            <a:r>
              <a:rPr sz="1150" b="0">
                <a:solidFill>
                  <a:srgbClr val="9CDCFE"/>
                </a:solidFill>
                <a:latin typeface="Arial"/>
              </a:rPr>
              <a:t>  return () =&gt; clearTimeout(id)   // cleanup</a:t>
            </a:r>
          </a:p>
          <a:p>
            <a:pPr algn="l">
              <a:spcAft>
                <a:spcPts val="200"/>
              </a:spcAft>
            </a:pPr>
            <a:r>
              <a:rPr sz="1150" b="0">
                <a:solidFill>
                  <a:srgbClr val="9CDCFE"/>
                </a:solidFill>
                <a:latin typeface="Arial"/>
              </a:rPr>
              <a:t>}, [value, delay])</a:t>
            </a:r>
          </a:p>
          <a:p>
            <a:pPr algn="l">
              <a:spcAft>
                <a:spcPts val="200"/>
              </a:spcAft>
            </a:pPr>
            <a:r>
              <a:rPr sz="1150" b="0">
                <a:solidFill>
                  <a:srgbClr val="9CDCFE"/>
                </a:solidFill>
                <a:latin typeface="Arial"/>
              </a:rPr>
              <a:t>// Every keystroke cancels the previous pending timer,</a:t>
            </a:r>
          </a:p>
          <a:p>
            <a:pPr algn="l">
              <a:spcAft>
                <a:spcPts val="200"/>
              </a:spcAft>
            </a:pPr>
            <a:r>
              <a:rPr sz="1150" b="0">
                <a:solidFill>
                  <a:srgbClr val="9CDCFE"/>
                </a:solidFill>
                <a:latin typeface="Arial"/>
              </a:rPr>
              <a:t>// so only the last one ever fires.</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useEffect cleanup is turning the tap off as you leave the room — StrictMode runs in and out twice to catch a tap left running.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useRef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useRef: the escape hatch to the DOM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useRef returns a mutable object, { current }, whose value persists across renders like state does.</a:t>
            </a:r>
          </a:p>
          <a:p>
            <a:pPr>
              <a:spcAft>
                <a:spcPts val="900"/>
              </a:spcAft>
            </a:pPr>
            <a:r>
              <a:rPr sz="1300" b="0">
                <a:solidFill>
                  <a:srgbClr val="161B26"/>
                </a:solidFill>
                <a:latin typeface="Arial"/>
              </a:rPr>
              <a:t>•  But unlike state, writing to .current never triggers a re-render — that is its defining difference.</a:t>
            </a:r>
          </a:p>
          <a:p>
            <a:pPr>
              <a:spcAft>
                <a:spcPts val="900"/>
              </a:spcAft>
            </a:pPr>
            <a:r>
              <a:rPr sz="1300" b="0">
                <a:solidFill>
                  <a:srgbClr val="161B26"/>
                </a:solidFill>
                <a:latin typeface="Arial"/>
              </a:rPr>
              <a:t>•  Job one: a live handle on a real DOM node, for the things JSX cannot describe.</a:t>
            </a:r>
          </a:p>
          <a:p>
            <a:pPr>
              <a:spcAft>
                <a:spcPts val="900"/>
              </a:spcAft>
            </a:pPr>
            <a:r>
              <a:rPr sz="1300" b="0">
                <a:solidFill>
                  <a:srgbClr val="161B26"/>
                </a:solidFill>
                <a:latin typeface="Arial"/>
              </a:rPr>
              <a:t>•  Job two: a mutable box for a value that must survive renders but must not drive the UI.</a:t>
            </a:r>
          </a:p>
          <a:p>
            <a:pPr>
              <a:spcAft>
                <a:spcPts val="900"/>
              </a:spcAft>
            </a:pPr>
            <a:r>
              <a:rPr sz="1300" b="0">
                <a:solidFill>
                  <a:srgbClr val="161B26"/>
                </a:solidFill>
                <a:latin typeface="Arial"/>
              </a:rPr>
              <a:t>•  In React 19 ref is a normal prop, so you pass it straight to your own components — no forwardRef.</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Two jobs — a DOM handle and a mutable box; neither triggers a re-render.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const searchInput = useRef(null)  // job one: a DOM handle</a:t>
            </a:r>
          </a:p>
          <a:p>
            <a:pPr algn="l">
              <a:spcAft>
                <a:spcPts val="200"/>
              </a:spcAft>
            </a:pPr>
            <a:r>
              <a:rPr sz="989" b="0">
                <a:solidFill>
                  <a:srgbClr val="9CDCFE"/>
                </a:solidFill>
                <a:latin typeface="Arial"/>
              </a:rPr>
              <a:t>const timer = useRef(null)        // job two: a mutable box</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.current is null on the first render — React has not</a:t>
            </a:r>
          </a:p>
          <a:p>
            <a:pPr algn="l">
              <a:spcAft>
                <a:spcPts val="200"/>
              </a:spcAft>
            </a:pPr>
            <a:r>
              <a:rPr sz="989" b="0">
                <a:solidFill>
                  <a:srgbClr val="9CDCFE"/>
                </a:solidFill>
                <a:latin typeface="Arial"/>
              </a:rPr>
              <a:t>// created the node yet. It is set right after paint.</a:t>
            </a:r>
          </a:p>
          <a:p>
            <a:pPr algn="l">
              <a:spcAft>
                <a:spcPts val="200"/>
              </a:spcAft>
            </a:pPr>
            <a:r>
              <a:rPr sz="989" b="0">
                <a:solidFill>
                  <a:srgbClr val="9CDCFE"/>
                </a:solidFill>
                <a:latin typeface="Arial"/>
              </a:rPr>
              <a:t>useEffect(() =&gt; {</a:t>
            </a:r>
          </a:p>
          <a:p>
            <a:pPr algn="l">
              <a:spcAft>
                <a:spcPts val="200"/>
              </a:spcAft>
            </a:pPr>
            <a:r>
              <a:rPr sz="989" b="0">
                <a:solidFill>
                  <a:srgbClr val="9CDCFE"/>
                </a:solidFill>
                <a:latin typeface="Arial"/>
              </a:rPr>
              <a:t>  searchInput.current?.focus()</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&lt;input ref={searchInput} /&gt;   // React 19: ref is a prop</a:t>
            </a:r>
          </a:p>
          <a:p>
            <a:pPr algn="l">
              <a:spcAft>
                <a:spcPts val="200"/>
              </a:spcAft>
            </a:pPr>
            <a:r>
              <a:rPr sz="989"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ref is a sticky note the renderer never reads — write to .current all you like and React will not repaint the screen.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REF vs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ref vs state — the dividing 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The whole decision is one question: should changing this value REDRAW the screen?</a:t>
            </a:r>
          </a:p>
          <a:p>
            <a:pPr>
              <a:spcAft>
                <a:spcPts val="900"/>
              </a:spcAft>
            </a:pPr>
            <a:r>
              <a:rPr sz="1300" b="0">
                <a:solidFill>
                  <a:srgbClr val="161B26"/>
                </a:solidFill>
                <a:latin typeface="Arial"/>
              </a:rPr>
              <a:t>•  If yes, it is STATE. The search text is state — every keystroke must repaint the results.</a:t>
            </a:r>
          </a:p>
          <a:p>
            <a:pPr>
              <a:spcAft>
                <a:spcPts val="900"/>
              </a:spcAft>
            </a:pPr>
            <a:r>
              <a:rPr sz="1300" b="0">
                <a:solidFill>
                  <a:srgbClr val="161B26"/>
                </a:solidFill>
                <a:latin typeface="Arial"/>
              </a:rPr>
              <a:t>•  If no, it is a REF. Focus, scroll position and a timer id change nothing that is rendered.</a:t>
            </a:r>
          </a:p>
          <a:p>
            <a:pPr>
              <a:spcAft>
                <a:spcPts val="900"/>
              </a:spcAft>
            </a:pPr>
            <a:r>
              <a:rPr sz="1300" b="0">
                <a:solidFill>
                  <a:srgbClr val="161B26"/>
                </a:solidFill>
                <a:latin typeface="Arial"/>
              </a:rPr>
              <a:t>•  Put a timer id in state and you re-render the entire component on every single tick. For nothing.</a:t>
            </a:r>
          </a:p>
          <a:p>
            <a:pPr>
              <a:spcAft>
                <a:spcPts val="900"/>
              </a:spcAft>
            </a:pPr>
            <a:r>
              <a:rPr sz="1300" b="0">
                <a:solidFill>
                  <a:srgbClr val="161B26"/>
                </a:solidFill>
                <a:latin typeface="Arial"/>
              </a:rPr>
              <a:t>•  'Is focused' is browser state, not React state. There is no JSX you can write to express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Redraw the screen? State. Must not redraw? Ref. That is the whole rule.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STATE — the screen must change:</a:t>
            </a:r>
          </a:p>
          <a:p>
            <a:pPr algn="l">
              <a:spcAft>
                <a:spcPts val="200"/>
              </a:spcAft>
            </a:pPr>
            <a:r>
              <a:rPr sz="1150" b="0">
                <a:solidFill>
                  <a:srgbClr val="9CDCFE"/>
                </a:solidFill>
                <a:latin typeface="Arial"/>
              </a:rPr>
              <a:t>const [query, setQuery] = useState('')</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REF — the screen must NOT change:</a:t>
            </a:r>
          </a:p>
          <a:p>
            <a:pPr algn="l">
              <a:spcAft>
                <a:spcPts val="200"/>
              </a:spcAft>
            </a:pPr>
            <a:r>
              <a:rPr sz="1150" b="0">
                <a:solidFill>
                  <a:srgbClr val="9CDCFE"/>
                </a:solidFill>
                <a:latin typeface="Arial"/>
              </a:rPr>
              <a:t>const searchInput = useRef(null)   // which DOM node</a:t>
            </a:r>
          </a:p>
          <a:p>
            <a:pPr algn="l">
              <a:spcAft>
                <a:spcPts val="200"/>
              </a:spcAft>
            </a:pPr>
            <a:r>
              <a:rPr sz="1150" b="0">
                <a:solidFill>
                  <a:srgbClr val="9CDCFE"/>
                </a:solidFill>
                <a:latin typeface="Arial"/>
              </a:rPr>
              <a:t>const timer = useRef(null)         // the interval id</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timer in useState =&gt; a re-render every tick, forever.</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State is what the audience sees; a ref is the stagehand's clipboard — necessary, remembered, and never on stage.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useRef IN THE APP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real refs in Cook &amp; Bake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CoursesPage focuses the search box on mount, and again after every category chip click.</a:t>
            </a:r>
          </a:p>
          <a:p>
            <a:pPr>
              <a:spcAft>
                <a:spcPts val="900"/>
              </a:spcAft>
            </a:pPr>
            <a:r>
              <a:rPr sz="1300" b="0">
                <a:solidFill>
                  <a:srgbClr val="161B26"/>
                </a:solidFill>
                <a:latin typeface="Arial"/>
              </a:rPr>
              <a:t>•  The ref is created in the PARENT and handed down to SearchBar as an ordinary prop.</a:t>
            </a:r>
          </a:p>
          <a:p>
            <a:pPr>
              <a:spcAft>
                <a:spcPts val="900"/>
              </a:spcAft>
            </a:pPr>
            <a:r>
              <a:rPr sz="1300" b="0">
                <a:solidFill>
                  <a:srgbClr val="161B26"/>
                </a:solidFill>
                <a:latin typeface="Arial"/>
              </a:rPr>
              <a:t>•  HomePage points a ref at the course grid, so the hero's 'Browse courses' button can scroll to it.</a:t>
            </a:r>
          </a:p>
          <a:p>
            <a:pPr>
              <a:spcAft>
                <a:spcPts val="900"/>
              </a:spcAft>
            </a:pPr>
            <a:r>
              <a:rPr sz="1300" b="0">
                <a:solidFill>
                  <a:srgbClr val="161B26"/>
                </a:solidFill>
                <a:latin typeface="Arial"/>
              </a:rPr>
              <a:t>•  Hero receives onBrowse as a function prop — it never knows a ref or a DOM node exists.</a:t>
            </a:r>
          </a:p>
          <a:p>
            <a:pPr>
              <a:spcAft>
                <a:spcPts val="900"/>
              </a:spcAft>
            </a:pPr>
            <a:r>
              <a:rPr sz="1300" b="0">
                <a:solidFill>
                  <a:srgbClr val="161B26"/>
                </a:solidFill>
                <a:latin typeface="Arial"/>
              </a:rPr>
              <a:t>•  A timer id lives in a ref because clearing it later must not cost the user a re-render.</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Focus, scroll and timer ids: the sanctioned reasons to hold a DOM node.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CoursesPage.jsx — focus the search input</a:t>
            </a:r>
          </a:p>
          <a:p>
            <a:pPr algn="l">
              <a:spcAft>
                <a:spcPts val="200"/>
              </a:spcAft>
            </a:pPr>
            <a:r>
              <a:rPr sz="900" b="0">
                <a:solidFill>
                  <a:srgbClr val="9CDCFE"/>
                </a:solidFill>
                <a:latin typeface="Arial"/>
              </a:rPr>
              <a:t>const searchInput = useRef(null)</a:t>
            </a:r>
          </a:p>
          <a:p>
            <a:pPr algn="l">
              <a:spcAft>
                <a:spcPts val="200"/>
              </a:spcAft>
            </a:pPr>
            <a:r>
              <a:rPr sz="900" b="0">
                <a:solidFill>
                  <a:srgbClr val="9CDCFE"/>
                </a:solidFill>
                <a:latin typeface="Arial"/>
              </a:rPr>
              <a:t>useEffect(() =&gt; { searchInput.current?.focus() }, [])</a:t>
            </a:r>
          </a:p>
          <a:p>
            <a:pPr algn="l">
              <a:spcAft>
                <a:spcPts val="200"/>
              </a:spcAft>
            </a:pPr>
            <a:r>
              <a:rPr sz="900" b="0">
                <a:solidFill>
                  <a:srgbClr val="9CDCFE"/>
                </a:solidFill>
                <a:latin typeface="Arial"/>
              </a:rPr>
              <a:t>&lt;SearchBar inputRef={searchInput} ... /&gt;</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 HomePage.jsx — scroll the grid into view</a:t>
            </a:r>
          </a:p>
          <a:p>
            <a:pPr algn="l">
              <a:spcAft>
                <a:spcPts val="200"/>
              </a:spcAft>
            </a:pPr>
            <a:r>
              <a:rPr sz="900" b="0">
                <a:solidFill>
                  <a:srgbClr val="9CDCFE"/>
                </a:solidFill>
                <a:latin typeface="Arial"/>
              </a:rPr>
              <a:t>const popularRef = useRef(null)</a:t>
            </a:r>
          </a:p>
          <a:p>
            <a:pPr algn="l">
              <a:spcAft>
                <a:spcPts val="200"/>
              </a:spcAft>
            </a:pPr>
            <a:r>
              <a:rPr sz="900" b="0">
                <a:solidFill>
                  <a:srgbClr val="9CDCFE"/>
                </a:solidFill>
                <a:latin typeface="Arial"/>
              </a:rPr>
              <a:t>const scrollToCourses = () =&gt;</a:t>
            </a:r>
          </a:p>
          <a:p>
            <a:pPr algn="l">
              <a:spcAft>
                <a:spcPts val="200"/>
              </a:spcAft>
            </a:pPr>
            <a:r>
              <a:rPr sz="900" b="0">
                <a:solidFill>
                  <a:srgbClr val="9CDCFE"/>
                </a:solidFill>
                <a:latin typeface="Arial"/>
              </a:rPr>
              <a:t>  popularRef.current?.scrollIntoView({ behavior: 'smooth' })</a:t>
            </a:r>
          </a:p>
          <a:p>
            <a:pPr algn="l">
              <a:spcAft>
                <a:spcPts val="200"/>
              </a:spcAft>
            </a:pPr>
            <a:r>
              <a:rPr sz="900" b="0">
                <a:solidFill>
                  <a:srgbClr val="9CDCFE"/>
                </a:solidFill>
                <a:latin typeface="Arial"/>
              </a:rPr>
              <a:t>&lt;Hero onBrowse={scrollToCourses} /&gt;</a:t>
            </a:r>
          </a:p>
          <a:p>
            <a:pPr algn="l">
              <a:spcAft>
                <a:spcPts val="200"/>
              </a:spcAft>
            </a:pPr>
            <a:r>
              <a:rPr sz="900" b="0">
                <a:solidFill>
                  <a:srgbClr val="9CDCFE"/>
                </a:solidFill>
                <a:latin typeface="Arial"/>
              </a:rPr>
              <a:t>&lt;section ref={popularRef}&gt;...&lt;/section&gt;</a:t>
            </a:r>
          </a:p>
          <a:p>
            <a:pPr algn="l">
              <a:spcAft>
                <a:spcPts val="200"/>
              </a:spcAft>
            </a:pPr>
            <a:r>
              <a:rPr sz="90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Refs are the three things the declarative world cannot say: put the cursor here, scroll there, hold this receipt.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CONTEXT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useContext ends prop drilling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Prop drilling is threading a value through components that do not use it, just to reach a deep child.</a:t>
            </a:r>
          </a:p>
          <a:p>
            <a:pPr>
              <a:spcAft>
                <a:spcPts val="900"/>
              </a:spcAft>
            </a:pPr>
            <a:r>
              <a:rPr sz="1300" b="0">
                <a:solidFill>
                  <a:srgbClr val="161B26"/>
                </a:solidFill>
                <a:latin typeface="Arial"/>
              </a:rPr>
              <a:t>•  Context provides a value once high in the tree and lets any component below read it directly.</a:t>
            </a:r>
          </a:p>
          <a:p>
            <a:pPr>
              <a:spcAft>
                <a:spcPts val="900"/>
              </a:spcAft>
            </a:pPr>
            <a:r>
              <a:rPr sz="1300" b="0">
                <a:solidFill>
                  <a:srgbClr val="161B26"/>
                </a:solidFill>
                <a:latin typeface="Arial"/>
              </a:rPr>
              <a:t>•  Create a context, wrap a subtree in its Provider, and read it with useContext — or a custom hook.</a:t>
            </a:r>
          </a:p>
          <a:p>
            <a:pPr>
              <a:spcAft>
                <a:spcPts val="900"/>
              </a:spcAft>
            </a:pPr>
            <a:r>
              <a:rPr sz="1300" b="0">
                <a:solidFill>
                  <a:srgbClr val="161B26"/>
                </a:solidFill>
                <a:latin typeface="Arial"/>
              </a:rPr>
              <a:t>•  Cook &amp; Bake has three: ThemeContext (dark mode), AuthContext (the user), CartContext (shortlist).</a:t>
            </a:r>
          </a:p>
          <a:p>
            <a:pPr>
              <a:spcAft>
                <a:spcPts val="900"/>
              </a:spcAft>
            </a:pPr>
            <a:r>
              <a:rPr sz="1300" b="0">
                <a:solidFill>
                  <a:srgbClr val="161B26"/>
                </a:solidFill>
                <a:latin typeface="Arial"/>
              </a:rPr>
              <a:t>•  Do not use context for fast-changing values like keystrokes — every consumer re-renders on change.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Provide once, read anywhere with useContext — no more prop drilling.</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src/context/CartContext.jsx (real code)</a:t>
            </a:r>
          </a:p>
          <a:p>
            <a:pPr algn="l">
              <a:spcAft>
                <a:spcPts val="200"/>
              </a:spcAft>
            </a:pPr>
            <a:r>
              <a:rPr sz="1095" b="0">
                <a:solidFill>
                  <a:srgbClr val="9CDCFE"/>
                </a:solidFill>
                <a:latin typeface="Arial"/>
              </a:rPr>
              <a:t>export function useCart() {</a:t>
            </a:r>
          </a:p>
          <a:p>
            <a:pPr algn="l">
              <a:spcAft>
                <a:spcPts val="200"/>
              </a:spcAft>
            </a:pPr>
            <a:r>
              <a:rPr sz="1095" b="0">
                <a:solidFill>
                  <a:srgbClr val="9CDCFE"/>
                </a:solidFill>
                <a:latin typeface="Arial"/>
              </a:rPr>
              <a:t>  const ctx = useContext(CartContext)</a:t>
            </a:r>
          </a:p>
          <a:p>
            <a:pPr algn="l">
              <a:spcAft>
                <a:spcPts val="200"/>
              </a:spcAft>
            </a:pPr>
            <a:r>
              <a:rPr sz="1095" b="0">
                <a:solidFill>
                  <a:srgbClr val="9CDCFE"/>
                </a:solidFill>
                <a:latin typeface="Arial"/>
              </a:rPr>
              <a:t>  if (!ctx) throw new Error('useCart needs &lt;CartProvider&gt;')</a:t>
            </a:r>
          </a:p>
          <a:p>
            <a:pPr algn="l">
              <a:spcAft>
                <a:spcPts val="200"/>
              </a:spcAft>
            </a:pPr>
            <a:r>
              <a:rPr sz="1095" b="0">
                <a:solidFill>
                  <a:srgbClr val="9CDCFE"/>
                </a:solidFill>
                <a:latin typeface="Arial"/>
              </a:rPr>
              <a:t>  return ctx</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Anywhere, at any depth, with no prop drilling:</a:t>
            </a:r>
          </a:p>
          <a:p>
            <a:pPr algn="l">
              <a:spcAft>
                <a:spcPts val="200"/>
              </a:spcAft>
            </a:pPr>
            <a:r>
              <a:rPr sz="1095" b="0">
                <a:solidFill>
                  <a:srgbClr val="9CDCFE"/>
                </a:solidFill>
                <a:latin typeface="Arial"/>
              </a:rPr>
              <a:t>const { count } = useCart()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Context is a building's PA system — announce once and any floor hears it, instead of passing a note desk to desk down every level.</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REDUCER &amp; HOOKS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useReducer and custom hooks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useReducer suits state with several related actions, like a shortlist's add, remove and clear.</a:t>
            </a:r>
          </a:p>
          <a:p>
            <a:pPr>
              <a:spcAft>
                <a:spcPts val="900"/>
              </a:spcAft>
            </a:pPr>
            <a:r>
              <a:rPr sz="1300" b="0">
                <a:solidFill>
                  <a:srgbClr val="161B26"/>
                </a:solidFill>
                <a:latin typeface="Arial"/>
              </a:rPr>
              <a:t>•  A reducer is a pure function (state, action) =&gt; newState — same inputs always give the same output.</a:t>
            </a:r>
          </a:p>
          <a:p>
            <a:pPr>
              <a:spcAft>
                <a:spcPts val="900"/>
              </a:spcAft>
            </a:pPr>
            <a:r>
              <a:rPr sz="1300" b="0">
                <a:solidFill>
                  <a:srgbClr val="161B26"/>
                </a:solidFill>
                <a:latin typeface="Arial"/>
              </a:rPr>
              <a:t>•  It must build and return new state, never mutate the state it was handed.</a:t>
            </a:r>
          </a:p>
          <a:p>
            <a:pPr>
              <a:spcAft>
                <a:spcPts val="900"/>
              </a:spcAft>
            </a:pPr>
            <a:r>
              <a:rPr sz="1300" b="0">
                <a:solidFill>
                  <a:srgbClr val="161B26"/>
                </a:solidFill>
                <a:latin typeface="Arial"/>
              </a:rPr>
              <a:t>•  A custom hook is a function starting with 'use' that bundles hook logic for reuse.</a:t>
            </a:r>
          </a:p>
          <a:p>
            <a:pPr>
              <a:spcAft>
                <a:spcPts val="900"/>
              </a:spcAft>
            </a:pPr>
            <a:r>
              <a:rPr sz="1300" b="0">
                <a:solidFill>
                  <a:srgbClr val="161B26"/>
                </a:solidFill>
                <a:latin typeface="Arial"/>
              </a:rPr>
              <a:t>•  Custom hooks share LOGIC, not state — each caller of useLocalStorage gets its own key and value.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Reducers are pure (state, action) =&gt; newState; custom hooks share logic, not state.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function cartReducer(state, action) {</a:t>
            </a:r>
          </a:p>
          <a:p>
            <a:pPr algn="l">
              <a:spcAft>
                <a:spcPts val="200"/>
              </a:spcAft>
            </a:pPr>
            <a:r>
              <a:rPr sz="900" b="0">
                <a:solidFill>
                  <a:srgbClr val="9CDCFE"/>
                </a:solidFill>
                <a:latin typeface="Arial"/>
              </a:rPr>
              <a:t>  switch (action.type) {</a:t>
            </a:r>
          </a:p>
          <a:p>
            <a:pPr algn="l">
              <a:spcAft>
                <a:spcPts val="200"/>
              </a:spcAft>
            </a:pPr>
            <a:r>
              <a:rPr sz="900" b="0">
                <a:solidFill>
                  <a:srgbClr val="9CDCFE"/>
                </a:solidFill>
                <a:latin typeface="Arial"/>
              </a:rPr>
              <a:t>    case 'ADD':</a:t>
            </a:r>
          </a:p>
          <a:p>
            <a:pPr algn="l">
              <a:spcAft>
                <a:spcPts val="200"/>
              </a:spcAft>
            </a:pPr>
            <a:r>
              <a:rPr sz="900" b="0">
                <a:solidFill>
                  <a:srgbClr val="9CDCFE"/>
                </a:solidFill>
                <a:latin typeface="Arial"/>
              </a:rPr>
              <a:t>      return state.some((c) =&gt; c.id === action.course.id)</a:t>
            </a:r>
          </a:p>
          <a:p>
            <a:pPr algn="l">
              <a:spcAft>
                <a:spcPts val="200"/>
              </a:spcAft>
            </a:pPr>
            <a:r>
              <a:rPr sz="900" b="0">
                <a:solidFill>
                  <a:srgbClr val="9CDCFE"/>
                </a:solidFill>
                <a:latin typeface="Arial"/>
              </a:rPr>
              <a:t>        ? state</a:t>
            </a:r>
          </a:p>
          <a:p>
            <a:pPr algn="l">
              <a:spcAft>
                <a:spcPts val="200"/>
              </a:spcAft>
            </a:pPr>
            <a:r>
              <a:rPr sz="900" b="0">
                <a:solidFill>
                  <a:srgbClr val="9CDCFE"/>
                </a:solidFill>
                <a:latin typeface="Arial"/>
              </a:rPr>
              <a:t>        : [...state, action.course]</a:t>
            </a:r>
          </a:p>
          <a:p>
            <a:pPr algn="l">
              <a:spcAft>
                <a:spcPts val="200"/>
              </a:spcAft>
            </a:pPr>
            <a:r>
              <a:rPr sz="900" b="0">
                <a:solidFill>
                  <a:srgbClr val="9CDCFE"/>
                </a:solidFill>
                <a:latin typeface="Arial"/>
              </a:rPr>
              <a:t>    case 'REMOVE':</a:t>
            </a:r>
          </a:p>
          <a:p>
            <a:pPr algn="l">
              <a:spcAft>
                <a:spcPts val="200"/>
              </a:spcAft>
            </a:pPr>
            <a:r>
              <a:rPr sz="900" b="0">
                <a:solidFill>
                  <a:srgbClr val="9CDCFE"/>
                </a:solidFill>
                <a:latin typeface="Arial"/>
              </a:rPr>
              <a:t>      return state.filter((c) =&gt; c.id !== action.id)</a:t>
            </a:r>
          </a:p>
          <a:p>
            <a:pPr algn="l">
              <a:spcAft>
                <a:spcPts val="200"/>
              </a:spcAft>
            </a:pPr>
            <a:r>
              <a:rPr sz="900" b="0">
                <a:solidFill>
                  <a:srgbClr val="9CDCFE"/>
                </a:solidFill>
                <a:latin typeface="Arial"/>
              </a:rPr>
              <a:t>    default: return state</a:t>
            </a:r>
          </a:p>
          <a:p>
            <a:pPr algn="l">
              <a:spcAft>
                <a:spcPts val="200"/>
              </a:spcAft>
            </a:pPr>
            <a:r>
              <a:rPr sz="900" b="0">
                <a:solidFill>
                  <a:srgbClr val="9CDCFE"/>
                </a:solidFill>
                <a:latin typeface="Arial"/>
              </a:rPr>
              <a:t>  }</a:t>
            </a:r>
          </a:p>
          <a:p>
            <a:pPr algn="l">
              <a:spcAft>
                <a:spcPts val="200"/>
              </a:spcAft>
            </a:pPr>
            <a:r>
              <a:rPr sz="900" b="0">
                <a:solidFill>
                  <a:srgbClr val="9CDCFE"/>
                </a:solidFill>
                <a:latin typeface="Arial"/>
              </a:rPr>
              <a:t>}</a:t>
            </a:r>
          </a:p>
          <a:p>
            <a:pPr algn="l">
              <a:spcAft>
                <a:spcPts val="200"/>
              </a:spcAft>
            </a:pPr>
            <a:r>
              <a:rPr sz="90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reducer is a vending machine — press a labelled button (an action) and get a predictable new state, every time.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LIFECYCLE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 component has a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Every component passes through three phases: it mounts, it updates, and it unmounts.</a:t>
            </a:r>
          </a:p>
          <a:p>
            <a:pPr>
              <a:spcAft>
                <a:spcPts val="1000"/>
              </a:spcAft>
            </a:pPr>
            <a:r>
              <a:rPr sz="1300" b="0">
                <a:solidFill>
                  <a:srgbClr val="161B26"/>
                </a:solidFill>
                <a:latin typeface="Arial"/>
              </a:rPr>
              <a:t>•  Mount is the first render; update happens whenever state or props change; unmount is removal.</a:t>
            </a:r>
          </a:p>
          <a:p>
            <a:pPr>
              <a:spcAft>
                <a:spcPts val="1000"/>
              </a:spcAft>
            </a:pPr>
            <a:r>
              <a:rPr sz="1300" b="0">
                <a:solidFill>
                  <a:srgbClr val="161B26"/>
                </a:solidFill>
                <a:latin typeface="Arial"/>
              </a:rPr>
              <a:t>•  With function components you tap into all three phases through the useEffect hook.</a:t>
            </a:r>
          </a:p>
          <a:p>
            <a:pPr>
              <a:spcAft>
                <a:spcPts val="1000"/>
              </a:spcAft>
            </a:pPr>
            <a:r>
              <a:rPr sz="1300" b="0">
                <a:solidFill>
                  <a:srgbClr val="161B26"/>
                </a:solidFill>
                <a:latin typeface="Arial"/>
              </a:rPr>
              <a:t>•  This cycle is why effects need cleanup — the unmount phase is where you tear things down.</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ct-lifecycle-1.png"/>
          <p:cNvPicPr>
            <a:picLocks noChangeAspect="1"/>
          </p:cNvPicPr>
          <p:nvPr/>
        </p:nvPicPr>
        <p:blipFill>
          <a:blip r:embed="rId2"/>
          <a:stretch>
            <a:fillRect/>
          </a:stretch>
        </p:blipFill>
        <p:spPr>
          <a:xfrm>
            <a:off x="6131307" y="1892808"/>
            <a:ext cx="4955537" cy="3575304"/>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Mount, update, unmount — the three phases useEffect lets you hook into.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WHY HOOKS EXIST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class lifecycle useEffect replaced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This is the OLD class-component API. You will not write any of these methods in this course.</a:t>
            </a:r>
          </a:p>
          <a:p>
            <a:pPr>
              <a:spcAft>
                <a:spcPts val="1000"/>
              </a:spcAft>
            </a:pPr>
            <a:r>
              <a:rPr sz="1300" b="0">
                <a:solidFill>
                  <a:srgbClr val="161B26"/>
                </a:solidFill>
                <a:latin typeface="Arial"/>
              </a:rPr>
              <a:t>•  Logic for one feature was scattered across componentDidMount, componentDidUpdate and componentWillUnmount.</a:t>
            </a:r>
          </a:p>
          <a:p>
            <a:pPr>
              <a:spcAft>
                <a:spcPts val="1000"/>
              </a:spcAft>
            </a:pPr>
            <a:r>
              <a:rPr sz="1300" b="0">
                <a:solidFill>
                  <a:srgbClr val="161B26"/>
                </a:solidFill>
                <a:latin typeface="Arial"/>
              </a:rPr>
              <a:t>•  Subscribe in one method, update in a second, unsubscribe in a third — easy to forget the third.</a:t>
            </a:r>
          </a:p>
          <a:p>
            <a:pPr>
              <a:spcAft>
                <a:spcPts val="1000"/>
              </a:spcAft>
            </a:pPr>
            <a:r>
              <a:rPr sz="1300" b="0">
                <a:solidFill>
                  <a:srgbClr val="161B26"/>
                </a:solidFill>
                <a:latin typeface="Arial"/>
              </a:rPr>
              <a:t>•  One useEffect replaces all three: the body handles mount and update, the returned function handles unmount.</a:t>
            </a:r>
          </a:p>
          <a:p>
            <a:pPr>
              <a:spcAft>
                <a:spcPts val="1000"/>
              </a:spcAft>
            </a:pPr>
            <a:r>
              <a:rPr sz="1300" b="0">
                <a:solidFill>
                  <a:srgbClr val="161B26"/>
                </a:solidFill>
                <a:latin typeface="Arial"/>
              </a:rPr>
              <a:t>•  You will still meet this diagram in older codebases and in AI-generated code trained on them.</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ct-lifecycle-2.png"/>
          <p:cNvPicPr>
            <a:picLocks noChangeAspect="1"/>
          </p:cNvPicPr>
          <p:nvPr/>
        </p:nvPicPr>
        <p:blipFill>
          <a:blip r:embed="rId2"/>
          <a:stretch>
            <a:fillRect/>
          </a:stretch>
        </p:blipFill>
        <p:spPr>
          <a:xfrm>
            <a:off x="5916168" y="2211601"/>
            <a:ext cx="5385816" cy="2937717"/>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The class-era lifecycle methods. A single useEffect now covers all three columns.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useState — State, Snapshots and Immutability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Cook &amp; Bake Academy can be browsed but not USED. The learner adds a course shortlist owned by App, meets the Rules of Hooks, and learns why state is a snapshot, why the updater form exists, and why mutating an array never re-renders.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course shortlist owned by App, with Add / Remove buttons on every course card and a running S$ total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useState, the Rules of Hooks, immutable updates, lifting state up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useState &amp; immutable updates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The shortlist lives in context, persisted to storage.</a:t>
            </a:r>
          </a:p>
          <a:p>
            <a:pPr algn="l">
              <a:spcAft>
                <a:spcPts val="200"/>
              </a:spcAft>
            </a:pPr>
            <a:r>
              <a:rPr sz="1250" b="0">
                <a:solidFill>
                  <a:srgbClr val="9CDCFE"/>
                </a:solidFill>
                <a:latin typeface="Arial"/>
              </a:rPr>
              <a:t>const [items, setItems] = useLocalStorage('cart', [])</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addItem = (course) =&gt;</a:t>
            </a:r>
          </a:p>
          <a:p>
            <a:pPr algn="l">
              <a:spcAft>
                <a:spcPts val="200"/>
              </a:spcAft>
            </a:pPr>
            <a:r>
              <a:rPr sz="1250" b="0">
                <a:solidFill>
                  <a:srgbClr val="9CDCFE"/>
                </a:solidFill>
                <a:latin typeface="Arial"/>
              </a:rPr>
              <a:t>  setItems((prev) =&gt;</a:t>
            </a:r>
          </a:p>
          <a:p>
            <a:pPr algn="l">
              <a:spcAft>
                <a:spcPts val="200"/>
              </a:spcAft>
            </a:pPr>
            <a:r>
              <a:rPr sz="1250" b="0">
                <a:solidFill>
                  <a:srgbClr val="9CDCFE"/>
                </a:solidFill>
                <a:latin typeface="Arial"/>
              </a:rPr>
              <a:t>    // Immutable: build a NEW array, never push().</a:t>
            </a:r>
          </a:p>
          <a:p>
            <a:pPr algn="l">
              <a:spcAft>
                <a:spcPts val="200"/>
              </a:spcAft>
            </a:pPr>
            <a:r>
              <a:rPr sz="1250" b="0">
                <a:solidFill>
                  <a:srgbClr val="9CDCFE"/>
                </a:solidFill>
                <a:latin typeface="Arial"/>
              </a:rPr>
              <a:t>    prev.some((c) =&gt; c.id === course.id)</a:t>
            </a:r>
          </a:p>
          <a:p>
            <a:pPr algn="l">
              <a:spcAft>
                <a:spcPts val="200"/>
              </a:spcAft>
            </a:pPr>
            <a:r>
              <a:rPr sz="1250" b="0">
                <a:solidFill>
                  <a:srgbClr val="9CDCFE"/>
                </a:solidFill>
                <a:latin typeface="Arial"/>
              </a:rPr>
              <a:t>      ? prev</a:t>
            </a:r>
          </a:p>
          <a:p>
            <a:pPr algn="l">
              <a:spcAft>
                <a:spcPts val="200"/>
              </a:spcAft>
            </a:pPr>
            <a:r>
              <a:rPr sz="1250" b="0">
                <a:solidFill>
                  <a:srgbClr val="9CDCFE"/>
                </a:solidFill>
                <a:latin typeface="Arial"/>
              </a:rPr>
              <a:t>      : [...prev, course])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removeItem = (id) =&gt;</a:t>
            </a:r>
          </a:p>
          <a:p>
            <a:pPr algn="l">
              <a:spcAft>
                <a:spcPts val="200"/>
              </a:spcAft>
            </a:pPr>
            <a:r>
              <a:rPr sz="1250" b="0">
                <a:solidFill>
                  <a:srgbClr val="9CDCFE"/>
                </a:solidFill>
                <a:latin typeface="Arial"/>
              </a:rPr>
              <a:t>  setItems((prev) =&gt; prev.filter((c) =&gt; c.id !== id))</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shortlist lives once, in CartContext — the single owner of that state.</a:t>
            </a:r>
          </a:p>
          <a:p>
            <a:pPr>
              <a:spcAft>
                <a:spcPts val="1000"/>
              </a:spcAft>
            </a:pPr>
            <a:r>
              <a:rPr sz="1250" b="0">
                <a:solidFill>
                  <a:srgbClr val="161B26"/>
                </a:solidFill>
                <a:latin typeface="Arial"/>
              </a:rPr>
              <a:t>•  Build a NEW array with the spread ...prev; never mutate with items.push().</a:t>
            </a:r>
          </a:p>
          <a:p>
            <a:pPr>
              <a:spcAft>
                <a:spcPts val="1000"/>
              </a:spcAft>
            </a:pPr>
            <a:r>
              <a:rPr sz="1250" b="0">
                <a:solidFill>
                  <a:srgbClr val="161B26"/>
                </a:solidFill>
                <a:latin typeface="Arial"/>
              </a:rPr>
              <a:t>•  The updater form (prev =&gt; ...) always reads the latest state, so it is safe.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'dumb' presentational component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src/components/CourseCard.jsx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CourseCard holds no cart state. It just renders a</a:t>
            </a:r>
          </a:p>
          <a:p>
            <a:pPr algn="l">
              <a:spcAft>
                <a:spcPts val="200"/>
              </a:spcAft>
            </a:pPr>
            <a:r>
              <a:rPr sz="1250" b="0">
                <a:solidFill>
                  <a:srgbClr val="9CDCFE"/>
                </a:solidFill>
                <a:latin typeface="Arial"/>
              </a:rPr>
              <a:t>// course and links to it. The Add-to-shortlist button</a:t>
            </a:r>
          </a:p>
          <a:p>
            <a:pPr algn="l">
              <a:spcAft>
                <a:spcPts val="200"/>
              </a:spcAft>
            </a:pPr>
            <a:r>
              <a:rPr sz="1250" b="0">
                <a:solidFill>
                  <a:srgbClr val="9CDCFE"/>
                </a:solidFill>
                <a:latin typeface="Arial"/>
              </a:rPr>
              <a:t>// lives on the detail page and calls addItem(course)</a:t>
            </a:r>
          </a:p>
          <a:p>
            <a:pPr algn="l">
              <a:spcAft>
                <a:spcPts val="200"/>
              </a:spcAft>
            </a:pPr>
            <a:r>
              <a:rPr sz="1250" b="0">
                <a:solidFill>
                  <a:srgbClr val="9CDCFE"/>
                </a:solidFill>
                <a:latin typeface="Arial"/>
              </a:rPr>
              <a:t>// from context — the card stays pure.</a:t>
            </a:r>
          </a:p>
          <a:p>
            <a:pPr algn="l">
              <a:spcAft>
                <a:spcPts val="200"/>
              </a:spcAft>
            </a:pPr>
            <a:r>
              <a:rPr sz="1250" b="0">
                <a:solidFill>
                  <a:srgbClr val="9CDCFE"/>
                </a:solidFill>
                <a:latin typeface="Arial"/>
              </a:rPr>
              <a:t>export default function CourseCard({ course }) {</a:t>
            </a:r>
          </a:p>
          <a:p>
            <a:pPr algn="l">
              <a:spcAft>
                <a:spcPts val="200"/>
              </a:spcAft>
            </a:pPr>
            <a:r>
              <a:rPr sz="1250" b="0">
                <a:solidFill>
                  <a:srgbClr val="9CDCFE"/>
                </a:solidFill>
                <a:latin typeface="Arial"/>
              </a:rPr>
              <a:t>  const { slug, title, fee } = course</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&lt;Link to={`/courses/${slug}`} className="card"&gt;</a:t>
            </a:r>
          </a:p>
          <a:p>
            <a:pPr algn="l">
              <a:spcAft>
                <a:spcPts val="200"/>
              </a:spcAft>
            </a:pPr>
            <a:r>
              <a:rPr sz="1250" b="0">
                <a:solidFill>
                  <a:srgbClr val="9CDCFE"/>
                </a:solidFill>
                <a:latin typeface="Arial"/>
              </a:rPr>
              <a:t>      &lt;h3&gt;{title}&lt;/h3&gt;</a:t>
            </a:r>
          </a:p>
          <a:p>
            <a:pPr algn="l">
              <a:spcAft>
                <a:spcPts val="200"/>
              </a:spcAft>
            </a:pPr>
            <a:r>
              <a:rPr sz="1250" b="0">
                <a:solidFill>
                  <a:srgbClr val="9CDCFE"/>
                </a:solidFill>
                <a:latin typeface="Arial"/>
              </a:rPr>
              <a:t>      &lt;span className="card__price"&gt;S${fee}&lt;/span&gt;</a:t>
            </a:r>
          </a:p>
          <a:p>
            <a:pPr algn="l">
              <a:spcAft>
                <a:spcPts val="200"/>
              </a:spcAft>
            </a:pPr>
            <a:r>
              <a:rPr sz="1250" b="0">
                <a:solidFill>
                  <a:srgbClr val="9CDCFE"/>
                </a:solidFill>
                <a:latin typeface="Arial"/>
              </a:rPr>
              <a:t>    &lt;/Link&gt;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CourseCard holds no state; everything it draws arrives in the single `course` prop.</a:t>
            </a:r>
          </a:p>
          <a:p>
            <a:pPr>
              <a:spcAft>
                <a:spcPts val="1000"/>
              </a:spcAft>
            </a:pPr>
            <a:r>
              <a:rPr sz="1250" b="0">
                <a:solidFill>
                  <a:srgbClr val="161B26"/>
                </a:solidFill>
                <a:latin typeface="Arial"/>
              </a:rPr>
              <a:t>•  State lives in context, read where it is needed — the card is reusable anywhere.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useState — State, Snapshots and Immutability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Clicking 'Add to shortlist' on Artisan Sourdough (S$680) adds it and the button flips to Remove; the navbar count and the S$ total both update; adding the same course twice does nothing.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useEffect — Side Effects and Cleanup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shortlist is wiped on every refresh. The learner writes three effects — a document title, a localStorage save, and an enrolment-deadline countdown — and learns the dependency array, the cleanup function, and why StrictMode runs effects twice.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live browser-tab title, a shortlist persisted to localStorage, and a countdown to the next intake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useEffect, dependency arrays, cleanup functions, StrictMode, localStorage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useEffect with a cleanup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src/hooks/useDebounce.js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function useDebounce(value, delay = 300) {</a:t>
            </a:r>
          </a:p>
          <a:p>
            <a:pPr algn="l">
              <a:spcAft>
                <a:spcPts val="200"/>
              </a:spcAft>
            </a:pPr>
            <a:r>
              <a:rPr sz="1250" b="0">
                <a:solidFill>
                  <a:srgbClr val="9CDCFE"/>
                </a:solidFill>
                <a:latin typeface="Arial"/>
              </a:rPr>
              <a:t>  const [debounced, setDebounced] = useState(value)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useEffect(() =&gt; {</a:t>
            </a:r>
          </a:p>
          <a:p>
            <a:pPr algn="l">
              <a:spcAft>
                <a:spcPts val="200"/>
              </a:spcAft>
            </a:pPr>
            <a:r>
              <a:rPr sz="1250" b="0">
                <a:solidFill>
                  <a:srgbClr val="9CDCFE"/>
                </a:solidFill>
                <a:latin typeface="Arial"/>
              </a:rPr>
              <a:t>    const id = setTimeout(</a:t>
            </a:r>
          </a:p>
          <a:p>
            <a:pPr algn="l">
              <a:spcAft>
                <a:spcPts val="200"/>
              </a:spcAft>
            </a:pPr>
            <a:r>
              <a:rPr sz="1250" b="0">
                <a:solidFill>
                  <a:srgbClr val="9CDCFE"/>
                </a:solidFill>
                <a:latin typeface="Arial"/>
              </a:rPr>
              <a:t>      () =&gt; setDebounced(value), delay)</a:t>
            </a:r>
          </a:p>
          <a:p>
            <a:pPr algn="l">
              <a:spcAft>
                <a:spcPts val="200"/>
              </a:spcAft>
            </a:pPr>
            <a:r>
              <a:rPr sz="1250" b="0">
                <a:solidFill>
                  <a:srgbClr val="9CDCFE"/>
                </a:solidFill>
                <a:latin typeface="Arial"/>
              </a:rPr>
              <a:t>    // Cleanup cancels the pending timer on every</a:t>
            </a:r>
          </a:p>
          <a:p>
            <a:pPr algn="l">
              <a:spcAft>
                <a:spcPts val="200"/>
              </a:spcAft>
            </a:pPr>
            <a:r>
              <a:rPr sz="1250" b="0">
                <a:solidFill>
                  <a:srgbClr val="9CDCFE"/>
                </a:solidFill>
                <a:latin typeface="Arial"/>
              </a:rPr>
              <a:t>    // keystroke — without it, a fast typist fires</a:t>
            </a:r>
          </a:p>
          <a:p>
            <a:pPr algn="l">
              <a:spcAft>
                <a:spcPts val="200"/>
              </a:spcAft>
            </a:pPr>
            <a:r>
              <a:rPr sz="1250" b="0">
                <a:solidFill>
                  <a:srgbClr val="9CDCFE"/>
                </a:solidFill>
                <a:latin typeface="Arial"/>
              </a:rPr>
              <a:t>    // the effect early and the search feels janky.</a:t>
            </a:r>
          </a:p>
          <a:p>
            <a:pPr algn="l">
              <a:spcAft>
                <a:spcPts val="200"/>
              </a:spcAft>
            </a:pPr>
            <a:r>
              <a:rPr sz="1250" b="0">
                <a:solidFill>
                  <a:srgbClr val="9CDCFE"/>
                </a:solidFill>
                <a:latin typeface="Arial"/>
              </a:rPr>
              <a:t>    return () =&gt; clearTimeout(id)</a:t>
            </a:r>
          </a:p>
          <a:p>
            <a:pPr algn="l">
              <a:spcAft>
                <a:spcPts val="200"/>
              </a:spcAft>
            </a:pPr>
            <a:r>
              <a:rPr sz="1250" b="0">
                <a:solidFill>
                  <a:srgbClr val="9CDCFE"/>
                </a:solidFill>
                <a:latin typeface="Arial"/>
              </a:rPr>
              <a:t>  }, [value, delay])</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debounced</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setTimeout schedules the update; the returned function is the cleanup.</a:t>
            </a:r>
          </a:p>
          <a:p>
            <a:pPr>
              <a:spcAft>
                <a:spcPts val="1000"/>
              </a:spcAft>
            </a:pPr>
            <a:r>
              <a:rPr sz="1250" b="0">
                <a:solidFill>
                  <a:srgbClr val="161B26"/>
                </a:solidFill>
                <a:latin typeface="Arial"/>
              </a:rPr>
              <a:t>•  Each keystroke's cleanup clears the previous timer, so only the last one fires.</a:t>
            </a:r>
          </a:p>
          <a:p>
            <a:pPr>
              <a:spcAft>
                <a:spcPts val="1000"/>
              </a:spcAft>
            </a:pPr>
            <a:r>
              <a:rPr sz="1250" b="0">
                <a:solidFill>
                  <a:srgbClr val="161B26"/>
                </a:solidFill>
                <a:latin typeface="Arial"/>
              </a:rPr>
              <a:t>•  StrictMode double-invokes this in dev to prove the cleanup is really there.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 effect that syncs with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src/context/ThemeContext.jsx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const [theme, setTheme] = useLocalStorage('theme', 'light')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The one side effect: mirror the chosen theme onto</a:t>
            </a:r>
          </a:p>
          <a:p>
            <a:pPr algn="l">
              <a:spcAft>
                <a:spcPts val="200"/>
              </a:spcAft>
            </a:pPr>
            <a:r>
              <a:rPr sz="1250" b="0">
                <a:solidFill>
                  <a:srgbClr val="9CDCFE"/>
                </a:solidFill>
                <a:latin typeface="Arial"/>
              </a:rPr>
              <a:t>// &lt;html data-theme="..."&gt;, which index.css keys its</a:t>
            </a:r>
          </a:p>
          <a:p>
            <a:pPr algn="l">
              <a:spcAft>
                <a:spcPts val="200"/>
              </a:spcAft>
            </a:pPr>
            <a:r>
              <a:rPr sz="1250" b="0">
                <a:solidFill>
                  <a:srgbClr val="9CDCFE"/>
                </a:solidFill>
                <a:latin typeface="Arial"/>
              </a:rPr>
              <a:t>// dark-mode variables off. Re-runs only when theme changes.</a:t>
            </a:r>
          </a:p>
          <a:p>
            <a:pPr algn="l">
              <a:spcAft>
                <a:spcPts val="200"/>
              </a:spcAft>
            </a:pPr>
            <a:r>
              <a:rPr sz="1250" b="0">
                <a:solidFill>
                  <a:srgbClr val="9CDCFE"/>
                </a:solidFill>
                <a:latin typeface="Arial"/>
              </a:rPr>
              <a:t>useEffect(() =&gt; {</a:t>
            </a:r>
          </a:p>
          <a:p>
            <a:pPr algn="l">
              <a:spcAft>
                <a:spcPts val="200"/>
              </a:spcAft>
            </a:pPr>
            <a:r>
              <a:rPr sz="1250" b="0">
                <a:solidFill>
                  <a:srgbClr val="9CDCFE"/>
                </a:solidFill>
                <a:latin typeface="Arial"/>
              </a:rPr>
              <a:t>  document.documentElement.dataset.theme = theme</a:t>
            </a:r>
          </a:p>
          <a:p>
            <a:pPr algn="l">
              <a:spcAft>
                <a:spcPts val="200"/>
              </a:spcAft>
            </a:pPr>
            <a:r>
              <a:rPr sz="1250" b="0">
                <a:solidFill>
                  <a:srgbClr val="9CDCFE"/>
                </a:solidFill>
                <a:latin typeface="Arial"/>
              </a:rPr>
              <a:t>}, [theme])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toggle = () =&gt;</a:t>
            </a:r>
          </a:p>
          <a:p>
            <a:pPr algn="l">
              <a:spcAft>
                <a:spcPts val="200"/>
              </a:spcAft>
            </a:pPr>
            <a:r>
              <a:rPr sz="1250" b="0">
                <a:solidFill>
                  <a:srgbClr val="9CDCFE"/>
                </a:solidFill>
                <a:latin typeface="Arial"/>
              </a:rPr>
              <a:t>  setTheme((t) =&gt; (t === 'dark' ? 'light' : 'dark'))</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effect re-runs only when `theme` changes — that is what [theme] declares.</a:t>
            </a:r>
          </a:p>
          <a:p>
            <a:pPr>
              <a:spcAft>
                <a:spcPts val="1000"/>
              </a:spcAft>
            </a:pPr>
            <a:r>
              <a:rPr sz="1250" b="0">
                <a:solidFill>
                  <a:srgbClr val="161B26"/>
                </a:solidFill>
                <a:latin typeface="Arial"/>
              </a:rPr>
              <a:t>•  Touching document is a side effect, so it belongs in an effect, never in render.</a:t>
            </a:r>
          </a:p>
          <a:p>
            <a:pPr>
              <a:spcAft>
                <a:spcPts val="1000"/>
              </a:spcAft>
            </a:pPr>
            <a:r>
              <a:rPr sz="1250" b="0">
                <a:solidFill>
                  <a:srgbClr val="161B26"/>
                </a:solidFill>
                <a:latin typeface="Arial"/>
              </a:rPr>
              <a:t>•  useLocalStorage persists the choice, so the theme survives a refresh.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useEffect — Side Effects and Cleanup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tab title tracks the shortlist, the shortlist survives a page refresh, the intake countdown ticks exactly once per second, and removing the clearInterval visibly doubles its speed.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useRef — The DOM Escape Hatch, and What Is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Two things the Cook &amp; Bake catalogue needs are impossible to describe in JSX: putting the cursor in the search box, and scrolling the page to the course grid. Both are browser state, not UI description. The learner uses useRef for both, then draws the dividing line between a ref and state and proves it with a timer.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search box that focuses itself on mount and after every filter chip (CoursesPage), and a hero 'Browse courses' button that smooth-scrolls to the grid (HomePage)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useRef, DOM refs, ref as an ordinary prop in React 19, scrollIntoView, focus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ref vs state — the dividing 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src/pages/CoursesPage.jsx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STATE: the search text. Changing it MUST redraw the</a:t>
            </a:r>
          </a:p>
          <a:p>
            <a:pPr algn="l">
              <a:spcAft>
                <a:spcPts val="200"/>
              </a:spcAft>
            </a:pPr>
            <a:r>
              <a:rPr sz="1250" b="0">
                <a:solidFill>
                  <a:srgbClr val="9CDCFE"/>
                </a:solidFill>
                <a:latin typeface="Arial"/>
              </a:rPr>
              <a:t>// results, so it is state.</a:t>
            </a:r>
          </a:p>
          <a:p>
            <a:pPr algn="l">
              <a:spcAft>
                <a:spcPts val="200"/>
              </a:spcAft>
            </a:pPr>
            <a:r>
              <a:rPr sz="1250" b="0">
                <a:solidFill>
                  <a:srgbClr val="9CDCFE"/>
                </a:solidFill>
                <a:latin typeface="Arial"/>
              </a:rPr>
              <a:t>const [query, setQuery] = useState('')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REF: the real &lt;input&gt; DOM node. Focusing it changes</a:t>
            </a:r>
          </a:p>
          <a:p>
            <a:pPr algn="l">
              <a:spcAft>
                <a:spcPts val="200"/>
              </a:spcAft>
            </a:pPr>
            <a:r>
              <a:rPr sz="1250" b="0">
                <a:solidFill>
                  <a:srgbClr val="9CDCFE"/>
                </a:solidFill>
                <a:latin typeface="Arial"/>
              </a:rPr>
              <a:t>// nothing that is rendered, so it is a ref — bumping</a:t>
            </a:r>
          </a:p>
          <a:p>
            <a:pPr algn="l">
              <a:spcAft>
                <a:spcPts val="200"/>
              </a:spcAft>
            </a:pPr>
            <a:r>
              <a:rPr sz="1250" b="0">
                <a:solidFill>
                  <a:srgbClr val="9CDCFE"/>
                </a:solidFill>
                <a:latin typeface="Arial"/>
              </a:rPr>
              <a:t>// .current never triggers a re-render.</a:t>
            </a:r>
          </a:p>
          <a:p>
            <a:pPr algn="l">
              <a:spcAft>
                <a:spcPts val="200"/>
              </a:spcAft>
            </a:pPr>
            <a:r>
              <a:rPr sz="1250" b="0">
                <a:solidFill>
                  <a:srgbClr val="9CDCFE"/>
                </a:solidFill>
                <a:latin typeface="Arial"/>
              </a:rPr>
              <a:t>const searchInput = useRef(null)</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A timer id would be a ref too: clearing it later</a:t>
            </a:r>
          </a:p>
          <a:p>
            <a:pPr algn="l">
              <a:spcAft>
                <a:spcPts val="200"/>
              </a:spcAft>
            </a:pPr>
            <a:r>
              <a:rPr sz="1250" b="0">
                <a:solidFill>
                  <a:srgbClr val="9CDCFE"/>
                </a:solidFill>
                <a:latin typeface="Arial"/>
              </a:rPr>
              <a:t>// must not cost the user a re-render.</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whole decision: should changing it redraw the screen? Yes = state, no = ref.</a:t>
            </a:r>
          </a:p>
          <a:p>
            <a:pPr>
              <a:spcAft>
                <a:spcPts val="1000"/>
              </a:spcAft>
            </a:pPr>
            <a:r>
              <a:rPr sz="1250" b="0">
                <a:solidFill>
                  <a:srgbClr val="161B26"/>
                </a:solidFill>
                <a:latin typeface="Arial"/>
              </a:rPr>
              <a:t>•  'Is focused' is browser state — there is no JSX that can express it, so you need a ref.</a:t>
            </a:r>
          </a:p>
          <a:p>
            <a:pPr>
              <a:spcAft>
                <a:spcPts val="1000"/>
              </a:spcAft>
            </a:pPr>
            <a:r>
              <a:rPr sz="1250" b="0">
                <a:solidFill>
                  <a:srgbClr val="161B26"/>
                </a:solidFill>
                <a:latin typeface="Arial"/>
              </a:rPr>
              <a:t>•  A timer id in useState would re-render the component on every tick, for nothing.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useRef for focus &amp; scroll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src/pages/CoursesPage.jsx  ·  HomePage.jsx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CoursesPage: focus the search box on mount, and</a:t>
            </a:r>
          </a:p>
          <a:p>
            <a:pPr algn="l">
              <a:spcAft>
                <a:spcPts val="200"/>
              </a:spcAft>
            </a:pPr>
            <a:r>
              <a:rPr sz="1250" b="0">
                <a:solidFill>
                  <a:srgbClr val="9CDCFE"/>
                </a:solidFill>
                <a:latin typeface="Arial"/>
              </a:rPr>
              <a:t>// again after every category chip click.</a:t>
            </a:r>
          </a:p>
          <a:p>
            <a:pPr algn="l">
              <a:spcAft>
                <a:spcPts val="200"/>
              </a:spcAft>
            </a:pPr>
            <a:r>
              <a:rPr sz="1250" b="0">
                <a:solidFill>
                  <a:srgbClr val="9CDCFE"/>
                </a:solidFill>
                <a:latin typeface="Arial"/>
              </a:rPr>
              <a:t>const searchInput = useRef(null)</a:t>
            </a:r>
          </a:p>
          <a:p>
            <a:pPr algn="l">
              <a:spcAft>
                <a:spcPts val="200"/>
              </a:spcAft>
            </a:pPr>
            <a:r>
              <a:rPr sz="1250" b="0">
                <a:solidFill>
                  <a:srgbClr val="9CDCFE"/>
                </a:solidFill>
                <a:latin typeface="Arial"/>
              </a:rPr>
              <a:t>useEffect(() =&gt; { searchInput.current?.focus() }, [])</a:t>
            </a:r>
          </a:p>
          <a:p>
            <a:pPr algn="l">
              <a:spcAft>
                <a:spcPts val="200"/>
              </a:spcAft>
            </a:pPr>
            <a:r>
              <a:rPr sz="1250" b="0">
                <a:solidFill>
                  <a:srgbClr val="9CDCFE"/>
                </a:solidFill>
                <a:latin typeface="Arial"/>
              </a:rPr>
              <a:t>&lt;SearchBar value={query} onChange={setQuery}</a:t>
            </a:r>
          </a:p>
          <a:p>
            <a:pPr algn="l">
              <a:spcAft>
                <a:spcPts val="200"/>
              </a:spcAft>
            </a:pPr>
            <a:r>
              <a:rPr sz="1250" b="0">
                <a:solidFill>
                  <a:srgbClr val="9CDCFE"/>
                </a:solidFill>
                <a:latin typeface="Arial"/>
              </a:rPr>
              <a:t>           inputRef={searchInput} /&gt;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HomePage: the hero button scrolls to the grid.</a:t>
            </a:r>
          </a:p>
          <a:p>
            <a:pPr algn="l">
              <a:spcAft>
                <a:spcPts val="200"/>
              </a:spcAft>
            </a:pPr>
            <a:r>
              <a:rPr sz="1250" b="0">
                <a:solidFill>
                  <a:srgbClr val="9CDCFE"/>
                </a:solidFill>
                <a:latin typeface="Arial"/>
              </a:rPr>
              <a:t>const popularRef = useRef(null)</a:t>
            </a:r>
          </a:p>
          <a:p>
            <a:pPr algn="l">
              <a:spcAft>
                <a:spcPts val="200"/>
              </a:spcAft>
            </a:pPr>
            <a:r>
              <a:rPr sz="1250" b="0">
                <a:solidFill>
                  <a:srgbClr val="9CDCFE"/>
                </a:solidFill>
                <a:latin typeface="Arial"/>
              </a:rPr>
              <a:t>const scrollToCourses = () =&gt;</a:t>
            </a:r>
          </a:p>
          <a:p>
            <a:pPr algn="l">
              <a:spcAft>
                <a:spcPts val="200"/>
              </a:spcAft>
            </a:pPr>
            <a:r>
              <a:rPr sz="1250" b="0">
                <a:solidFill>
                  <a:srgbClr val="9CDCFE"/>
                </a:solidFill>
                <a:latin typeface="Arial"/>
              </a:rPr>
              <a:t>  popularRef.current?.scrollIntoView({ behavior: 'smooth' })</a:t>
            </a:r>
          </a:p>
          <a:p>
            <a:pPr algn="l">
              <a:spcAft>
                <a:spcPts val="200"/>
              </a:spcAft>
            </a:pPr>
            <a:r>
              <a:rPr sz="1250" b="0">
                <a:solidFill>
                  <a:srgbClr val="9CDCFE"/>
                </a:solidFill>
                <a:latin typeface="Arial"/>
              </a:rPr>
              <a:t>&lt;Hero onBrowse={scrollToCourses} /&gt;</a:t>
            </a:r>
          </a:p>
          <a:p>
            <a:pPr algn="l">
              <a:spcAft>
                <a:spcPts val="200"/>
              </a:spcAft>
            </a:pPr>
            <a:r>
              <a:rPr sz="1250" b="0">
                <a:solidFill>
                  <a:srgbClr val="9CDCFE"/>
                </a:solidFill>
                <a:latin typeface="Arial"/>
              </a:rPr>
              <a:t>&lt;section ref={popularRef}&gt;...&lt;/section&gt;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useRef(null) gives a stable box; React fills .current with the DOM node after mount.</a:t>
            </a:r>
          </a:p>
          <a:p>
            <a:pPr>
              <a:spcAft>
                <a:spcPts val="1000"/>
              </a:spcAft>
            </a:pPr>
            <a:r>
              <a:rPr sz="1250" b="0">
                <a:solidFill>
                  <a:srgbClr val="161B26"/>
                </a:solidFill>
                <a:latin typeface="Arial"/>
              </a:rPr>
              <a:t>•  The ref is created in the PARENT and passed down — in React 19 ref is a normal prop.</a:t>
            </a:r>
          </a:p>
          <a:p>
            <a:pPr>
              <a:spcAft>
                <a:spcPts val="1000"/>
              </a:spcAft>
            </a:pPr>
            <a:r>
              <a:rPr sz="1250" b="0">
                <a:solidFill>
                  <a:srgbClr val="161B26"/>
                </a:solidFill>
                <a:latin typeface="Arial"/>
              </a:rPr>
              <a:t>•  Focus and scroll are the classic jobs state cannot do: reach for a ref, sparingly.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useRef — The DOM Escape Hatch, and What Is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search box is focused the moment /courses loads and again after clicking the 🧁 Bakery chip; the hero button smooth-scrolls to the grid; and you can state the rule — redraw the screen means state, otherwise a ref — and point to a line in the app that follows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useContext and useReducer — State Without Prop Drilling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theme toggle in the navbar and the shortlist count are needed six levels apart. The learner feels prop drilling, then moves the theme and the shortlist into React Context, guards each context with a custom hook that fails loudly, and names the shortlist's actions with a reducer.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src/context/ThemeContext.jsx (dark mode) and src/context/CartContext.jsx (the shortlist), both consumed by Navbar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createContext, useContext, useReducer, provider composition, custom guard hooks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pure reducer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A reducer is PURE: (state, action) =&gt; nextState.</a:t>
            </a:r>
          </a:p>
          <a:p>
            <a:pPr algn="l">
              <a:spcAft>
                <a:spcPts val="200"/>
              </a:spcAft>
            </a:pPr>
            <a:r>
              <a:rPr sz="1250" b="0">
                <a:solidFill>
                  <a:srgbClr val="9CDCFE"/>
                </a:solidFill>
                <a:latin typeface="Arial"/>
              </a:rPr>
              <a:t>function cartReducer(state, action) {</a:t>
            </a:r>
          </a:p>
          <a:p>
            <a:pPr algn="l">
              <a:spcAft>
                <a:spcPts val="200"/>
              </a:spcAft>
            </a:pPr>
            <a:r>
              <a:rPr sz="1250" b="0">
                <a:solidFill>
                  <a:srgbClr val="9CDCFE"/>
                </a:solidFill>
                <a:latin typeface="Arial"/>
              </a:rPr>
              <a:t>  switch (action.type) {</a:t>
            </a:r>
          </a:p>
          <a:p>
            <a:pPr algn="l">
              <a:spcAft>
                <a:spcPts val="200"/>
              </a:spcAft>
            </a:pPr>
            <a:r>
              <a:rPr sz="1250" b="0">
                <a:solidFill>
                  <a:srgbClr val="9CDCFE"/>
                </a:solidFill>
                <a:latin typeface="Arial"/>
              </a:rPr>
              <a:t>    case 'ADD':</a:t>
            </a:r>
          </a:p>
          <a:p>
            <a:pPr algn="l">
              <a:spcAft>
                <a:spcPts val="200"/>
              </a:spcAft>
            </a:pPr>
            <a:r>
              <a:rPr sz="1250" b="0">
                <a:solidFill>
                  <a:srgbClr val="9CDCFE"/>
                </a:solidFill>
                <a:latin typeface="Arial"/>
              </a:rPr>
              <a:t>      return state.some((c) =&gt; c.id === action.course.id)</a:t>
            </a:r>
          </a:p>
          <a:p>
            <a:pPr algn="l">
              <a:spcAft>
                <a:spcPts val="200"/>
              </a:spcAft>
            </a:pPr>
            <a:r>
              <a:rPr sz="1250" b="0">
                <a:solidFill>
                  <a:srgbClr val="9CDCFE"/>
                </a:solidFill>
                <a:latin typeface="Arial"/>
              </a:rPr>
              <a:t>        ? state</a:t>
            </a:r>
          </a:p>
          <a:p>
            <a:pPr algn="l">
              <a:spcAft>
                <a:spcPts val="200"/>
              </a:spcAft>
            </a:pPr>
            <a:r>
              <a:rPr sz="1250" b="0">
                <a:solidFill>
                  <a:srgbClr val="9CDCFE"/>
                </a:solidFill>
                <a:latin typeface="Arial"/>
              </a:rPr>
              <a:t>        : [...state, action.course]</a:t>
            </a:r>
          </a:p>
          <a:p>
            <a:pPr algn="l">
              <a:spcAft>
                <a:spcPts val="200"/>
              </a:spcAft>
            </a:pPr>
            <a:r>
              <a:rPr sz="1250" b="0">
                <a:solidFill>
                  <a:srgbClr val="9CDCFE"/>
                </a:solidFill>
                <a:latin typeface="Arial"/>
              </a:rPr>
              <a:t>    case 'REMOVE':</a:t>
            </a:r>
          </a:p>
          <a:p>
            <a:pPr algn="l">
              <a:spcAft>
                <a:spcPts val="200"/>
              </a:spcAft>
            </a:pPr>
            <a:r>
              <a:rPr sz="1250" b="0">
                <a:solidFill>
                  <a:srgbClr val="9CDCFE"/>
                </a:solidFill>
                <a:latin typeface="Arial"/>
              </a:rPr>
              <a:t>      return state.filter((c) =&gt; c.id !== action.id)</a:t>
            </a:r>
          </a:p>
          <a:p>
            <a:pPr algn="l">
              <a:spcAft>
                <a:spcPts val="200"/>
              </a:spcAft>
            </a:pPr>
            <a:r>
              <a:rPr sz="1250" b="0">
                <a:solidFill>
                  <a:srgbClr val="9CDCFE"/>
                </a:solidFill>
                <a:latin typeface="Arial"/>
              </a:rPr>
              <a:t>    case 'CLEAR':</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default:</a:t>
            </a:r>
          </a:p>
          <a:p>
            <a:pPr algn="l">
              <a:spcAft>
                <a:spcPts val="200"/>
              </a:spcAft>
            </a:pPr>
            <a:r>
              <a:rPr sz="1250" b="0">
                <a:solidFill>
                  <a:srgbClr val="9CDCFE"/>
                </a:solidFill>
                <a:latin typeface="Arial"/>
              </a:rPr>
              <a:t>      return state</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reducer is a pure function: (state, action) =&gt; nextState, with no mutation.</a:t>
            </a:r>
          </a:p>
          <a:p>
            <a:pPr>
              <a:spcAft>
                <a:spcPts val="1000"/>
              </a:spcAft>
            </a:pPr>
            <a:r>
              <a:rPr sz="1250" b="0">
                <a:solidFill>
                  <a:srgbClr val="161B26"/>
                </a:solidFill>
                <a:latin typeface="Arial"/>
              </a:rPr>
              <a:t>•  Each case returns a brand-new array, making it trivial to reason about and 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context provider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128" b="0">
                <a:solidFill>
                  <a:srgbClr val="9CDCFE"/>
                </a:solidFill>
                <a:latin typeface="Arial"/>
              </a:rPr>
              <a:t>export function CartProvider({ children }) {</a:t>
            </a:r>
          </a:p>
          <a:p>
            <a:pPr algn="l">
              <a:spcAft>
                <a:spcPts val="200"/>
              </a:spcAft>
            </a:pPr>
            <a:r>
              <a:rPr sz="1128" b="0">
                <a:solidFill>
                  <a:srgbClr val="9CDCFE"/>
                </a:solidFill>
                <a:latin typeface="Arial"/>
              </a:rPr>
              <a:t>  const [items, setItems] = useLocalStorage('cart', [])</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const value = {</a:t>
            </a:r>
          </a:p>
          <a:p>
            <a:pPr algn="l">
              <a:spcAft>
                <a:spcPts val="200"/>
              </a:spcAft>
            </a:pPr>
            <a:r>
              <a:rPr sz="1128" b="0">
                <a:solidFill>
                  <a:srgbClr val="9CDCFE"/>
                </a:solidFill>
                <a:latin typeface="Arial"/>
              </a:rPr>
              <a:t>    items,</a:t>
            </a:r>
          </a:p>
          <a:p>
            <a:pPr algn="l">
              <a:spcAft>
                <a:spcPts val="200"/>
              </a:spcAft>
            </a:pPr>
            <a:r>
              <a:rPr sz="1128" b="0">
                <a:solidFill>
                  <a:srgbClr val="9CDCFE"/>
                </a:solidFill>
                <a:latin typeface="Arial"/>
              </a:rPr>
              <a:t>    addItem: (course) =&gt; setItems((p) =&gt;</a:t>
            </a:r>
          </a:p>
          <a:p>
            <a:pPr algn="l">
              <a:spcAft>
                <a:spcPts val="200"/>
              </a:spcAft>
            </a:pPr>
            <a:r>
              <a:rPr sz="1128" b="0">
                <a:solidFill>
                  <a:srgbClr val="9CDCFE"/>
                </a:solidFill>
                <a:latin typeface="Arial"/>
              </a:rPr>
              <a:t>      p.some((c) =&gt; c.id === course.id) ? p : [...p, course]),</a:t>
            </a:r>
          </a:p>
          <a:p>
            <a:pPr algn="l">
              <a:spcAft>
                <a:spcPts val="200"/>
              </a:spcAft>
            </a:pPr>
            <a:r>
              <a:rPr sz="1128" b="0">
                <a:solidFill>
                  <a:srgbClr val="9CDCFE"/>
                </a:solidFill>
                <a:latin typeface="Arial"/>
              </a:rPr>
              <a:t>    removeItem: (id) =&gt; setItems((p) =&gt;</a:t>
            </a:r>
          </a:p>
          <a:p>
            <a:pPr algn="l">
              <a:spcAft>
                <a:spcPts val="200"/>
              </a:spcAft>
            </a:pPr>
            <a:r>
              <a:rPr sz="1128" b="0">
                <a:solidFill>
                  <a:srgbClr val="9CDCFE"/>
                </a:solidFill>
                <a:latin typeface="Arial"/>
              </a:rPr>
              <a:t>      p.filter((c) =&gt; c.id !== id)),</a:t>
            </a:r>
          </a:p>
          <a:p>
            <a:pPr algn="l">
              <a:spcAft>
                <a:spcPts val="200"/>
              </a:spcAft>
            </a:pPr>
            <a:r>
              <a:rPr sz="1128" b="0">
                <a:solidFill>
                  <a:srgbClr val="9CDCFE"/>
                </a:solidFill>
                <a:latin typeface="Arial"/>
              </a:rPr>
              <a:t>    count: items.length,</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return (</a:t>
            </a:r>
          </a:p>
          <a:p>
            <a:pPr algn="l">
              <a:spcAft>
                <a:spcPts val="200"/>
              </a:spcAft>
            </a:pPr>
            <a:r>
              <a:rPr sz="1128" b="0">
                <a:solidFill>
                  <a:srgbClr val="9CDCFE"/>
                </a:solidFill>
                <a:latin typeface="Arial"/>
              </a:rPr>
              <a:t>    &lt;CartContext.Provider value={value}&gt;</a:t>
            </a:r>
          </a:p>
          <a:p>
            <a:pPr algn="l">
              <a:spcAft>
                <a:spcPts val="200"/>
              </a:spcAft>
            </a:pPr>
            <a:r>
              <a:rPr sz="1128" b="0">
                <a:solidFill>
                  <a:srgbClr val="9CDCFE"/>
                </a:solidFill>
                <a:latin typeface="Arial"/>
              </a:rPr>
              <a:t>      {children}</a:t>
            </a:r>
          </a:p>
          <a:p>
            <a:pPr algn="l">
              <a:spcAft>
                <a:spcPts val="200"/>
              </a:spcAft>
            </a:pPr>
            <a:r>
              <a:rPr sz="1128" b="0">
                <a:solidFill>
                  <a:srgbClr val="9CDCFE"/>
                </a:solidFill>
                <a:latin typeface="Arial"/>
              </a:rPr>
              <a:t>    &lt;/CartContext.Provider&gt;</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provider owns the shortlist and exposes it plus the functions that change it.</a:t>
            </a:r>
          </a:p>
          <a:p>
            <a:pPr>
              <a:spcAft>
                <a:spcPts val="1000"/>
              </a:spcAft>
            </a:pPr>
            <a:r>
              <a:rPr sz="1250" b="0">
                <a:solidFill>
                  <a:srgbClr val="161B26"/>
                </a:solidFill>
                <a:latin typeface="Arial"/>
              </a:rPr>
              <a:t>•  count is DERIVED (items.length) — never stored, so it cannot drift from the array.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Consuming context with a custom 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function useCart() {</a:t>
            </a:r>
          </a:p>
          <a:p>
            <a:pPr algn="l">
              <a:spcAft>
                <a:spcPts val="200"/>
              </a:spcAft>
            </a:pPr>
            <a:r>
              <a:rPr sz="1250" b="0">
                <a:solidFill>
                  <a:srgbClr val="9CDCFE"/>
                </a:solidFill>
                <a:latin typeface="Arial"/>
              </a:rPr>
              <a:t>  const ctx = useContext(CartContext)</a:t>
            </a:r>
          </a:p>
          <a:p>
            <a:pPr algn="l">
              <a:spcAft>
                <a:spcPts val="200"/>
              </a:spcAft>
            </a:pPr>
            <a:r>
              <a:rPr sz="1250" b="0">
                <a:solidFill>
                  <a:srgbClr val="9CDCFE"/>
                </a:solidFill>
                <a:latin typeface="Arial"/>
              </a:rPr>
              <a:t>  if (!ctx) {</a:t>
            </a:r>
          </a:p>
          <a:p>
            <a:pPr algn="l">
              <a:spcAft>
                <a:spcPts val="200"/>
              </a:spcAft>
            </a:pPr>
            <a:r>
              <a:rPr sz="1250" b="0">
                <a:solidFill>
                  <a:srgbClr val="9CDCFE"/>
                </a:solidFill>
                <a:latin typeface="Arial"/>
              </a:rPr>
              <a:t>    throw new Error('useCart must be used inside &lt;CartProvider&gt;')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ctx</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In Navbar, at any depth, no prop drilling:</a:t>
            </a:r>
          </a:p>
          <a:p>
            <a:pPr algn="l">
              <a:spcAft>
                <a:spcPts val="200"/>
              </a:spcAft>
            </a:pPr>
            <a:r>
              <a:rPr sz="1250" b="0">
                <a:solidFill>
                  <a:srgbClr val="9CDCFE"/>
                </a:solidFill>
                <a:latin typeface="Arial"/>
              </a:rPr>
              <a:t>const { count } = useCart()</a:t>
            </a:r>
          </a:p>
          <a:p>
            <a:pPr algn="l">
              <a:spcAft>
                <a:spcPts val="200"/>
              </a:spcAft>
            </a:pPr>
            <a:r>
              <a:rPr sz="1250" b="0">
                <a:solidFill>
                  <a:srgbClr val="9CDCFE"/>
                </a:solidFill>
                <a:latin typeface="Arial"/>
              </a:rPr>
              <a:t>&lt;span className="badge"&gt;🧺 {count}&lt;/span&gt;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useCart wraps useContext and throws if used outside a provider — a clear early error.</a:t>
            </a:r>
          </a:p>
          <a:p>
            <a:pPr>
              <a:spcAft>
                <a:spcPts val="1000"/>
              </a:spcAft>
            </a:pPr>
            <a:r>
              <a:rPr sz="1250" b="0">
                <a:solidFill>
                  <a:srgbClr val="161B26"/>
                </a:solidFill>
                <a:latin typeface="Arial"/>
              </a:rPr>
              <a:t>•  Any component reads the shared shortlist with one line, no prop drilling.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useContext and useReducer — State Without Prop Drilling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 toggle in the navbar switches the whole site between light and dark and survives a refresh; the 🧺 shortlist count updates from any page with no props threaded through; and calling useCart() outside &lt;CartProvider&gt; throws a clear, named error.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4.5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Custom Hooks — Sharing Logic,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same useState + useEffect pair now appears in three places. The learner extracts useLocalStorage and useDebounce, wires the debounce into the course search so it stops filtering on every keystroke, and kills the near-universal misconception that a custom hook shares state between components.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src/hooks/useLocalStorage.js and src/hooks/useDebounce.js, with the course search debounced to 300 ms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Custom hooks, the 'use' naming rule, useEffect cleanup, localStorage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useLocalStorage custom 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src/hooks/useLocalStorage.js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998" b="0">
                <a:solidFill>
                  <a:srgbClr val="9CDCFE"/>
                </a:solidFill>
                <a:latin typeface="Arial"/>
              </a:rPr>
              <a:t>// A use* function that calls other hooks.</a:t>
            </a:r>
          </a:p>
          <a:p>
            <a:pPr algn="l">
              <a:spcAft>
                <a:spcPts val="200"/>
              </a:spcAft>
            </a:pPr>
            <a:r>
              <a:rPr sz="998" b="0">
                <a:solidFill>
                  <a:srgbClr val="9CDCFE"/>
                </a:solidFill>
                <a:latin typeface="Arial"/>
              </a:rPr>
              <a:t>export function useLocalStorage(key, initialValue) {</a:t>
            </a:r>
          </a:p>
          <a:p>
            <a:pPr algn="l">
              <a:spcAft>
                <a:spcPts val="200"/>
              </a:spcAft>
            </a:pPr>
            <a:r>
              <a:rPr sz="998" b="0">
                <a:solidFill>
                  <a:srgbClr val="9CDCFE"/>
                </a:solidFill>
                <a:latin typeface="Arial"/>
              </a:rPr>
              <a:t>  const [value, setValue] = useState(() =&gt; {</a:t>
            </a:r>
          </a:p>
          <a:p>
            <a:pPr algn="l">
              <a:spcAft>
                <a:spcPts val="200"/>
              </a:spcAft>
            </a:pPr>
            <a:r>
              <a:rPr sz="998" b="0">
                <a:solidFill>
                  <a:srgbClr val="9CDCFE"/>
                </a:solidFill>
                <a:latin typeface="Arial"/>
              </a:rPr>
              <a:t>    try {</a:t>
            </a:r>
          </a:p>
          <a:p>
            <a:pPr algn="l">
              <a:spcAft>
                <a:spcPts val="200"/>
              </a:spcAft>
            </a:pPr>
            <a:r>
              <a:rPr sz="998" b="0">
                <a:solidFill>
                  <a:srgbClr val="9CDCFE"/>
                </a:solidFill>
                <a:latin typeface="Arial"/>
              </a:rPr>
              <a:t>      const stored = window.localStorage.getItem(key)</a:t>
            </a:r>
          </a:p>
          <a:p>
            <a:pPr algn="l">
              <a:spcAft>
                <a:spcPts val="200"/>
              </a:spcAft>
            </a:pPr>
            <a:r>
              <a:rPr sz="998" b="0">
                <a:solidFill>
                  <a:srgbClr val="9CDCFE"/>
                </a:solidFill>
                <a:latin typeface="Arial"/>
              </a:rPr>
              <a:t>      return stored !== null ? JSON.parse(stored) : initialValue</a:t>
            </a:r>
          </a:p>
          <a:p>
            <a:pPr algn="l">
              <a:spcAft>
                <a:spcPts val="200"/>
              </a:spcAft>
            </a:pPr>
            <a:r>
              <a:rPr sz="998" b="0">
                <a:solidFill>
                  <a:srgbClr val="9CDCFE"/>
                </a:solidFill>
                <a:latin typeface="Arial"/>
              </a:rPr>
              <a:t>    } catch {</a:t>
            </a:r>
          </a:p>
          <a:p>
            <a:pPr algn="l">
              <a:spcAft>
                <a:spcPts val="200"/>
              </a:spcAft>
            </a:pPr>
            <a:r>
              <a:rPr sz="998" b="0">
                <a:solidFill>
                  <a:srgbClr val="9CDCFE"/>
                </a:solidFill>
                <a:latin typeface="Arial"/>
              </a:rPr>
              <a:t>      return initialValue</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const set = (next) =&gt; {</a:t>
            </a:r>
          </a:p>
          <a:p>
            <a:pPr algn="l">
              <a:spcAft>
                <a:spcPts val="200"/>
              </a:spcAft>
            </a:pPr>
            <a:r>
              <a:rPr sz="998" b="0">
                <a:solidFill>
                  <a:srgbClr val="9CDCFE"/>
                </a:solidFill>
                <a:latin typeface="Arial"/>
              </a:rPr>
              <a:t>    setValue((prev) =&gt; {</a:t>
            </a:r>
          </a:p>
          <a:p>
            <a:pPr algn="l">
              <a:spcAft>
                <a:spcPts val="200"/>
              </a:spcAft>
            </a:pPr>
            <a:r>
              <a:rPr sz="998" b="0">
                <a:solidFill>
                  <a:srgbClr val="9CDCFE"/>
                </a:solidFill>
                <a:latin typeface="Arial"/>
              </a:rPr>
              <a:t>      const resolved =</a:t>
            </a:r>
          </a:p>
          <a:p>
            <a:pPr algn="l">
              <a:spcAft>
                <a:spcPts val="200"/>
              </a:spcAft>
            </a:pPr>
            <a:r>
              <a:rPr sz="998" b="0">
                <a:solidFill>
                  <a:srgbClr val="9CDCFE"/>
                </a:solidFill>
                <a:latin typeface="Arial"/>
              </a:rPr>
              <a:t>        typeof next === 'function' ? next(prev) : next</a:t>
            </a:r>
          </a:p>
          <a:p>
            <a:pPr algn="l">
              <a:spcAft>
                <a:spcPts val="200"/>
              </a:spcAft>
            </a:pPr>
            <a:r>
              <a:rPr sz="998" b="0">
                <a:solidFill>
                  <a:srgbClr val="9CDCFE"/>
                </a:solidFill>
                <a:latin typeface="Arial"/>
              </a:rPr>
              <a:t>      window.localStorage.setItem(key, JSON.stringify(resolved))</a:t>
            </a:r>
          </a:p>
          <a:p>
            <a:pPr algn="l">
              <a:spcAft>
                <a:spcPts val="200"/>
              </a:spcAft>
            </a:pPr>
            <a:r>
              <a:rPr sz="998" b="0">
                <a:solidFill>
                  <a:srgbClr val="9CDCFE"/>
                </a:solidFill>
                <a:latin typeface="Arial"/>
              </a:rPr>
              <a:t>      return resolved</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return [value, set]</a:t>
            </a:r>
          </a:p>
          <a:p>
            <a:pPr algn="l">
              <a:spcAft>
                <a:spcPts val="200"/>
              </a:spcAft>
            </a:pPr>
            <a:r>
              <a:rPr sz="99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custom hook is just a function named use* that calls other hooks.</a:t>
            </a:r>
          </a:p>
          <a:p>
            <a:pPr>
              <a:spcAft>
                <a:spcPts val="1000"/>
              </a:spcAft>
            </a:pPr>
            <a:r>
              <a:rPr sz="1250" b="0">
                <a:solidFill>
                  <a:srgbClr val="161B26"/>
                </a:solidFill>
                <a:latin typeface="Arial"/>
              </a:rPr>
              <a:t>•  It returns [value, set] like useState, but mirrors the value into localStorage.</a:t>
            </a:r>
          </a:p>
          <a:p>
            <a:pPr>
              <a:spcAft>
                <a:spcPts val="1000"/>
              </a:spcAft>
            </a:pPr>
            <a:r>
              <a:rPr sz="1250" b="0">
                <a:solidFill>
                  <a:srgbClr val="161B26"/>
                </a:solidFill>
                <a:latin typeface="Arial"/>
              </a:rPr>
              <a:t>•  Lazy initial state (() =&gt; ...) reads storage once, on mount — not every render.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Custom hooks share logic,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src/context/ThemeContext.jsx  ·  CartContext.jsx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Two callers of the SAME hook, each with its own</a:t>
            </a:r>
          </a:p>
          <a:p>
            <a:pPr algn="l">
              <a:spcAft>
                <a:spcPts val="200"/>
              </a:spcAft>
            </a:pPr>
            <a:r>
              <a:rPr sz="1250" b="0">
                <a:solidFill>
                  <a:srgbClr val="9CDCFE"/>
                </a:solidFill>
                <a:latin typeface="Arial"/>
              </a:rPr>
              <a:t>// independent key and value — logic is reused, state is not.</a:t>
            </a:r>
          </a:p>
          <a:p>
            <a:pPr algn="l">
              <a:spcAft>
                <a:spcPts val="200"/>
              </a:spcAft>
            </a:pPr>
            <a:r>
              <a:rPr sz="1250" b="0">
                <a:solidFill>
                  <a:srgbClr val="9CDCFE"/>
                </a:solidFill>
                <a:latin typeface="Arial"/>
              </a:rPr>
              <a:t>const [theme, setTheme] = useLocalStorage('theme', 'light')</a:t>
            </a:r>
          </a:p>
          <a:p>
            <a:pPr algn="l">
              <a:spcAft>
                <a:spcPts val="200"/>
              </a:spcAft>
            </a:pPr>
            <a:r>
              <a:rPr sz="1250" b="0">
                <a:solidFill>
                  <a:srgbClr val="9CDCFE"/>
                </a:solidFill>
                <a:latin typeface="Arial"/>
              </a:rPr>
              <a:t>const [items, setItems] = useLocalStorage('cart', [])</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useDebounce is reused the same way, per-component:</a:t>
            </a:r>
          </a:p>
          <a:p>
            <a:pPr algn="l">
              <a:spcAft>
                <a:spcPts val="200"/>
              </a:spcAft>
            </a:pPr>
            <a:r>
              <a:rPr sz="1250" b="0">
                <a:solidFill>
                  <a:srgbClr val="9CDCFE"/>
                </a:solidFill>
                <a:latin typeface="Arial"/>
              </a:rPr>
              <a:t>const debounced = useDebounce(query, 300)</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Each call to useLocalStorage gets its own state — the hook shares behaviour, not data.</a:t>
            </a:r>
          </a:p>
          <a:p>
            <a:pPr>
              <a:spcAft>
                <a:spcPts val="1000"/>
              </a:spcAft>
            </a:pPr>
            <a:r>
              <a:rPr sz="1250" b="0">
                <a:solidFill>
                  <a:srgbClr val="161B26"/>
                </a:solidFill>
                <a:latin typeface="Arial"/>
              </a:rPr>
              <a:t>•  That is the whole point of a custom hook: package logic once, reuse it everywhere.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Custom Hooks — Sharing Logic, Not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Typing 'sourdough' filters 300 ms after you stop, not on every keystroke; the shortlist and theme still survive a refresh; both hooks live in src/hooks/; and you can explain why two components using useDebounce do not share a value.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04</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shortlist courses, keep them across refreshes, toggle the theme, and jump to the grid.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30 minutes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Give It a Real Backend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a serverless API over a live Neon Postgres database, with real accounts, hashed passwords and JWTs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Give It a Real Backend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The 20 courses live in a JavaScript array and every enrolment vanishes when the tab closes.</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a serverless API over a live Neon Postgres database, with real accounts, hashed passwords and JWTs.</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the three-tier split, API routes, parameterised SQL, bcrypt and JWT auth.</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ARCHITECTURE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tiers, and one hard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React (browser) --fetch--&gt; /api/* (Vercel functions) --sql--&gt; Neon Postgres. Three tiers.</a:t>
            </a:r>
          </a:p>
          <a:p>
            <a:pPr>
              <a:spcAft>
                <a:spcPts val="900"/>
              </a:spcAft>
            </a:pPr>
            <a:r>
              <a:rPr sz="1300" b="0">
                <a:solidFill>
                  <a:srgbClr val="161B26"/>
                </a:solidFill>
                <a:latin typeface="Arial"/>
              </a:rPr>
              <a:t>•  The BROWSER NEVER TALKS TO POSTGRES. It has no driver, no connection string and no SQL.</a:t>
            </a:r>
          </a:p>
          <a:p>
            <a:pPr>
              <a:spcAft>
                <a:spcPts val="900"/>
              </a:spcAft>
            </a:pPr>
            <a:r>
              <a:rPr sz="1300" b="0">
                <a:solidFill>
                  <a:srgbClr val="161B26"/>
                </a:solidFill>
                <a:latin typeface="Arial"/>
              </a:rPr>
              <a:t>•  It knows one thing: how to call our own /api/* URLs. The functions decide what is allowed.</a:t>
            </a:r>
          </a:p>
          <a:p>
            <a:pPr>
              <a:spcAft>
                <a:spcPts val="900"/>
              </a:spcAft>
            </a:pPr>
            <a:r>
              <a:rPr sz="1300" b="0">
                <a:solidFill>
                  <a:srgbClr val="161B26"/>
                </a:solidFill>
                <a:latin typeface="Arial"/>
              </a:rPr>
              <a:t>•  Every security rule lives in the middle tier, on a server, where the user cannot edit it.</a:t>
            </a:r>
          </a:p>
          <a:p>
            <a:pPr>
              <a:spcAft>
                <a:spcPts val="900"/>
              </a:spcAft>
            </a:pPr>
            <a:r>
              <a:rPr sz="1300" b="0">
                <a:solidFill>
                  <a:srgbClr val="161B26"/>
                </a:solidFill>
                <a:latin typeface="Arial"/>
              </a:rPr>
              <a:t>•  Anything you enforce in the browser is a suggestion. Anything you enforce in /api/ is a rule.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browser asks the API. Only the API touches the database.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React (browser)          src/lib/api.js</a:t>
            </a:r>
          </a:p>
          <a:p>
            <a:pPr algn="l">
              <a:spcAft>
                <a:spcPts val="200"/>
              </a:spcAft>
            </a:pPr>
            <a:r>
              <a:rPr sz="1150" b="0">
                <a:solidFill>
                  <a:srgbClr val="9CDCFE"/>
                </a:solidFill>
                <a:latin typeface="Arial"/>
              </a:rPr>
              <a:t>        |  fetch('/api/courses')</a:t>
            </a:r>
          </a:p>
          <a:p>
            <a:pPr algn="l">
              <a:spcAft>
                <a:spcPts val="200"/>
              </a:spcAft>
            </a:pPr>
            <a:r>
              <a:rPr sz="1150" b="0">
                <a:solidFill>
                  <a:srgbClr val="9CDCFE"/>
                </a:solidFill>
                <a:latin typeface="Arial"/>
              </a:rPr>
              <a:t>        v</a:t>
            </a:r>
          </a:p>
          <a:p>
            <a:pPr algn="l">
              <a:spcAft>
                <a:spcPts val="200"/>
              </a:spcAft>
            </a:pPr>
            <a:r>
              <a:rPr sz="1150" b="0">
                <a:solidFill>
                  <a:srgbClr val="9CDCFE"/>
                </a:solidFill>
                <a:latin typeface="Arial"/>
              </a:rPr>
              <a:t>  /api/* (Vercel function) api/courses/index.js</a:t>
            </a:r>
          </a:p>
          <a:p>
            <a:pPr algn="l">
              <a:spcAft>
                <a:spcPts val="200"/>
              </a:spcAft>
            </a:pPr>
            <a:r>
              <a:rPr sz="1150" b="0">
                <a:solidFill>
                  <a:srgbClr val="9CDCFE"/>
                </a:solidFill>
                <a:latin typeface="Arial"/>
              </a:rPr>
              <a:t>        |  sql`select ... from courses`</a:t>
            </a:r>
          </a:p>
          <a:p>
            <a:pPr algn="l">
              <a:spcAft>
                <a:spcPts val="200"/>
              </a:spcAft>
            </a:pPr>
            <a:r>
              <a:rPr sz="1150" b="0">
                <a:solidFill>
                  <a:srgbClr val="9CDCFE"/>
                </a:solidFill>
                <a:latin typeface="Arial"/>
              </a:rPr>
              <a:t>        v</a:t>
            </a:r>
          </a:p>
          <a:p>
            <a:pPr algn="l">
              <a:spcAft>
                <a:spcPts val="200"/>
              </a:spcAft>
            </a:pPr>
            <a:r>
              <a:rPr sz="1150" b="0">
                <a:solidFill>
                  <a:srgbClr val="9CDCFE"/>
                </a:solidFill>
                <a:latin typeface="Arial"/>
              </a:rPr>
              <a:t>  Neon Postgres            DATABASE_URL lives ONLY here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The API is the counter in a bank — customers state what they want; only staff go into the vault.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VITE_ AND SECRETS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the browser cannot hold the password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Vite compiles any VITE_-prefixed variable straight into the JavaScript bundle it ships.</a:t>
            </a:r>
          </a:p>
          <a:p>
            <a:pPr>
              <a:spcAft>
                <a:spcPts val="900"/>
              </a:spcAft>
            </a:pPr>
            <a:r>
              <a:rPr sz="1300" b="0">
                <a:solidFill>
                  <a:srgbClr val="161B26"/>
                </a:solidFill>
                <a:latin typeface="Arial"/>
              </a:rPr>
              <a:t>•  Every visitor downloads that bundle. They can read it. There is no exception and no hiding it.</a:t>
            </a:r>
          </a:p>
          <a:p>
            <a:pPr>
              <a:spcAft>
                <a:spcPts val="900"/>
              </a:spcAft>
            </a:pPr>
            <a:r>
              <a:rPr sz="1300" b="0">
                <a:solidFill>
                  <a:srgbClr val="161B26"/>
                </a:solidFill>
                <a:latin typeface="Arial"/>
              </a:rPr>
              <a:t>•  DATABASE_URL contains the database password and grants full READ AND WRITE to your data.</a:t>
            </a:r>
          </a:p>
          <a:p>
            <a:pPr>
              <a:spcAft>
                <a:spcPts val="900"/>
              </a:spcAft>
            </a:pPr>
            <a:r>
              <a:rPr sz="1300" b="0">
                <a:solidFill>
                  <a:srgbClr val="161B26"/>
                </a:solidFill>
                <a:latin typeface="Arial"/>
              </a:rPr>
              <a:t>•  So DATABASE_URL must NEVER carry the VITE_ prefix. It is read only in api/, via process.env.</a:t>
            </a:r>
          </a:p>
          <a:p>
            <a:pPr>
              <a:spcAft>
                <a:spcPts val="900"/>
              </a:spcAft>
            </a:pPr>
            <a:r>
              <a:rPr sz="1300" b="0">
                <a:solidFill>
                  <a:srgbClr val="161B26"/>
                </a:solidFill>
                <a:latin typeface="Arial"/>
              </a:rPr>
              <a:t>•  If you ever 'fix' a connection error by renaming it VITE_DATABASE_URL, you have published the vault key.</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VITE_ variable is public. DATABASE_URL must never have that prefix.</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.env.local — the prefix is the whole security boundary</a:t>
            </a:r>
          </a:p>
          <a:p>
            <a:pPr algn="l">
              <a:spcAft>
                <a:spcPts val="200"/>
              </a:spcAft>
            </a:pPr>
            <a:r>
              <a:rPr sz="1150" b="0">
                <a:solidFill>
                  <a:srgbClr val="9CDCFE"/>
                </a:solidFill>
                <a:latin typeface="Arial"/>
              </a:rPr>
              <a:t>DATABASE_URL=postgresql://user:PASSWORD@ep-...neon.tech/db</a:t>
            </a:r>
          </a:p>
          <a:p>
            <a:pPr algn="l">
              <a:spcAft>
                <a:spcPts val="200"/>
              </a:spcAft>
            </a:pPr>
            <a:r>
              <a:rPr sz="1150" b="0">
                <a:solidFill>
                  <a:srgbClr val="9CDCFE"/>
                </a:solidFill>
                <a:latin typeface="Arial"/>
              </a:rPr>
              <a:t>JWT_SECRET=&lt;32 random bytes&gt;</a:t>
            </a:r>
          </a:p>
          <a:p>
            <a:pPr algn="l">
              <a:spcAft>
                <a:spcPts val="200"/>
              </a:spcAft>
            </a:pPr>
            <a:r>
              <a:rPr sz="1150" b="0">
                <a:solidFill>
                  <a:srgbClr val="9CDCFE"/>
                </a:solidFill>
                <a:latin typeface="Arial"/>
              </a:rPr>
              <a:t># NO VITE_ prefix on either. Both are server-only.</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api/_lib/db.js — the ONLY place it is ever read:</a:t>
            </a:r>
          </a:p>
          <a:p>
            <a:pPr algn="l">
              <a:spcAft>
                <a:spcPts val="200"/>
              </a:spcAft>
            </a:pPr>
            <a:r>
              <a:rPr sz="1150" b="0">
                <a:solidFill>
                  <a:srgbClr val="9CDCFE"/>
                </a:solidFill>
                <a:latin typeface="Arial"/>
              </a:rPr>
              <a:t>export const sql = neon(process.env.DATABASE_URL)</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Putting DATABASE_URL in a VITE_ variable is printing your house key on the flyer and posting it to every visitor.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API ROUTES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serverless API route is a function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file in api/ becomes a URL: api/courses/index.js serves GET /api/courses.</a:t>
            </a:r>
          </a:p>
          <a:p>
            <a:pPr>
              <a:spcAft>
                <a:spcPts val="900"/>
              </a:spcAft>
            </a:pPr>
            <a:r>
              <a:rPr sz="1300" b="0">
                <a:solidFill>
                  <a:srgbClr val="161B26"/>
                </a:solidFill>
                <a:latin typeface="Arial"/>
              </a:rPr>
              <a:t>•  It exports one default async handler(req, res) — no Express app, no server to keep running.</a:t>
            </a:r>
          </a:p>
          <a:p>
            <a:pPr>
              <a:spcAft>
                <a:spcPts val="900"/>
              </a:spcAft>
            </a:pPr>
            <a:r>
              <a:rPr sz="1300" b="0">
                <a:solidFill>
                  <a:srgbClr val="161B26"/>
                </a:solidFill>
                <a:latin typeface="Arial"/>
              </a:rPr>
              <a:t>•  Square brackets make it dynamic: api/courses/[slug].js matches /api/courses/macaron-masterclass.</a:t>
            </a:r>
          </a:p>
          <a:p>
            <a:pPr>
              <a:spcAft>
                <a:spcPts val="900"/>
              </a:spcAft>
            </a:pPr>
            <a:r>
              <a:rPr sz="1300" b="0">
                <a:solidFill>
                  <a:srgbClr val="161B26"/>
                </a:solidFill>
                <a:latin typeface="Arial"/>
              </a:rPr>
              <a:t>•  Vercel hands you the matched segment as req.query.slug, and the query string as req.query too.</a:t>
            </a:r>
          </a:p>
          <a:p>
            <a:pPr>
              <a:spcAft>
                <a:spcPts val="900"/>
              </a:spcAft>
            </a:pPr>
            <a:r>
              <a:rPr sz="1300" b="0">
                <a:solidFill>
                  <a:srgbClr val="161B26"/>
                </a:solidFill>
                <a:latin typeface="Arial"/>
              </a:rPr>
              <a:t>•  The status code IS the answer: 200 for a course, 404 for no such slug, 401 for no valid token.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One file, one URL, one async handler — and it holds the only DB connection.</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824" b="0">
                <a:solidFill>
                  <a:srgbClr val="9CDCFE"/>
                </a:solidFill>
                <a:latin typeface="Arial"/>
              </a:rPr>
              <a:t> </a:t>
            </a:r>
          </a:p>
          <a:p>
            <a:pPr algn="l">
              <a:spcAft>
                <a:spcPts val="200"/>
              </a:spcAft>
            </a:pPr>
            <a:r>
              <a:rPr sz="824" b="0">
                <a:solidFill>
                  <a:srgbClr val="9CDCFE"/>
                </a:solidFill>
                <a:latin typeface="Arial"/>
              </a:rPr>
              <a:t>// api/courses/[slug].js (real code)</a:t>
            </a:r>
          </a:p>
          <a:p>
            <a:pPr algn="l">
              <a:spcAft>
                <a:spcPts val="200"/>
              </a:spcAft>
            </a:pPr>
            <a:r>
              <a:rPr sz="824" b="0">
                <a:solidFill>
                  <a:srgbClr val="9CDCFE"/>
                </a:solidFill>
                <a:latin typeface="Arial"/>
              </a:rPr>
              <a:t>import { sql } from '../_lib/db.js'</a:t>
            </a:r>
          </a:p>
          <a:p>
            <a:pPr algn="l">
              <a:spcAft>
                <a:spcPts val="200"/>
              </a:spcAft>
            </a:pPr>
            <a:r>
              <a:rPr sz="824" b="0">
                <a:solidFill>
                  <a:srgbClr val="9CDCFE"/>
                </a:solidFill>
                <a:latin typeface="Arial"/>
              </a:rPr>
              <a:t> </a:t>
            </a:r>
          </a:p>
          <a:p>
            <a:pPr algn="l">
              <a:spcAft>
                <a:spcPts val="200"/>
              </a:spcAft>
            </a:pPr>
            <a:r>
              <a:rPr sz="824" b="0">
                <a:solidFill>
                  <a:srgbClr val="9CDCFE"/>
                </a:solidFill>
                <a:latin typeface="Arial"/>
              </a:rPr>
              <a:t>export default async function handler(req, res) {</a:t>
            </a:r>
          </a:p>
          <a:p>
            <a:pPr algn="l">
              <a:spcAft>
                <a:spcPts val="200"/>
              </a:spcAft>
            </a:pPr>
            <a:r>
              <a:rPr sz="824" b="0">
                <a:solidFill>
                  <a:srgbClr val="9CDCFE"/>
                </a:solidFill>
                <a:latin typeface="Arial"/>
              </a:rPr>
              <a:t>  const { slug } = req.query ?? {}</a:t>
            </a:r>
          </a:p>
          <a:p>
            <a:pPr algn="l">
              <a:spcAft>
                <a:spcPts val="200"/>
              </a:spcAft>
            </a:pPr>
            <a:r>
              <a:rPr sz="824" b="0">
                <a:solidFill>
                  <a:srgbClr val="9CDCFE"/>
                </a:solidFill>
                <a:latin typeface="Arial"/>
              </a:rPr>
              <a:t>  const rows = await sql`</a:t>
            </a:r>
          </a:p>
          <a:p>
            <a:pPr algn="l">
              <a:spcAft>
                <a:spcPts val="200"/>
              </a:spcAft>
            </a:pPr>
            <a:r>
              <a:rPr sz="824" b="0">
                <a:solidFill>
                  <a:srgbClr val="9CDCFE"/>
                </a:solidFill>
                <a:latin typeface="Arial"/>
              </a:rPr>
              <a:t>    select id::int as id, code, slug, title, fee::float8 as fee</a:t>
            </a:r>
          </a:p>
          <a:p>
            <a:pPr algn="l">
              <a:spcAft>
                <a:spcPts val="200"/>
              </a:spcAft>
            </a:pPr>
            <a:r>
              <a:rPr sz="824" b="0">
                <a:solidFill>
                  <a:srgbClr val="9CDCFE"/>
                </a:solidFill>
                <a:latin typeface="Arial"/>
              </a:rPr>
              <a:t>    from courses where slug = ${slug}</a:t>
            </a:r>
          </a:p>
          <a:p>
            <a:pPr algn="l">
              <a:spcAft>
                <a:spcPts val="200"/>
              </a:spcAft>
            </a:pPr>
            <a:r>
              <a:rPr sz="824" b="0">
                <a:solidFill>
                  <a:srgbClr val="9CDCFE"/>
                </a:solidFill>
                <a:latin typeface="Arial"/>
              </a:rPr>
              <a:t>  `</a:t>
            </a:r>
          </a:p>
          <a:p>
            <a:pPr algn="l">
              <a:spcAft>
                <a:spcPts val="200"/>
              </a:spcAft>
            </a:pPr>
            <a:r>
              <a:rPr sz="824" b="0">
                <a:solidFill>
                  <a:srgbClr val="9CDCFE"/>
                </a:solidFill>
                <a:latin typeface="Arial"/>
              </a:rPr>
              <a:t>  if (rows.length === 0) throw new HttpError(404, 'No course.')</a:t>
            </a:r>
          </a:p>
          <a:p>
            <a:pPr algn="l">
              <a:spcAft>
                <a:spcPts val="200"/>
              </a:spcAft>
            </a:pPr>
            <a:r>
              <a:rPr sz="824" b="0">
                <a:solidFill>
                  <a:srgbClr val="9CDCFE"/>
                </a:solidFill>
                <a:latin typeface="Arial"/>
              </a:rPr>
              <a:t>  return res.status(200).json(rows[0])</a:t>
            </a:r>
          </a:p>
          <a:p>
            <a:pPr algn="l">
              <a:spcAft>
                <a:spcPts val="200"/>
              </a:spcAft>
            </a:pPr>
            <a:r>
              <a:rPr sz="824" b="0">
                <a:solidFill>
                  <a:srgbClr val="9CDCFE"/>
                </a:solidFill>
                <a:latin typeface="Arial"/>
              </a:rPr>
              <a:t>}</a:t>
            </a:r>
          </a:p>
          <a:p>
            <a:pPr algn="l">
              <a:spcAft>
                <a:spcPts val="200"/>
              </a:spcAft>
            </a:pPr>
            <a:r>
              <a:rPr sz="824"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Each file in api/ is a shopfront window: one URL, one handler, opened only when someone knocks.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PARAMETERISED SQL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Tagged templates defeat SQL injection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sql`...` is a TAGGED TEMPLATE. You call it with backticks, not brackets — and that is the whole story.</a:t>
            </a:r>
          </a:p>
          <a:p>
            <a:pPr>
              <a:spcAft>
                <a:spcPts val="900"/>
              </a:spcAft>
            </a:pPr>
            <a:r>
              <a:rPr sz="1300" b="0">
                <a:solidFill>
                  <a:srgbClr val="161B26"/>
                </a:solidFill>
                <a:latin typeface="Arial"/>
              </a:rPr>
              <a:t>•  It LOOKS like string interpolation but is not: the SQL text and the values travel SEPARATELY.</a:t>
            </a:r>
          </a:p>
          <a:p>
            <a:pPr>
              <a:spcAft>
                <a:spcPts val="900"/>
              </a:spcAft>
            </a:pPr>
            <a:r>
              <a:rPr sz="1300" b="0">
                <a:solidFill>
                  <a:srgbClr val="161B26"/>
                </a:solidFill>
                <a:latin typeface="Arial"/>
              </a:rPr>
              <a:t>•  The driver sends `where slug = $1` plus the value. Postgres parses the SQL, THEN binds the value.</a:t>
            </a:r>
          </a:p>
          <a:p>
            <a:pPr>
              <a:spcAft>
                <a:spcPts val="900"/>
              </a:spcAft>
            </a:pPr>
            <a:r>
              <a:rPr sz="1300" b="0">
                <a:solidFill>
                  <a:srgbClr val="161B26"/>
                </a:solidFill>
                <a:latin typeface="Arial"/>
              </a:rPr>
              <a:t>•  So a slug of `x'; drop table users; --` is looked up as an absurd literal slug and finds nothing.</a:t>
            </a:r>
          </a:p>
          <a:p>
            <a:pPr>
              <a:spcAft>
                <a:spcPts val="900"/>
              </a:spcAft>
            </a:pPr>
            <a:r>
              <a:rPr sz="1300" b="0">
                <a:solidFill>
                  <a:srgbClr val="161B26"/>
                </a:solidFill>
                <a:latin typeface="Arial"/>
              </a:rPr>
              <a:t>•  The one thing that reintroduces the hole is building the string yourself. Never do sql(`...${x}...`).</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value travels separately from the SQL, so it can never be parsed as SQL.</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SAFE — a tagged template. Value travels separately.</a:t>
            </a:r>
          </a:p>
          <a:p>
            <a:pPr algn="l">
              <a:spcAft>
                <a:spcPts val="200"/>
              </a:spcAft>
            </a:pPr>
            <a:r>
              <a:rPr sz="1150" b="0">
                <a:solidFill>
                  <a:srgbClr val="9CDCFE"/>
                </a:solidFill>
                <a:latin typeface="Arial"/>
              </a:rPr>
              <a:t>await sql`select * from courses where slug = ${slug}`</a:t>
            </a:r>
          </a:p>
          <a:p>
            <a:pPr algn="l">
              <a:spcAft>
                <a:spcPts val="200"/>
              </a:spcAft>
            </a:pPr>
            <a:r>
              <a:rPr sz="1150" b="0">
                <a:solidFill>
                  <a:srgbClr val="9CDCFE"/>
                </a:solidFill>
                <a:latin typeface="Arial"/>
              </a:rPr>
              <a:t>//         Postgres receives:  where slug = $1</a:t>
            </a:r>
          </a:p>
          <a:p>
            <a:pPr algn="l">
              <a:spcAft>
                <a:spcPts val="200"/>
              </a:spcAft>
            </a:pPr>
            <a:r>
              <a:rPr sz="1150" b="0">
                <a:solidFill>
                  <a:srgbClr val="9CDCFE"/>
                </a:solidFill>
                <a:latin typeface="Arial"/>
              </a:rPr>
              <a:t>//         and, separately:    ["macaron-masterclass"]</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CATASTROPHIC — never build SQL by concatenation:</a:t>
            </a:r>
          </a:p>
          <a:p>
            <a:pPr algn="l">
              <a:spcAft>
                <a:spcPts val="200"/>
              </a:spcAft>
            </a:pPr>
            <a:r>
              <a:rPr sz="1150" b="0">
                <a:solidFill>
                  <a:srgbClr val="9CDCFE"/>
                </a:solidFill>
                <a:latin typeface="Arial"/>
              </a:rPr>
              <a:t>await sql(`select * from courses where slug = '${slug}'`)</a:t>
            </a:r>
          </a:p>
          <a:p>
            <a:pPr algn="l">
              <a:spcAft>
                <a:spcPts val="200"/>
              </a:spcAft>
            </a:pPr>
            <a:r>
              <a:rPr sz="1150" b="0">
                <a:solidFill>
                  <a:srgbClr val="9CDCFE"/>
                </a:solidFill>
                <a:latin typeface="Arial"/>
              </a:rPr>
              <a:t>// slug = "x'; drop table users; --"  now EXECUTES.</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parameterised query is a form with boxes — Postgres reads the form first, then fills the boxes. Text in a box can never become an instruction.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bcrypt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Never store a password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Store a bcrypt HASH, never the password. Hashing is one-way: the hash cannot be turned back.</a:t>
            </a:r>
          </a:p>
          <a:p>
            <a:pPr>
              <a:spcAft>
                <a:spcPts val="900"/>
              </a:spcAft>
            </a:pPr>
            <a:r>
              <a:rPr sz="1300" b="0">
                <a:solidFill>
                  <a:srgbClr val="161B26"/>
                </a:solidFill>
                <a:latin typeface="Arial"/>
              </a:rPr>
              <a:t>•  bcrypt is deliberately SLOW (cost 10, ~100ms), which makes brute-forcing a stolen table painful.</a:t>
            </a:r>
          </a:p>
          <a:p>
            <a:pPr>
              <a:spcAft>
                <a:spcPts val="900"/>
              </a:spcAft>
            </a:pPr>
            <a:r>
              <a:rPr sz="1300" b="0">
                <a:solidFill>
                  <a:srgbClr val="161B26"/>
                </a:solidFill>
                <a:latin typeface="Arial"/>
              </a:rPr>
              <a:t>•  It salts every hash automatically, so two users with the same password get different hashes.</a:t>
            </a:r>
          </a:p>
          <a:p>
            <a:pPr>
              <a:spcAft>
                <a:spcPts val="900"/>
              </a:spcAft>
            </a:pPr>
            <a:r>
              <a:rPr sz="1300" b="0">
                <a:solidFill>
                  <a:srgbClr val="161B26"/>
                </a:solidFill>
                <a:latin typeface="Arial"/>
              </a:rPr>
              <a:t>•  Verify with bcrypt.compare(), which re-hashes with the stored salt and compares in constant time.</a:t>
            </a:r>
          </a:p>
          <a:p>
            <a:pPr>
              <a:spcAft>
                <a:spcPts val="900"/>
              </a:spcAft>
            </a:pPr>
            <a:r>
              <a:rPr sz="1300" b="0">
                <a:solidFill>
                  <a:srgbClr val="161B26"/>
                </a:solidFill>
                <a:latin typeface="Arial"/>
              </a:rPr>
              <a:t>•  NEVER select password_hash into a response. Whitelist the fields you send; do not blacklist.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Hash with bcrypt, compare with bcrypt, and never let the hash leave the server.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api/auth/signup.js (real code)</a:t>
            </a:r>
          </a:p>
          <a:p>
            <a:pPr algn="l">
              <a:spcAft>
                <a:spcPts val="200"/>
              </a:spcAft>
            </a:pPr>
            <a:r>
              <a:rPr sz="989" b="0">
                <a:solidFill>
                  <a:srgbClr val="9CDCFE"/>
                </a:solidFill>
                <a:latin typeface="Arial"/>
              </a:rPr>
              <a:t>const passwordHash = await bcrypt.hash(password, 10)</a:t>
            </a:r>
          </a:p>
          <a:p>
            <a:pPr algn="l">
              <a:spcAft>
                <a:spcPts val="200"/>
              </a:spcAft>
            </a:pPr>
            <a:r>
              <a:rPr sz="989" b="0">
                <a:solidFill>
                  <a:srgbClr val="9CDCFE"/>
                </a:solidFill>
                <a:latin typeface="Arial"/>
              </a:rPr>
              <a:t>await sql`</a:t>
            </a:r>
          </a:p>
          <a:p>
            <a:pPr algn="l">
              <a:spcAft>
                <a:spcPts val="200"/>
              </a:spcAft>
            </a:pPr>
            <a:r>
              <a:rPr sz="989" b="0">
                <a:solidFill>
                  <a:srgbClr val="9CDCFE"/>
                </a:solidFill>
                <a:latin typeface="Arial"/>
              </a:rPr>
              <a:t>  insert into users (email, name, password_hash)</a:t>
            </a:r>
          </a:p>
          <a:p>
            <a:pPr algn="l">
              <a:spcAft>
                <a:spcPts val="200"/>
              </a:spcAft>
            </a:pPr>
            <a:r>
              <a:rPr sz="989" b="0">
                <a:solidFill>
                  <a:srgbClr val="9CDCFE"/>
                </a:solidFill>
                <a:latin typeface="Arial"/>
              </a:rPr>
              <a:t>  values (${email}, ${name}, ${passwordHash})</a:t>
            </a:r>
          </a:p>
          <a:p>
            <a:pPr algn="l">
              <a:spcAft>
                <a:spcPts val="200"/>
              </a:spcAft>
            </a:pPr>
            <a:r>
              <a:rPr sz="989" b="0">
                <a:solidFill>
                  <a:srgbClr val="9CDCFE"/>
                </a:solidFill>
                <a:latin typeface="Arial"/>
              </a:rPr>
              <a:t>  returning id::int as id, email, name, created_at</a:t>
            </a:r>
          </a:p>
          <a:p>
            <a:pPr algn="l">
              <a:spcAft>
                <a:spcPts val="200"/>
              </a:spcAft>
            </a:pPr>
            <a:r>
              <a:rPr sz="989" b="0">
                <a:solidFill>
                  <a:srgbClr val="9CDCFE"/>
                </a:solidFill>
                <a:latin typeface="Arial"/>
              </a:rPr>
              <a:t>`   // note what is NOT in RETURNING: password_hash.</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api/auth/login.js</a:t>
            </a:r>
          </a:p>
          <a:p>
            <a:pPr algn="l">
              <a:spcAft>
                <a:spcPts val="200"/>
              </a:spcAft>
            </a:pPr>
            <a:r>
              <a:rPr sz="989" b="0">
                <a:solidFill>
                  <a:srgbClr val="9CDCFE"/>
                </a:solidFill>
                <a:latin typeface="Arial"/>
              </a:rPr>
              <a:t>const ok = await bcrypt.compare(password, user.password_hash)</a:t>
            </a:r>
          </a:p>
          <a:p>
            <a:pPr algn="l">
              <a:spcAft>
                <a:spcPts val="200"/>
              </a:spcAft>
            </a:pPr>
            <a:r>
              <a:rPr sz="989"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hash is a fingerprint, not a photograph — you can check a match, but you can never reconstruct the face.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JWT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Trust the token, never the body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JWT is header.payload.signature. The payload is ENCODED, not encrypted — never put a secret in it.</a:t>
            </a:r>
          </a:p>
          <a:p>
            <a:pPr>
              <a:spcAft>
                <a:spcPts val="900"/>
              </a:spcAft>
            </a:pPr>
            <a:r>
              <a:rPr sz="1300" b="0">
                <a:solidFill>
                  <a:srgbClr val="161B26"/>
                </a:solidFill>
                <a:latin typeface="Arial"/>
              </a:rPr>
              <a:t>•  The signature is what makes it trustworthy: it is computed with JWT_SECRET, which only the server has.</a:t>
            </a:r>
          </a:p>
          <a:p>
            <a:pPr>
              <a:spcAft>
                <a:spcPts val="900"/>
              </a:spcAft>
            </a:pPr>
            <a:r>
              <a:rPr sz="1300" b="0">
                <a:solidFill>
                  <a:srgbClr val="161B26"/>
                </a:solidFill>
                <a:latin typeface="Arial"/>
              </a:rPr>
              <a:t>•  Edit one byte of the payload and the signature no longer matches, so jwt.verify() throws.</a:t>
            </a:r>
          </a:p>
          <a:p>
            <a:pPr>
              <a:spcAft>
                <a:spcPts val="900"/>
              </a:spcAft>
            </a:pPr>
            <a:r>
              <a:rPr sz="1300" b="0">
                <a:solidFill>
                  <a:srgbClr val="161B26"/>
                </a:solidFill>
                <a:latin typeface="Arial"/>
              </a:rPr>
              <a:t>•  So the user id comes from the VERIFIED token's `sub` claim — NEVER from req.body.userId.</a:t>
            </a:r>
          </a:p>
          <a:p>
            <a:pPr>
              <a:spcAft>
                <a:spcPts val="900"/>
              </a:spcAft>
            </a:pPr>
            <a:r>
              <a:rPr sz="1300" b="0">
                <a:solidFill>
                  <a:srgbClr val="161B26"/>
                </a:solidFill>
                <a:latin typeface="Arial"/>
              </a:rPr>
              <a:t>•  If POST /api/enrollments trusted req.body.userId, anyone with curl could enrol anyone.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id comes from a verified signature, not from something the caller typed.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api/_lib/auth.js (real code)</a:t>
            </a:r>
          </a:p>
          <a:p>
            <a:pPr algn="l">
              <a:spcAft>
                <a:spcPts val="200"/>
              </a:spcAft>
            </a:pPr>
            <a:r>
              <a:rPr sz="1150" b="0">
                <a:solidFill>
                  <a:srgbClr val="9CDCFE"/>
                </a:solidFill>
                <a:latin typeface="Arial"/>
              </a:rPr>
              <a:t>export function requireAuth(req) {</a:t>
            </a:r>
          </a:p>
          <a:p>
            <a:pPr algn="l">
              <a:spcAft>
                <a:spcPts val="200"/>
              </a:spcAft>
            </a:pPr>
            <a:r>
              <a:rPr sz="1150" b="0">
                <a:solidFill>
                  <a:srgbClr val="9CDCFE"/>
                </a:solidFill>
                <a:latin typeface="Arial"/>
              </a:rPr>
              <a:t>  const header = req.headers?.authorization ?? ''</a:t>
            </a:r>
          </a:p>
          <a:p>
            <a:pPr algn="l">
              <a:spcAft>
                <a:spcPts val="200"/>
              </a:spcAft>
            </a:pPr>
            <a:r>
              <a:rPr sz="1150" b="0">
                <a:solidFill>
                  <a:srgbClr val="9CDCFE"/>
                </a:solidFill>
                <a:latin typeface="Arial"/>
              </a:rPr>
              <a:t>  if (!header.startsWith('Bearer ')) throw new HttpError(401, '...')</a:t>
            </a:r>
          </a:p>
          <a:p>
            <a:pPr algn="l">
              <a:spcAft>
                <a:spcPts val="200"/>
              </a:spcAft>
            </a:pPr>
            <a:r>
              <a:rPr sz="1150" b="0">
                <a:solidFill>
                  <a:srgbClr val="9CDCFE"/>
                </a:solidFill>
                <a:latin typeface="Arial"/>
              </a:rPr>
              <a:t>  const token = header.slice('Bearer '.length).trim()</a:t>
            </a:r>
          </a:p>
          <a:p>
            <a:pPr algn="l">
              <a:spcAft>
                <a:spcPts val="200"/>
              </a:spcAft>
            </a:pPr>
            <a:r>
              <a:rPr sz="1150" b="0">
                <a:solidFill>
                  <a:srgbClr val="9CDCFE"/>
                </a:solidFill>
                <a:latin typeface="Arial"/>
              </a:rPr>
              <a:t>  const payload = jwt.verify(token, JWT_SECRET)  // throws if forged</a:t>
            </a:r>
          </a:p>
          <a:p>
            <a:pPr algn="l">
              <a:spcAft>
                <a:spcPts val="200"/>
              </a:spcAft>
            </a:pPr>
            <a:r>
              <a:rPr sz="1150" b="0">
                <a:solidFill>
                  <a:srgbClr val="9CDCFE"/>
                </a:solidFill>
                <a:latin typeface="Arial"/>
              </a:rPr>
              <a:t>  return Number(payload.sub)   // verified, not claimed</a:t>
            </a:r>
          </a:p>
          <a:p>
            <a:pPr algn="l">
              <a:spcAft>
                <a:spcPts val="200"/>
              </a:spcAft>
            </a:pPr>
            <a:r>
              <a:rPr sz="1150" b="0">
                <a:solidFill>
                  <a:srgbClr val="9CDCFE"/>
                </a:solidFill>
                <a:latin typeface="Arial"/>
              </a:rPr>
              <a:t>}</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JWT is a tamper-proof wristband — the payload is readable by anyone, but only the door staff can make a real one.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AUTHORISATION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Ownership is enforced in the SQL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An id in the URL comes from the address bar. Anyone can change a 4 to a 5 and ask to delete it.</a:t>
            </a:r>
          </a:p>
          <a:p>
            <a:pPr>
              <a:spcAft>
                <a:spcPts val="900"/>
              </a:spcAft>
            </a:pPr>
            <a:r>
              <a:rPr sz="1300" b="0">
                <a:solidFill>
                  <a:srgbClr val="161B26"/>
                </a:solidFill>
                <a:latin typeface="Arial"/>
              </a:rPr>
              <a:t>•  So the id alone is never enough. Every statement carries TWO conditions, and the second is ownership.</a:t>
            </a:r>
          </a:p>
          <a:p>
            <a:pPr>
              <a:spcAft>
                <a:spcPts val="900"/>
              </a:spcAft>
            </a:pPr>
            <a:r>
              <a:rPr sz="1300" b="0">
                <a:solidFill>
                  <a:srgbClr val="161B26"/>
                </a:solidFill>
                <a:latin typeface="Arial"/>
              </a:rPr>
              <a:t>•  `where id = ${id} and user_id = ${userId}` — the userId comes from the verified JWT, not the caller.</a:t>
            </a:r>
          </a:p>
          <a:p>
            <a:pPr>
              <a:spcAft>
                <a:spcPts val="900"/>
              </a:spcAft>
            </a:pPr>
            <a:r>
              <a:rPr sz="1300" b="0">
                <a:solidFill>
                  <a:srgbClr val="161B26"/>
                </a:solidFill>
                <a:latin typeface="Arial"/>
              </a:rPr>
              <a:t>•  A row you do not own simply does not match, so Postgres changes nothing and we answer 404.</a:t>
            </a:r>
          </a:p>
          <a:p>
            <a:pPr>
              <a:spcAft>
                <a:spcPts val="900"/>
              </a:spcAft>
            </a:pPr>
            <a:r>
              <a:rPr sz="1300" b="0">
                <a:solidFill>
                  <a:srgbClr val="161B26"/>
                </a:solidFill>
                <a:latin typeface="Arial"/>
              </a:rPr>
              <a:t>•  Get this wrong and you have an Insecure Direct Object Reference — one of the commonest real bugs.</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The URL says WHICH row; the token says WHOSE. Both go in the WHERE clause.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api/enrollments/[id].js (real code)</a:t>
            </a:r>
          </a:p>
          <a:p>
            <a:pPr algn="l">
              <a:spcAft>
                <a:spcPts val="200"/>
              </a:spcAft>
            </a:pPr>
            <a:r>
              <a:rPr sz="989" b="0">
                <a:solidFill>
                  <a:srgbClr val="9CDCFE"/>
                </a:solidFill>
                <a:latin typeface="Arial"/>
              </a:rPr>
              <a:t>const userId = requireAuth(req)         // from the JWT</a:t>
            </a:r>
          </a:p>
          <a:p>
            <a:pPr algn="l">
              <a:spcAft>
                <a:spcPts val="200"/>
              </a:spcAft>
            </a:pPr>
            <a:r>
              <a:rPr sz="989" b="0">
                <a:solidFill>
                  <a:srgbClr val="9CDCFE"/>
                </a:solidFill>
                <a:latin typeface="Arial"/>
              </a:rPr>
              <a:t>const { id } = req.query ?? {}          // from the URL</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const rows = await sql`</a:t>
            </a:r>
          </a:p>
          <a:p>
            <a:pPr algn="l">
              <a:spcAft>
                <a:spcPts val="200"/>
              </a:spcAft>
            </a:pPr>
            <a:r>
              <a:rPr sz="989" b="0">
                <a:solidFill>
                  <a:srgbClr val="9CDCFE"/>
                </a:solidFill>
                <a:latin typeface="Arial"/>
              </a:rPr>
              <a:t>  delete from enrollments</a:t>
            </a:r>
          </a:p>
          <a:p>
            <a:pPr algn="l">
              <a:spcAft>
                <a:spcPts val="200"/>
              </a:spcAft>
            </a:pPr>
            <a:r>
              <a:rPr sz="989" b="0">
                <a:solidFill>
                  <a:srgbClr val="9CDCFE"/>
                </a:solidFill>
                <a:latin typeface="Arial"/>
              </a:rPr>
              <a:t>  where id = ${id} and user_id = ${userId}</a:t>
            </a:r>
          </a:p>
          <a:p>
            <a:pPr algn="l">
              <a:spcAft>
                <a:spcPts val="200"/>
              </a:spcAft>
            </a:pPr>
            <a:r>
              <a:rPr sz="989" b="0">
                <a:solidFill>
                  <a:srgbClr val="9CDCFE"/>
                </a:solidFill>
                <a:latin typeface="Arial"/>
              </a:rPr>
              <a:t>  returning id::int as id</a:t>
            </a:r>
          </a:p>
          <a:p>
            <a:pPr algn="l">
              <a:spcAft>
                <a:spcPts val="200"/>
              </a:spcAft>
            </a:pPr>
            <a:r>
              <a:rPr sz="989" b="0">
                <a:solidFill>
                  <a:srgbClr val="9CDCFE"/>
                </a:solidFill>
                <a:latin typeface="Arial"/>
              </a:rPr>
              <a:t>`                    // ^^^^^^^^^^^^^^^^^^^ the real check</a:t>
            </a:r>
          </a:p>
          <a:p>
            <a:pPr algn="l">
              <a:spcAft>
                <a:spcPts val="200"/>
              </a:spcAft>
            </a:pPr>
            <a:r>
              <a:rPr sz="989" b="0">
                <a:solidFill>
                  <a:srgbClr val="9CDCFE"/>
                </a:solidFill>
                <a:latin typeface="Arial"/>
              </a:rPr>
              <a:t>if (rows.length === 0) throw new HttpError(404, 'Not found.')</a:t>
            </a:r>
          </a:p>
          <a:p>
            <a:pPr algn="l">
              <a:spcAft>
                <a:spcPts val="200"/>
              </a:spcAft>
            </a:pPr>
            <a:r>
              <a:rPr sz="989"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An id in the URL is a request, not a permission — asking for locker 5 does not make locker 5 yours.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THREE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 remote read has three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remote read is never instant, so you must model loading, error and success as distinct states.</a:t>
            </a:r>
          </a:p>
          <a:p>
            <a:pPr>
              <a:spcAft>
                <a:spcPts val="900"/>
              </a:spcAft>
            </a:pPr>
            <a:r>
              <a:rPr sz="1300" b="0">
                <a:solidFill>
                  <a:srgbClr val="161B26"/>
                </a:solidFill>
                <a:latin typeface="Arial"/>
              </a:rPr>
              <a:t>•  Hold three pieces of state: the data, a loading flag, and an error value.</a:t>
            </a:r>
          </a:p>
          <a:p>
            <a:pPr>
              <a:spcAft>
                <a:spcPts val="900"/>
              </a:spcAft>
            </a:pPr>
            <a:r>
              <a:rPr sz="1300" b="0">
                <a:solidFill>
                  <a:srgbClr val="161B26"/>
                </a:solidFill>
                <a:latin typeface="Arial"/>
              </a:rPr>
              <a:t>•  Show a skeleton while loading, a message on error, and the data on success — never assume success.</a:t>
            </a:r>
          </a:p>
          <a:p>
            <a:pPr>
              <a:spcAft>
                <a:spcPts val="900"/>
              </a:spcAft>
            </a:pPr>
            <a:r>
              <a:rPr sz="1300" b="0">
                <a:solidFill>
                  <a:srgbClr val="161B26"/>
                </a:solidFill>
                <a:latin typeface="Arial"/>
              </a:rPr>
              <a:t>•  AI-generated code reliably writes the loading and success branches and forgets the error one.</a:t>
            </a:r>
          </a:p>
          <a:p>
            <a:pPr>
              <a:spcAft>
                <a:spcPts val="900"/>
              </a:spcAft>
            </a:pPr>
            <a:r>
              <a:rPr sz="1300" b="0">
                <a:solidFill>
                  <a:srgbClr val="161B26"/>
                </a:solidFill>
                <a:latin typeface="Arial"/>
              </a:rPr>
              <a:t>•  Always clear the flag in a finally, or one failed request leaves the UI spinning forever.</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Model loading, error and success — the error branch is the one AI skips.</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src/hooks/useCourses.js (real code)</a:t>
            </a:r>
          </a:p>
          <a:p>
            <a:pPr algn="l">
              <a:spcAft>
                <a:spcPts val="200"/>
              </a:spcAft>
            </a:pPr>
            <a:r>
              <a:rPr sz="1095" b="0">
                <a:solidFill>
                  <a:srgbClr val="9CDCFE"/>
                </a:solidFill>
                <a:latin typeface="Arial"/>
              </a:rPr>
              <a:t>try {</a:t>
            </a:r>
          </a:p>
          <a:p>
            <a:pPr algn="l">
              <a:spcAft>
                <a:spcPts val="200"/>
              </a:spcAft>
            </a:pPr>
            <a:r>
              <a:rPr sz="1095" b="0">
                <a:solidFill>
                  <a:srgbClr val="9CDCFE"/>
                </a:solidFill>
                <a:latin typeface="Arial"/>
              </a:rPr>
              <a:t>  const data = await api.get('/courses')</a:t>
            </a:r>
          </a:p>
          <a:p>
            <a:pPr algn="l">
              <a:spcAft>
                <a:spcPts val="200"/>
              </a:spcAft>
            </a:pPr>
            <a:r>
              <a:rPr sz="1095" b="0">
                <a:solidFill>
                  <a:srgbClr val="9CDCFE"/>
                </a:solidFill>
                <a:latin typeface="Arial"/>
              </a:rPr>
              <a:t>  setCourses(data); setError(null)</a:t>
            </a:r>
          </a:p>
          <a:p>
            <a:pPr algn="l">
              <a:spcAft>
                <a:spcPts val="200"/>
              </a:spcAft>
            </a:pPr>
            <a:r>
              <a:rPr sz="1095" b="0">
                <a:solidFill>
                  <a:srgbClr val="9CDCFE"/>
                </a:solidFill>
                <a:latin typeface="Arial"/>
              </a:rPr>
              <a:t>} catch (err) {</a:t>
            </a:r>
          </a:p>
          <a:p>
            <a:pPr algn="l">
              <a:spcAft>
                <a:spcPts val="200"/>
              </a:spcAft>
            </a:pPr>
            <a:r>
              <a:rPr sz="1095" b="0">
                <a:solidFill>
                  <a:srgbClr val="9CDCFE"/>
                </a:solidFill>
                <a:latin typeface="Arial"/>
              </a:rPr>
              <a:t>  setError(err.message)          // the branch AI forgets</a:t>
            </a:r>
          </a:p>
          <a:p>
            <a:pPr algn="l">
              <a:spcAft>
                <a:spcPts val="200"/>
              </a:spcAft>
            </a:pPr>
            <a:r>
              <a:rPr sz="1095" b="0">
                <a:solidFill>
                  <a:srgbClr val="9CDCFE"/>
                </a:solidFill>
                <a:latin typeface="Arial"/>
              </a:rPr>
              <a:t>} finally {</a:t>
            </a:r>
          </a:p>
          <a:p>
            <a:pPr algn="l">
              <a:spcAft>
                <a:spcPts val="200"/>
              </a:spcAft>
            </a:pPr>
            <a:r>
              <a:rPr sz="1095" b="0">
                <a:solidFill>
                  <a:srgbClr val="9CDCFE"/>
                </a:solidFill>
                <a:latin typeface="Arial"/>
              </a:rPr>
              <a:t>  setLoading(false)              // or it spins forever</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Every fetch is a package delivery — it is either in transit, lost, or on your doorstep, and the UI must show all three.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response.ok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fetch does not reject on 404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fetch rejects its Promise only on a network failure, not on a 404 or a 500 HTTP response.</a:t>
            </a:r>
          </a:p>
          <a:p>
            <a:pPr>
              <a:spcAft>
                <a:spcPts val="900"/>
              </a:spcAft>
            </a:pPr>
            <a:r>
              <a:rPr sz="1300" b="0">
                <a:solidFill>
                  <a:srgbClr val="161B26"/>
                </a:solidFill>
                <a:latin typeface="Arial"/>
              </a:rPr>
              <a:t>•  A 404 is a successful delivery of a failure message, so the await resolves perfectly normally.</a:t>
            </a:r>
          </a:p>
          <a:p>
            <a:pPr>
              <a:spcAft>
                <a:spcPts val="900"/>
              </a:spcAft>
            </a:pPr>
            <a:r>
              <a:rPr sz="1300" b="0">
                <a:solidFill>
                  <a:srgbClr val="161B26"/>
                </a:solidFill>
                <a:latin typeface="Arial"/>
              </a:rPr>
              <a:t>•  Always check response.ok (true only for 200-299) before you read the body.</a:t>
            </a:r>
          </a:p>
          <a:p>
            <a:pPr>
              <a:spcAft>
                <a:spcPts val="900"/>
              </a:spcAft>
            </a:pPr>
            <a:r>
              <a:rPr sz="1300" b="0">
                <a:solidFill>
                  <a:srgbClr val="161B26"/>
                </a:solidFill>
                <a:latin typeface="Arial"/>
              </a:rPr>
              <a:t>•  Skip it and an error payload like {error: '...'} sails into your UI and renders as if it were a course.</a:t>
            </a:r>
          </a:p>
          <a:p>
            <a:pPr>
              <a:spcAft>
                <a:spcPts val="900"/>
              </a:spcAft>
            </a:pPr>
            <a:r>
              <a:rPr sz="1300" b="0">
                <a:solidFill>
                  <a:srgbClr val="161B26"/>
                </a:solidFill>
                <a:latin typeface="Arial"/>
              </a:rPr>
              <a:t>•  Carry the status on the thrown error so a 404 (no such course) is distinguishable from a 500.</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Check response.ok before reading the body — fetch won't reject on 404.</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src/lib/api.js (real code)</a:t>
            </a:r>
          </a:p>
          <a:p>
            <a:pPr algn="l">
              <a:spcAft>
                <a:spcPts val="200"/>
              </a:spcAft>
            </a:pPr>
            <a:r>
              <a:rPr sz="1095" b="0">
                <a:solidFill>
                  <a:srgbClr val="9CDCFE"/>
                </a:solidFill>
                <a:latin typeface="Arial"/>
              </a:rPr>
              <a:t>const res = await fetch(`${BASE}${path}`, { ... })</a:t>
            </a:r>
          </a:p>
          <a:p>
            <a:pPr algn="l">
              <a:spcAft>
                <a:spcPts val="200"/>
              </a:spcAft>
            </a:pPr>
            <a:r>
              <a:rPr sz="1095" b="0">
                <a:solidFill>
                  <a:srgbClr val="9CDCFE"/>
                </a:solidFill>
                <a:latin typeface="Arial"/>
              </a:rPr>
              <a:t>const data = res.status === 204 ? null : await res.json()</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if (!res.ok) {</a:t>
            </a:r>
          </a:p>
          <a:p>
            <a:pPr algn="l">
              <a:spcAft>
                <a:spcPts val="200"/>
              </a:spcAft>
            </a:pPr>
            <a:r>
              <a:rPr sz="1095" b="0">
                <a:solidFill>
                  <a:srgbClr val="9CDCFE"/>
                </a:solidFill>
                <a:latin typeface="Arial"/>
              </a:rPr>
              <a:t>  const err = new Error(data?.error ?? `Failed (${res.status})`)</a:t>
            </a:r>
          </a:p>
          <a:p>
            <a:pPr algn="l">
              <a:spcAft>
                <a:spcPts val="200"/>
              </a:spcAft>
            </a:pPr>
            <a:r>
              <a:rPr sz="1095" b="0">
                <a:solidFill>
                  <a:srgbClr val="9CDCFE"/>
                </a:solidFill>
                <a:latin typeface="Arial"/>
              </a:rPr>
              <a:t>  err.status = res.status   // 404 -&gt; not found page</a:t>
            </a:r>
          </a:p>
          <a:p>
            <a:pPr algn="l">
              <a:spcAft>
                <a:spcPts val="200"/>
              </a:spcAft>
            </a:pPr>
            <a:r>
              <a:rPr sz="1095" b="0">
                <a:solidFill>
                  <a:srgbClr val="9CDCFE"/>
                </a:solidFill>
                <a:latin typeface="Arial"/>
              </a:rPr>
              <a:t>  throw err                 // 500 -&gt; error message</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fetch only cries if the road is out — a 404 is a signed 'not found' slip delivered successfully, so you must read the slip.</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AUTH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structure of a JSON Web Token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A JWT has three parts: a header, a payload of claims, and a cryptographic signature.</a:t>
            </a:r>
          </a:p>
          <a:p>
            <a:pPr>
              <a:spcAft>
                <a:spcPts val="1000"/>
              </a:spcAft>
            </a:pPr>
            <a:r>
              <a:rPr sz="1300" b="0">
                <a:solidFill>
                  <a:srgbClr val="161B26"/>
                </a:solidFill>
                <a:latin typeface="Arial"/>
              </a:rPr>
              <a:t>•  The payload is only base64-encoded, not encrypted — anyone can read it, so never put a secret in it.</a:t>
            </a:r>
          </a:p>
          <a:p>
            <a:pPr>
              <a:spcAft>
                <a:spcPts val="1000"/>
              </a:spcAft>
            </a:pPr>
            <a:r>
              <a:rPr sz="1300" b="0">
                <a:solidFill>
                  <a:srgbClr val="161B26"/>
                </a:solidFill>
                <a:latin typeface="Arial"/>
              </a:rPr>
              <a:t>•  The signature is computed with JWT_SECRET, known only to the server, so the token cannot be forged.</a:t>
            </a:r>
          </a:p>
          <a:p>
            <a:pPr>
              <a:spcAft>
                <a:spcPts val="1000"/>
              </a:spcAft>
            </a:pPr>
            <a:r>
              <a:rPr sz="1300" b="0">
                <a:solidFill>
                  <a:srgbClr val="161B26"/>
                </a:solidFill>
                <a:latin typeface="Arial"/>
              </a:rPr>
              <a:t>•  Our API's requireAuth() verifies that signature and reads the user id from the 'sub' claim.</a:t>
            </a:r>
          </a:p>
          <a:p>
            <a:pPr>
              <a:spcAft>
                <a:spcPts val="1000"/>
              </a:spcAft>
            </a:pPr>
            <a:r>
              <a:rPr sz="1300" b="0">
                <a:solidFill>
                  <a:srgbClr val="161B26"/>
                </a:solidFill>
                <a:latin typeface="Arial"/>
              </a:rPr>
              <a:t>•  That verified id — never a value from the request body — is what every protected route trusts.</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jwt-structure.png"/>
          <p:cNvPicPr>
            <a:picLocks noChangeAspect="1"/>
          </p:cNvPicPr>
          <p:nvPr/>
        </p:nvPicPr>
        <p:blipFill>
          <a:blip r:embed="rId2"/>
          <a:stretch>
            <a:fillRect/>
          </a:stretch>
        </p:blipFill>
        <p:spPr>
          <a:xfrm>
            <a:off x="5916168" y="2266683"/>
            <a:ext cx="5385816" cy="2827553"/>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A signed JWT carries the user's id in its payload; requireAuth() verifies the signature and reads 'sub'.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5.1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Three Tiers — A Neon Database and Your First API Route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20 courses live in a JavaScript array. The learner creates a Neon Postgres project, runs the real schema, and writes the first Vercel serverless function — GET /api/courses — reading it. The architectural rule is drilled here: the browser NEVER talks to Postgres, and DATABASE_URL must never carry a VITE_ prefix, because a VITE_ variable is compiled into the bundle every visitor downloads.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live Neon database with users, courses (20 seeded), enrollments and reviews — plus api/_lib/db.js and api/courses/index.js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Neon Postgres, @neondatabase/serverless, Vercel Functions, vercel dev, .env.local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tiers: the browser's only door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src/lib/api.js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05" b="0">
                <a:solidFill>
                  <a:srgbClr val="9CDCFE"/>
                </a:solidFill>
                <a:latin typeface="Arial"/>
              </a:rPr>
              <a:t>// The browser's ONLY way to reach the server.</a:t>
            </a:r>
          </a:p>
          <a:p>
            <a:pPr algn="l">
              <a:spcAft>
                <a:spcPts val="200"/>
              </a:spcAft>
            </a:pPr>
            <a:r>
              <a:rPr sz="1205" b="0">
                <a:solidFill>
                  <a:srgbClr val="9CDCFE"/>
                </a:solidFill>
                <a:latin typeface="Arial"/>
              </a:rPr>
              <a:t>//   React (this file) --fetch--&gt; /api/* --sql--&gt; Neon</a:t>
            </a:r>
          </a:p>
          <a:p>
            <a:pPr algn="l">
              <a:spcAft>
                <a:spcPts val="200"/>
              </a:spcAft>
            </a:pPr>
            <a:r>
              <a:rPr sz="1205" b="0">
                <a:solidFill>
                  <a:srgbClr val="9CDCFE"/>
                </a:solidFill>
                <a:latin typeface="Arial"/>
              </a:rPr>
              <a:t>// No connection string, no password, no SQL in here.</a:t>
            </a:r>
          </a:p>
          <a:p>
            <a:pPr algn="l">
              <a:spcAft>
                <a:spcPts val="200"/>
              </a:spcAft>
            </a:pPr>
            <a:r>
              <a:rPr sz="1205" b="0">
                <a:solidFill>
                  <a:srgbClr val="9CDCFE"/>
                </a:solidFill>
                <a:latin typeface="Arial"/>
              </a:rPr>
              <a:t>const BASE = '/api'</a:t>
            </a:r>
          </a:p>
          <a:p>
            <a:pPr algn="l">
              <a:spcAft>
                <a:spcPts val="200"/>
              </a:spcAft>
            </a:pPr>
            <a:r>
              <a:rPr sz="1205" b="0">
                <a:solidFill>
                  <a:srgbClr val="9CDCFE"/>
                </a:solidFill>
                <a:latin typeface="Arial"/>
              </a:rPr>
              <a:t> </a:t>
            </a:r>
          </a:p>
          <a:p>
            <a:pPr algn="l">
              <a:spcAft>
                <a:spcPts val="200"/>
              </a:spcAft>
            </a:pPr>
            <a:r>
              <a:rPr sz="1205" b="0">
                <a:solidFill>
                  <a:srgbClr val="9CDCFE"/>
                </a:solidFill>
                <a:latin typeface="Arial"/>
              </a:rPr>
              <a:t>async function request(method, path, body) {</a:t>
            </a:r>
          </a:p>
          <a:p>
            <a:pPr algn="l">
              <a:spcAft>
                <a:spcPts val="200"/>
              </a:spcAft>
            </a:pPr>
            <a:r>
              <a:rPr sz="1205" b="0">
                <a:solidFill>
                  <a:srgbClr val="9CDCFE"/>
                </a:solidFill>
                <a:latin typeface="Arial"/>
              </a:rPr>
              <a:t>  const token = getToken()</a:t>
            </a:r>
          </a:p>
          <a:p>
            <a:pPr algn="l">
              <a:spcAft>
                <a:spcPts val="200"/>
              </a:spcAft>
            </a:pPr>
            <a:r>
              <a:rPr sz="1205" b="0">
                <a:solidFill>
                  <a:srgbClr val="9CDCFE"/>
                </a:solidFill>
                <a:latin typeface="Arial"/>
              </a:rPr>
              <a:t>  const res = await fetch(`${BASE}${path}`, {</a:t>
            </a:r>
          </a:p>
          <a:p>
            <a:pPr algn="l">
              <a:spcAft>
                <a:spcPts val="200"/>
              </a:spcAft>
            </a:pPr>
            <a:r>
              <a:rPr sz="1205" b="0">
                <a:solidFill>
                  <a:srgbClr val="9CDCFE"/>
                </a:solidFill>
                <a:latin typeface="Arial"/>
              </a:rPr>
              <a:t>    method,</a:t>
            </a:r>
          </a:p>
          <a:p>
            <a:pPr algn="l">
              <a:spcAft>
                <a:spcPts val="200"/>
              </a:spcAft>
            </a:pPr>
            <a:r>
              <a:rPr sz="1205" b="0">
                <a:solidFill>
                  <a:srgbClr val="9CDCFE"/>
                </a:solidFill>
                <a:latin typeface="Arial"/>
              </a:rPr>
              <a:t>    headers: {</a:t>
            </a:r>
          </a:p>
          <a:p>
            <a:pPr algn="l">
              <a:spcAft>
                <a:spcPts val="200"/>
              </a:spcAft>
            </a:pPr>
            <a:r>
              <a:rPr sz="1205" b="0">
                <a:solidFill>
                  <a:srgbClr val="9CDCFE"/>
                </a:solidFill>
                <a:latin typeface="Arial"/>
              </a:rPr>
              <a:t>      ...(body ? { 'Content-Type': 'application/json' } : {}),</a:t>
            </a:r>
          </a:p>
          <a:p>
            <a:pPr algn="l">
              <a:spcAft>
                <a:spcPts val="200"/>
              </a:spcAft>
            </a:pPr>
            <a:r>
              <a:rPr sz="1205" b="0">
                <a:solidFill>
                  <a:srgbClr val="9CDCFE"/>
                </a:solidFill>
                <a:latin typeface="Arial"/>
              </a:rPr>
              <a:t>      ...(token ? { Authorization: `Bearer ${token}` } : {}),</a:t>
            </a:r>
          </a:p>
          <a:p>
            <a:pPr algn="l">
              <a:spcAft>
                <a:spcPts val="200"/>
              </a:spcAft>
            </a:pPr>
            <a:r>
              <a:rPr sz="1205" b="0">
                <a:solidFill>
                  <a:srgbClr val="9CDCFE"/>
                </a:solidFill>
                <a:latin typeface="Arial"/>
              </a:rPr>
              <a:t>    },</a:t>
            </a:r>
          </a:p>
          <a:p>
            <a:pPr algn="l">
              <a:spcAft>
                <a:spcPts val="200"/>
              </a:spcAft>
            </a:pPr>
            <a:r>
              <a:rPr sz="1205" b="0">
                <a:solidFill>
                  <a:srgbClr val="9CDCFE"/>
                </a:solidFill>
                <a:latin typeface="Arial"/>
              </a:rPr>
              <a:t>    body: body ? JSON.stringify(body) : undefined,</a:t>
            </a:r>
          </a:p>
          <a:p>
            <a:pPr algn="l">
              <a:spcAft>
                <a:spcPts val="200"/>
              </a:spcAft>
            </a:pPr>
            <a:r>
              <a:rPr sz="1205" b="0">
                <a:solidFill>
                  <a:srgbClr val="9CDCFE"/>
                </a:solidFill>
                <a:latin typeface="Arial"/>
              </a:rPr>
              <a:t>  })</a:t>
            </a:r>
          </a:p>
          <a:p>
            <a:pPr algn="l">
              <a:spcAft>
                <a:spcPts val="200"/>
              </a:spcAft>
            </a:pPr>
            <a:r>
              <a:rPr sz="1205" b="0">
                <a:solidFill>
                  <a:srgbClr val="9CDCFE"/>
                </a:solidFill>
                <a:latin typeface="Arial"/>
              </a:rPr>
              <a:t>  // ...check res.ok, parse JSON...</a:t>
            </a:r>
          </a:p>
          <a:p>
            <a:pPr algn="l">
              <a:spcAft>
                <a:spcPts val="200"/>
              </a:spcAft>
            </a:pPr>
            <a:r>
              <a:rPr sz="1205"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browser knows one thing: how to call our own /api/* URLs. It never touches Postgres.</a:t>
            </a:r>
          </a:p>
          <a:p>
            <a:pPr>
              <a:spcAft>
                <a:spcPts val="1000"/>
              </a:spcAft>
            </a:pPr>
            <a:r>
              <a:rPr sz="1250" b="0">
                <a:solidFill>
                  <a:srgbClr val="161B26"/>
                </a:solidFill>
                <a:latin typeface="Arial"/>
              </a:rPr>
              <a:t>•  The JWT rides along in the Authorization header; the server verifies it before trusting it.</a:t>
            </a:r>
          </a:p>
          <a:p>
            <a:pPr>
              <a:spcAft>
                <a:spcPts val="1000"/>
              </a:spcAft>
            </a:pPr>
            <a:r>
              <a:rPr sz="1250" b="0">
                <a:solidFill>
                  <a:srgbClr val="161B26"/>
                </a:solidFill>
                <a:latin typeface="Arial"/>
              </a:rPr>
              <a:t>•  Every rule of security lives on the other side of this fetch, where the user cannot edit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fetch does not reject on 404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src/lib/api.js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const data = res.status === 204</a:t>
            </a:r>
          </a:p>
          <a:p>
            <a:pPr algn="l">
              <a:spcAft>
                <a:spcPts val="200"/>
              </a:spcAft>
            </a:pPr>
            <a:r>
              <a:rPr sz="1250" b="0">
                <a:solidFill>
                  <a:srgbClr val="9CDCFE"/>
                </a:solidFill>
                <a:latin typeface="Arial"/>
              </a:rPr>
              <a:t>  ? null</a:t>
            </a:r>
          </a:p>
          <a:p>
            <a:pPr algn="l">
              <a:spcAft>
                <a:spcPts val="200"/>
              </a:spcAft>
            </a:pPr>
            <a:r>
              <a:rPr sz="1250" b="0">
                <a:solidFill>
                  <a:srgbClr val="9CDCFE"/>
                </a:solidFill>
                <a:latin typeface="Arial"/>
              </a:rPr>
              <a:t>  : await res.json().catch(() =&gt; null)</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fetch() does NOT throw on 404 or 500 — only a</a:t>
            </a:r>
          </a:p>
          <a:p>
            <a:pPr algn="l">
              <a:spcAft>
                <a:spcPts val="200"/>
              </a:spcAft>
            </a:pPr>
            <a:r>
              <a:rPr sz="1250" b="0">
                <a:solidFill>
                  <a:srgbClr val="9CDCFE"/>
                </a:solidFill>
                <a:latin typeface="Arial"/>
              </a:rPr>
              <a:t>// network failure rejects. Without this check, an</a:t>
            </a:r>
          </a:p>
          <a:p>
            <a:pPr algn="l">
              <a:spcAft>
                <a:spcPts val="200"/>
              </a:spcAft>
            </a:pPr>
            <a:r>
              <a:rPr sz="1250" b="0">
                <a:solidFill>
                  <a:srgbClr val="9CDCFE"/>
                </a:solidFill>
                <a:latin typeface="Arial"/>
              </a:rPr>
              <a:t>// error payload would sail into the UI as if it were</a:t>
            </a:r>
          </a:p>
          <a:p>
            <a:pPr algn="l">
              <a:spcAft>
                <a:spcPts val="200"/>
              </a:spcAft>
            </a:pPr>
            <a:r>
              <a:rPr sz="1250" b="0">
                <a:solidFill>
                  <a:srgbClr val="9CDCFE"/>
                </a:solidFill>
                <a:latin typeface="Arial"/>
              </a:rPr>
              <a:t>// data and be rendered as a course.</a:t>
            </a:r>
          </a:p>
          <a:p>
            <a:pPr algn="l">
              <a:spcAft>
                <a:spcPts val="200"/>
              </a:spcAft>
            </a:pPr>
            <a:r>
              <a:rPr sz="1250" b="0">
                <a:solidFill>
                  <a:srgbClr val="9CDCFE"/>
                </a:solidFill>
                <a:latin typeface="Arial"/>
              </a:rPr>
              <a:t>if (!res.ok) {</a:t>
            </a:r>
          </a:p>
          <a:p>
            <a:pPr algn="l">
              <a:spcAft>
                <a:spcPts val="200"/>
              </a:spcAft>
            </a:pPr>
            <a:r>
              <a:rPr sz="1250" b="0">
                <a:solidFill>
                  <a:srgbClr val="9CDCFE"/>
                </a:solidFill>
                <a:latin typeface="Arial"/>
              </a:rPr>
              <a:t>  const err = new Error(data?.error ?? `Failed (${res.status})`)</a:t>
            </a:r>
          </a:p>
          <a:p>
            <a:pPr algn="l">
              <a:spcAft>
                <a:spcPts val="200"/>
              </a:spcAft>
            </a:pPr>
            <a:r>
              <a:rPr sz="1250" b="0">
                <a:solidFill>
                  <a:srgbClr val="9CDCFE"/>
                </a:solidFill>
                <a:latin typeface="Arial"/>
              </a:rPr>
              <a:t>  err.status = res.status   // carry it: 404 vs 500</a:t>
            </a:r>
          </a:p>
          <a:p>
            <a:pPr algn="l">
              <a:spcAft>
                <a:spcPts val="200"/>
              </a:spcAft>
            </a:pPr>
            <a:r>
              <a:rPr sz="1250" b="0">
                <a:solidFill>
                  <a:srgbClr val="9CDCFE"/>
                </a:solidFill>
                <a:latin typeface="Arial"/>
              </a:rPr>
              <a:t>  throw err</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return data</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fetch resolves a 404 normally — you must check res.ok yourself before reading the body.</a:t>
            </a:r>
          </a:p>
          <a:p>
            <a:pPr>
              <a:spcAft>
                <a:spcPts val="1000"/>
              </a:spcAft>
            </a:pPr>
            <a:r>
              <a:rPr sz="1250" b="0">
                <a:solidFill>
                  <a:srgbClr val="161B26"/>
                </a:solidFill>
                <a:latin typeface="Arial"/>
              </a:rPr>
              <a:t>•  Carrying err.status lets a caller tell 'no such course' (404) from 'server broke' (500).</a:t>
            </a:r>
          </a:p>
          <a:p>
            <a:pPr>
              <a:spcAft>
                <a:spcPts val="1000"/>
              </a:spcAft>
            </a:pPr>
            <a:r>
              <a:rPr sz="1250" b="0">
                <a:solidFill>
                  <a:srgbClr val="161B26"/>
                </a:solidFill>
                <a:latin typeface="Arial"/>
              </a:rPr>
              <a:t>•  This one wrapper gives every hook the same three-state behaviour for free.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Three Tiers — A Neon Database and Your First API Route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curl /api/courses returns all 20 Cook &amp; Bake courses as JSON with numeric ids and fees; ?category=Bakery returns 10; a POST returns 405; and grepping dist/ for 'postgresql://' returns nothing.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5.2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Parameterised SQL — Dynamic Routes and an Injection Probe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Every course now needs its own URL. The learner adds the dynamic route api/courses/[slug].js, learns that Neon's sql`` tagged template sends the VALUE separately from the SQL, and then attacks their own API with a real injection payload to watch it bounce — before deliberately writing the unsafe version and seeing the difference.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api/courses/[slug].js — one course by slug, a real 404 when there is none — and a security probe you run yourself</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Vercel dynamic routes, tagged templates, parameterised queries, HTTP status codes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API route that reads the catalogue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api/courses/index.js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998" b="0">
                <a:solidFill>
                  <a:srgbClr val="9CDCFE"/>
                </a:solidFill>
                <a:latin typeface="Arial"/>
              </a:rPr>
              <a:t>import { sql } from '../_lib/db.js'</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GET /api/courses  ·  public, no token required.</a:t>
            </a:r>
          </a:p>
          <a:p>
            <a:pPr algn="l">
              <a:spcAft>
                <a:spcPts val="200"/>
              </a:spcAft>
            </a:pPr>
            <a:r>
              <a:rPr sz="998" b="0">
                <a:solidFill>
                  <a:srgbClr val="9CDCFE"/>
                </a:solidFill>
                <a:latin typeface="Arial"/>
              </a:rPr>
              <a:t>export default async function handler(req, res) {</a:t>
            </a:r>
          </a:p>
          <a:p>
            <a:pPr algn="l">
              <a:spcAft>
                <a:spcPts val="200"/>
              </a:spcAft>
            </a:pPr>
            <a:r>
              <a:rPr sz="998" b="0">
                <a:solidFill>
                  <a:srgbClr val="9CDCFE"/>
                </a:solidFill>
                <a:latin typeface="Arial"/>
              </a:rPr>
              <a:t>  const { category, q } = req.query ?? {}</a:t>
            </a:r>
          </a:p>
          <a:p>
            <a:pPr algn="l">
              <a:spcAft>
                <a:spcPts val="200"/>
              </a:spcAft>
            </a:pPr>
            <a:r>
              <a:rPr sz="998" b="0">
                <a:solidFill>
                  <a:srgbClr val="9CDCFE"/>
                </a:solidFill>
                <a:latin typeface="Arial"/>
              </a:rPr>
              <a:t>  const search = q ? `%${q}%` : null</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const courses = await sql`</a:t>
            </a:r>
          </a:p>
          <a:p>
            <a:pPr algn="l">
              <a:spcAft>
                <a:spcPts val="200"/>
              </a:spcAft>
            </a:pPr>
            <a:r>
              <a:rPr sz="998" b="0">
                <a:solidFill>
                  <a:srgbClr val="9CDCFE"/>
                </a:solidFill>
                <a:latin typeface="Arial"/>
              </a:rPr>
              <a:t>    select id::int as id, code, slug, title, category,</a:t>
            </a:r>
          </a:p>
          <a:p>
            <a:pPr algn="l">
              <a:spcAft>
                <a:spcPts val="200"/>
              </a:spcAft>
            </a:pPr>
            <a:r>
              <a:rPr sz="998" b="0">
                <a:solidFill>
                  <a:srgbClr val="9CDCFE"/>
                </a:solidFill>
                <a:latin typeface="Arial"/>
              </a:rPr>
              <a:t>           level, fee::float8 as fee, weeks, campus,</a:t>
            </a:r>
          </a:p>
          <a:p>
            <a:pPr algn="l">
              <a:spcAft>
                <a:spcPts val="200"/>
              </a:spcAft>
            </a:pPr>
            <a:r>
              <a:rPr sz="998" b="0">
                <a:solidFill>
                  <a:srgbClr val="9CDCFE"/>
                </a:solidFill>
                <a:latin typeface="Arial"/>
              </a:rPr>
              <a:t>           summary, emoji, image</a:t>
            </a:r>
          </a:p>
          <a:p>
            <a:pPr algn="l">
              <a:spcAft>
                <a:spcPts val="200"/>
              </a:spcAft>
            </a:pPr>
            <a:r>
              <a:rPr sz="998" b="0">
                <a:solidFill>
                  <a:srgbClr val="9CDCFE"/>
                </a:solidFill>
                <a:latin typeface="Arial"/>
              </a:rPr>
              <a:t>    from courses</a:t>
            </a:r>
          </a:p>
          <a:p>
            <a:pPr algn="l">
              <a:spcAft>
                <a:spcPts val="200"/>
              </a:spcAft>
            </a:pPr>
            <a:r>
              <a:rPr sz="998" b="0">
                <a:solidFill>
                  <a:srgbClr val="9CDCFE"/>
                </a:solidFill>
                <a:latin typeface="Arial"/>
              </a:rPr>
              <a:t>    where (${category ?? null}::text is null</a:t>
            </a:r>
          </a:p>
          <a:p>
            <a:pPr algn="l">
              <a:spcAft>
                <a:spcPts val="200"/>
              </a:spcAft>
            </a:pPr>
            <a:r>
              <a:rPr sz="998" b="0">
                <a:solidFill>
                  <a:srgbClr val="9CDCFE"/>
                </a:solidFill>
                <a:latin typeface="Arial"/>
              </a:rPr>
              <a:t>           or category = ${category ?? null})</a:t>
            </a:r>
          </a:p>
          <a:p>
            <a:pPr algn="l">
              <a:spcAft>
                <a:spcPts val="200"/>
              </a:spcAft>
            </a:pPr>
            <a:r>
              <a:rPr sz="998" b="0">
                <a:solidFill>
                  <a:srgbClr val="9CDCFE"/>
                </a:solidFill>
                <a:latin typeface="Arial"/>
              </a:rPr>
              <a:t>      and (${search}::text is null</a:t>
            </a:r>
          </a:p>
          <a:p>
            <a:pPr algn="l">
              <a:spcAft>
                <a:spcPts val="200"/>
              </a:spcAft>
            </a:pPr>
            <a:r>
              <a:rPr sz="998" b="0">
                <a:solidFill>
                  <a:srgbClr val="9CDCFE"/>
                </a:solidFill>
                <a:latin typeface="Arial"/>
              </a:rPr>
              <a:t>           or title ilike ${search})</a:t>
            </a:r>
          </a:p>
          <a:p>
            <a:pPr algn="l">
              <a:spcAft>
                <a:spcPts val="200"/>
              </a:spcAft>
            </a:pPr>
            <a:r>
              <a:rPr sz="998" b="0">
                <a:solidFill>
                  <a:srgbClr val="9CDCFE"/>
                </a:solidFill>
                <a:latin typeface="Arial"/>
              </a:rPr>
              <a:t>    order by id</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return res.status(200).json(courses)</a:t>
            </a:r>
          </a:p>
          <a:p>
            <a:pPr algn="l">
              <a:spcAft>
                <a:spcPts val="200"/>
              </a:spcAft>
            </a:pPr>
            <a:r>
              <a:rPr sz="99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 file in api/ IS a URL: this one serves GET /api/courses, running on Vercel's servers.</a:t>
            </a:r>
          </a:p>
          <a:p>
            <a:pPr>
              <a:spcAft>
                <a:spcPts val="1000"/>
              </a:spcAft>
            </a:pPr>
            <a:r>
              <a:rPr sz="1250" b="0">
                <a:solidFill>
                  <a:srgbClr val="161B26"/>
                </a:solidFill>
                <a:latin typeface="Arial"/>
              </a:rPr>
              <a:t>•  Query-string values are attacker-controlled — but they only travel as ${} placeholders.</a:t>
            </a:r>
          </a:p>
          <a:p>
            <a:pPr>
              <a:spcAft>
                <a:spcPts val="1000"/>
              </a:spcAft>
            </a:pPr>
            <a:r>
              <a:rPr sz="1250" b="0">
                <a:solidFill>
                  <a:srgbClr val="161B26"/>
                </a:solidFill>
                <a:latin typeface="Arial"/>
              </a:rPr>
              <a:t>•  id::int and fee::float8 cast Postgres strings to real numbers, so === comparisons 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Tagged templates defeat SQL injection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api/_lib/db.js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 neon } from '@neondatabase/serverless'</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DATABASE_URL is read ONLY here — no VITE_ prefix, so</a:t>
            </a:r>
          </a:p>
          <a:p>
            <a:pPr algn="l">
              <a:spcAft>
                <a:spcPts val="200"/>
              </a:spcAft>
            </a:pPr>
            <a:r>
              <a:rPr sz="1250" b="0">
                <a:solidFill>
                  <a:srgbClr val="9CDCFE"/>
                </a:solidFill>
                <a:latin typeface="Arial"/>
              </a:rPr>
              <a:t>// Vite never bundles it into the browser. The password</a:t>
            </a:r>
          </a:p>
          <a:p>
            <a:pPr algn="l">
              <a:spcAft>
                <a:spcPts val="200"/>
              </a:spcAft>
            </a:pPr>
            <a:r>
              <a:rPr sz="1250" b="0">
                <a:solidFill>
                  <a:srgbClr val="9CDCFE"/>
                </a:solidFill>
                <a:latin typeface="Arial"/>
              </a:rPr>
              <a:t>// never leaves the server.</a:t>
            </a:r>
          </a:p>
          <a:p>
            <a:pPr algn="l">
              <a:spcAft>
                <a:spcPts val="200"/>
              </a:spcAft>
            </a:pPr>
            <a:r>
              <a:rPr sz="1250" b="0">
                <a:solidFill>
                  <a:srgbClr val="9CDCFE"/>
                </a:solidFill>
                <a:latin typeface="Arial"/>
              </a:rPr>
              <a:t>export const sql = neon(process.env.DATABASE_URL)</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sql`...` is a TAGGED TEMPLATE: the query text and the</a:t>
            </a:r>
          </a:p>
          <a:p>
            <a:pPr algn="l">
              <a:spcAft>
                <a:spcPts val="200"/>
              </a:spcAft>
            </a:pPr>
            <a:r>
              <a:rPr sz="1250" b="0">
                <a:solidFill>
                  <a:srgbClr val="9CDCFE"/>
                </a:solidFill>
                <a:latin typeface="Arial"/>
              </a:rPr>
              <a:t>// value are sent to Postgres SEPARATELY as $1, $2...</a:t>
            </a:r>
          </a:p>
          <a:p>
            <a:pPr algn="l">
              <a:spcAft>
                <a:spcPts val="200"/>
              </a:spcAft>
            </a:pPr>
            <a:r>
              <a:rPr sz="1250" b="0">
                <a:solidFill>
                  <a:srgbClr val="9CDCFE"/>
                </a:solidFill>
                <a:latin typeface="Arial"/>
              </a:rPr>
              <a:t>//   await sql`... where slug = ${slug}`   // SAFE</a:t>
            </a:r>
          </a:p>
          <a:p>
            <a:pPr algn="l">
              <a:spcAft>
                <a:spcPts val="200"/>
              </a:spcAft>
            </a:pPr>
            <a:r>
              <a:rPr sz="1250" b="0">
                <a:solidFill>
                  <a:srgbClr val="9CDCFE"/>
                </a:solidFill>
                <a:latin typeface="Arial"/>
              </a:rPr>
              <a:t>// Building the string yourself is the door to injection:</a:t>
            </a:r>
          </a:p>
          <a:p>
            <a:pPr algn="l">
              <a:spcAft>
                <a:spcPts val="200"/>
              </a:spcAft>
            </a:pPr>
            <a:r>
              <a:rPr sz="1250" b="0">
                <a:solidFill>
                  <a:srgbClr val="9CDCFE"/>
                </a:solidFill>
                <a:latin typeface="Arial"/>
              </a:rPr>
              <a:t>//   await sql(`... where slug = '${slug}'`)  // NEVER</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DATABASE_URL has NO VITE_ prefix, so it stays on the server and never reaches the bundle.</a:t>
            </a:r>
          </a:p>
          <a:p>
            <a:pPr>
              <a:spcAft>
                <a:spcPts val="1000"/>
              </a:spcAft>
            </a:pPr>
            <a:r>
              <a:rPr sz="1250" b="0">
                <a:solidFill>
                  <a:srgbClr val="161B26"/>
                </a:solidFill>
                <a:latin typeface="Arial"/>
              </a:rPr>
              <a:t>•  The tagged template sends the SQL and the value separately — the value can't become SQL.</a:t>
            </a:r>
          </a:p>
          <a:p>
            <a:pPr>
              <a:spcAft>
                <a:spcPts val="1000"/>
              </a:spcAft>
            </a:pPr>
            <a:r>
              <a:rPr sz="1250" b="0">
                <a:solidFill>
                  <a:srgbClr val="161B26"/>
                </a:solidFill>
                <a:latin typeface="Arial"/>
              </a:rPr>
              <a:t>•  A slug of `x'; drop table users; --` is looked up as an absurd literal and matches nothing.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Parameterised SQL — Dynamic Routes and an Injection Probe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GET /api/courses/artisan-sourdough-bread-baking returns one course; GET /api/courses/not-a-course returns 404 with a clear message; the injection payload returns a harmless 404 and the users table is still there; and grep finds no string-built SQL anywhere in api/.</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5.3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Calling the API from React — Loading, Error and Success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API works; the app still renders a hardcoded array. The learner writes the src/lib/api.js fetch wrapper — including the check every AI forgets, response.ok, because fetch does NOT reject on a 404 — then replaces the array with the useCourses and useCourse hooks and renders loading, error and success for real.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src/lib/api.js and src/hooks/useCourses.js + useCourse.js — the catalogue now comes from Postgres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fetch, response.ok, HTTP status, useState + useEffect, skeleton and error UI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Signup: hash the password, never store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api/auth/signup.js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bcrypt from 'bcryptjs'</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NEVER store the password. bcrypt is a slow, salted,</a:t>
            </a:r>
          </a:p>
          <a:p>
            <a:pPr algn="l">
              <a:spcAft>
                <a:spcPts val="200"/>
              </a:spcAft>
            </a:pPr>
            <a:r>
              <a:rPr sz="1250" b="0">
                <a:solidFill>
                  <a:srgbClr val="9CDCFE"/>
                </a:solidFill>
                <a:latin typeface="Arial"/>
              </a:rPr>
              <a:t>// one-way hash — a stolen table is useless to an attacker.</a:t>
            </a:r>
          </a:p>
          <a:p>
            <a:pPr algn="l">
              <a:spcAft>
                <a:spcPts val="200"/>
              </a:spcAft>
            </a:pPr>
            <a:r>
              <a:rPr sz="1250" b="0">
                <a:solidFill>
                  <a:srgbClr val="9CDCFE"/>
                </a:solidFill>
                <a:latin typeface="Arial"/>
              </a:rPr>
              <a:t>const passwordHash = await bcrypt.hash(password, 10)</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rows = await sql`</a:t>
            </a:r>
          </a:p>
          <a:p>
            <a:pPr algn="l">
              <a:spcAft>
                <a:spcPts val="200"/>
              </a:spcAft>
            </a:pPr>
            <a:r>
              <a:rPr sz="1250" b="0">
                <a:solidFill>
                  <a:srgbClr val="9CDCFE"/>
                </a:solidFill>
                <a:latin typeface="Arial"/>
              </a:rPr>
              <a:t>  insert into users (email, name, password_hash)</a:t>
            </a:r>
          </a:p>
          <a:p>
            <a:pPr algn="l">
              <a:spcAft>
                <a:spcPts val="200"/>
              </a:spcAft>
            </a:pPr>
            <a:r>
              <a:rPr sz="1250" b="0">
                <a:solidFill>
                  <a:srgbClr val="9CDCFE"/>
                </a:solidFill>
                <a:latin typeface="Arial"/>
              </a:rPr>
              <a:t>  values (${email}, ${name}, ${passwordHash})</a:t>
            </a:r>
          </a:p>
          <a:p>
            <a:pPr algn="l">
              <a:spcAft>
                <a:spcPts val="200"/>
              </a:spcAft>
            </a:pPr>
            <a:r>
              <a:rPr sz="1250" b="0">
                <a:solidFill>
                  <a:srgbClr val="9CDCFE"/>
                </a:solidFill>
                <a:latin typeface="Arial"/>
              </a:rPr>
              <a:t>  on conflict (email) do nothing</a:t>
            </a:r>
          </a:p>
          <a:p>
            <a:pPr algn="l">
              <a:spcAft>
                <a:spcPts val="200"/>
              </a:spcAft>
            </a:pPr>
            <a:r>
              <a:rPr sz="1250" b="0">
                <a:solidFill>
                  <a:srgbClr val="9CDCFE"/>
                </a:solidFill>
                <a:latin typeface="Arial"/>
              </a:rPr>
              <a:t>  returning id::int as id, email, name, created_at</a:t>
            </a:r>
          </a:p>
          <a:p>
            <a:pPr algn="l">
              <a:spcAft>
                <a:spcPts val="200"/>
              </a:spcAft>
            </a:pPr>
            <a:r>
              <a:rPr sz="1250" b="0">
                <a:solidFill>
                  <a:srgbClr val="9CDCFE"/>
                </a:solidFill>
                <a:latin typeface="Arial"/>
              </a:rPr>
              <a:t>`   // ^ password_hash is NOT in RETURNING. It never</a:t>
            </a:r>
          </a:p>
          <a:p>
            <a:pPr algn="l">
              <a:spcAft>
                <a:spcPts val="200"/>
              </a:spcAft>
            </a:pPr>
            <a:r>
              <a:rPr sz="1250" b="0">
                <a:solidFill>
                  <a:srgbClr val="9CDCFE"/>
                </a:solidFill>
                <a:latin typeface="Arial"/>
              </a:rPr>
              <a:t>    //   leaves this function.</a:t>
            </a:r>
          </a:p>
          <a:p>
            <a:pPr algn="l">
              <a:spcAft>
                <a:spcPts val="200"/>
              </a:spcAft>
            </a:pPr>
            <a:r>
              <a:rPr sz="1250" b="0">
                <a:solidFill>
                  <a:srgbClr val="9CDCFE"/>
                </a:solidFill>
                <a:latin typeface="Arial"/>
              </a:rPr>
              <a:t>return res.status(201).json({</a:t>
            </a:r>
          </a:p>
          <a:p>
            <a:pPr algn="l">
              <a:spcAft>
                <a:spcPts val="200"/>
              </a:spcAft>
            </a:pPr>
            <a:r>
              <a:rPr sz="1250" b="0">
                <a:solidFill>
                  <a:srgbClr val="9CDCFE"/>
                </a:solidFill>
                <a:latin typeface="Arial"/>
              </a:rPr>
              <a:t>  token: signToken(rows[0]), user: toClientUser(rows[0]),</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bcrypt.hash is one-way and salts each hash, so identical passwords get different hashes.</a:t>
            </a:r>
          </a:p>
          <a:p>
            <a:pPr>
              <a:spcAft>
                <a:spcPts val="1000"/>
              </a:spcAft>
            </a:pPr>
            <a:r>
              <a:rPr sz="1250" b="0">
                <a:solidFill>
                  <a:srgbClr val="161B26"/>
                </a:solidFill>
                <a:latin typeface="Arial"/>
              </a:rPr>
              <a:t>•  The RETURNING list omits password_hash — the hash is never sent in any response.</a:t>
            </a:r>
          </a:p>
          <a:p>
            <a:pPr>
              <a:spcAft>
                <a:spcPts val="1000"/>
              </a:spcAft>
            </a:pPr>
            <a:r>
              <a:rPr sz="1250" b="0">
                <a:solidFill>
                  <a:srgbClr val="161B26"/>
                </a:solidFill>
                <a:latin typeface="Arial"/>
              </a:rPr>
              <a:t>•  toClientUser() whitelists the fields the browser may see, so nothing private leaks by accident.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Enrol: the id comes from the token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api/enrollments/index.js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THE important line. userId is the verified `sub` of</a:t>
            </a:r>
          </a:p>
          <a:p>
            <a:pPr algn="l">
              <a:spcAft>
                <a:spcPts val="200"/>
              </a:spcAft>
            </a:pPr>
            <a:r>
              <a:rPr sz="1250" b="0">
                <a:solidFill>
                  <a:srgbClr val="9CDCFE"/>
                </a:solidFill>
                <a:latin typeface="Arial"/>
              </a:rPr>
              <a:t>// the JWT — not req.body.userId, not a query param.</a:t>
            </a:r>
          </a:p>
          <a:p>
            <a:pPr algn="l">
              <a:spcAft>
                <a:spcPts val="200"/>
              </a:spcAft>
            </a:pPr>
            <a:r>
              <a:rPr sz="1250" b="0">
                <a:solidFill>
                  <a:srgbClr val="9CDCFE"/>
                </a:solidFill>
                <a:latin typeface="Arial"/>
              </a:rPr>
              <a:t>const userId = requireAuth(req)</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const { courseId } = readBody(req)</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The caller chooses the COURSE. The caller does NOT</a:t>
            </a:r>
          </a:p>
          <a:p>
            <a:pPr algn="l">
              <a:spcAft>
                <a:spcPts val="200"/>
              </a:spcAft>
            </a:pPr>
            <a:r>
              <a:rPr sz="1250" b="0">
                <a:solidFill>
                  <a:srgbClr val="9CDCFE"/>
                </a:solidFill>
                <a:latin typeface="Arial"/>
              </a:rPr>
              <a:t>// choose the USER — we supply ${userId} from the token.</a:t>
            </a:r>
          </a:p>
          <a:p>
            <a:pPr algn="l">
              <a:spcAft>
                <a:spcPts val="200"/>
              </a:spcAft>
            </a:pPr>
            <a:r>
              <a:rPr sz="1250" b="0">
                <a:solidFill>
                  <a:srgbClr val="9CDCFE"/>
                </a:solidFill>
                <a:latin typeface="Arial"/>
              </a:rPr>
              <a:t>const rows = await sql`</a:t>
            </a:r>
          </a:p>
          <a:p>
            <a:pPr algn="l">
              <a:spcAft>
                <a:spcPts val="200"/>
              </a:spcAft>
            </a:pPr>
            <a:r>
              <a:rPr sz="1250" b="0">
                <a:solidFill>
                  <a:srgbClr val="9CDCFE"/>
                </a:solidFill>
                <a:latin typeface="Arial"/>
              </a:rPr>
              <a:t>  insert into enrollments (user_id, course_id, status)</a:t>
            </a:r>
          </a:p>
          <a:p>
            <a:pPr algn="l">
              <a:spcAft>
                <a:spcPts val="200"/>
              </a:spcAft>
            </a:pPr>
            <a:r>
              <a:rPr sz="1250" b="0">
                <a:solidFill>
                  <a:srgbClr val="9CDCFE"/>
                </a:solidFill>
                <a:latin typeface="Arial"/>
              </a:rPr>
              <a:t>  values (${userId}, ${courseId}, 'active')</a:t>
            </a:r>
          </a:p>
          <a:p>
            <a:pPr algn="l">
              <a:spcAft>
                <a:spcPts val="200"/>
              </a:spcAft>
            </a:pPr>
            <a:r>
              <a:rPr sz="1250" b="0">
                <a:solidFill>
                  <a:srgbClr val="9CDCFE"/>
                </a:solidFill>
                <a:latin typeface="Arial"/>
              </a:rPr>
              <a:t>  on conflict (user_id, course_id) do nothing</a:t>
            </a:r>
          </a:p>
          <a:p>
            <a:pPr algn="l">
              <a:spcAft>
                <a:spcPts val="200"/>
              </a:spcAft>
            </a:pPr>
            <a:r>
              <a:rPr sz="1250" b="0">
                <a:solidFill>
                  <a:srgbClr val="9CDCFE"/>
                </a:solidFill>
                <a:latin typeface="Arial"/>
              </a:rPr>
              <a:t>  returning id::int as id, course_id::int as course_id</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if (rows.length === 0)</a:t>
            </a:r>
          </a:p>
          <a:p>
            <a:pPr algn="l">
              <a:spcAft>
                <a:spcPts val="200"/>
              </a:spcAft>
            </a:pPr>
            <a:r>
              <a:rPr sz="1250" b="0">
                <a:solidFill>
                  <a:srgbClr val="9CDCFE"/>
                </a:solidFill>
                <a:latin typeface="Arial"/>
              </a:rPr>
              <a:t>  throw new HttpError(409, 'Already enrolled.')</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userId comes from requireAuth — a cryptographically verified value, not the request body.</a:t>
            </a:r>
          </a:p>
          <a:p>
            <a:pPr>
              <a:spcAft>
                <a:spcPts val="1000"/>
              </a:spcAft>
            </a:pPr>
            <a:r>
              <a:rPr sz="1250" b="0">
                <a:solidFill>
                  <a:srgbClr val="161B26"/>
                </a:solidFill>
                <a:latin typeface="Arial"/>
              </a:rPr>
              <a:t>•  'Enrol me in course 7' is safe; 'enrol anyone I like' is impossible because you can't set user_id.</a:t>
            </a:r>
          </a:p>
          <a:p>
            <a:pPr>
              <a:spcAft>
                <a:spcPts val="1000"/>
              </a:spcAft>
            </a:pPr>
            <a:r>
              <a:rPr sz="1250" b="0">
                <a:solidFill>
                  <a:srgbClr val="161B26"/>
                </a:solidFill>
                <a:latin typeface="Arial"/>
              </a:rPr>
              <a:t>•  The unique (user_id, course_id) constraint means two fast clicks still create one row: a 409.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Ownership lives in the WHERE clause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api/enrollments/[id].js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An id in the URL is a REQUEST, not a PERMISSION.</a:t>
            </a:r>
          </a:p>
          <a:p>
            <a:pPr algn="l">
              <a:spcAft>
                <a:spcPts val="200"/>
              </a:spcAft>
            </a:pPr>
            <a:r>
              <a:rPr sz="1250" b="0">
                <a:solidFill>
                  <a:srgbClr val="9CDCFE"/>
                </a:solidFill>
                <a:latin typeface="Arial"/>
              </a:rPr>
              <a:t>const userId = requireAuth(req)   // from the JWT</a:t>
            </a:r>
          </a:p>
          <a:p>
            <a:pPr algn="l">
              <a:spcAft>
                <a:spcPts val="200"/>
              </a:spcAft>
            </a:pPr>
            <a:r>
              <a:rPr sz="1250" b="0">
                <a:solidFill>
                  <a:srgbClr val="9CDCFE"/>
                </a:solidFill>
                <a:latin typeface="Arial"/>
              </a:rPr>
              <a:t>const { id } = req.query ?? {}    // from the address bar</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Every statement carries BOTH conditions. A row you do</a:t>
            </a:r>
          </a:p>
          <a:p>
            <a:pPr algn="l">
              <a:spcAft>
                <a:spcPts val="200"/>
              </a:spcAft>
            </a:pPr>
            <a:r>
              <a:rPr sz="1250" b="0">
                <a:solidFill>
                  <a:srgbClr val="9CDCFE"/>
                </a:solidFill>
                <a:latin typeface="Arial"/>
              </a:rPr>
              <a:t>// not own simply does not match, so nothing is deleted.</a:t>
            </a:r>
          </a:p>
          <a:p>
            <a:pPr algn="l">
              <a:spcAft>
                <a:spcPts val="200"/>
              </a:spcAft>
            </a:pPr>
            <a:r>
              <a:rPr sz="1250" b="0">
                <a:solidFill>
                  <a:srgbClr val="9CDCFE"/>
                </a:solidFill>
                <a:latin typeface="Arial"/>
              </a:rPr>
              <a:t>const rows = await sql`</a:t>
            </a:r>
          </a:p>
          <a:p>
            <a:pPr algn="l">
              <a:spcAft>
                <a:spcPts val="200"/>
              </a:spcAft>
            </a:pPr>
            <a:r>
              <a:rPr sz="1250" b="0">
                <a:solidFill>
                  <a:srgbClr val="9CDCFE"/>
                </a:solidFill>
                <a:latin typeface="Arial"/>
              </a:rPr>
              <a:t>  delete from enrollments</a:t>
            </a:r>
          </a:p>
          <a:p>
            <a:pPr algn="l">
              <a:spcAft>
                <a:spcPts val="200"/>
              </a:spcAft>
            </a:pPr>
            <a:r>
              <a:rPr sz="1250" b="0">
                <a:solidFill>
                  <a:srgbClr val="9CDCFE"/>
                </a:solidFill>
                <a:latin typeface="Arial"/>
              </a:rPr>
              <a:t>  where id = ${id} and user_id = ${userId}</a:t>
            </a:r>
          </a:p>
          <a:p>
            <a:pPr algn="l">
              <a:spcAft>
                <a:spcPts val="200"/>
              </a:spcAft>
            </a:pPr>
            <a:r>
              <a:rPr sz="1250" b="0">
                <a:solidFill>
                  <a:srgbClr val="9CDCFE"/>
                </a:solidFill>
                <a:latin typeface="Arial"/>
              </a:rPr>
              <a:t>  returning id::int as id</a:t>
            </a:r>
          </a:p>
          <a:p>
            <a:pPr algn="l">
              <a:spcAft>
                <a:spcPts val="200"/>
              </a:spcAft>
            </a:pPr>
            <a:r>
              <a:rPr sz="1250" b="0">
                <a:solidFill>
                  <a:srgbClr val="9CDCFE"/>
                </a:solidFill>
                <a:latin typeface="Arial"/>
              </a:rPr>
              <a:t>`</a:t>
            </a:r>
          </a:p>
          <a:p>
            <a:pPr algn="l">
              <a:spcAft>
                <a:spcPts val="200"/>
              </a:spcAft>
            </a:pPr>
            <a:r>
              <a:rPr sz="1250" b="0">
                <a:solidFill>
                  <a:srgbClr val="9CDCFE"/>
                </a:solidFill>
                <a:latin typeface="Arial"/>
              </a:rPr>
              <a:t>if (rows.length === 0)</a:t>
            </a:r>
          </a:p>
          <a:p>
            <a:pPr algn="l">
              <a:spcAft>
                <a:spcPts val="200"/>
              </a:spcAft>
            </a:pPr>
            <a:r>
              <a:rPr sz="1250" b="0">
                <a:solidFill>
                  <a:srgbClr val="9CDCFE"/>
                </a:solidFill>
                <a:latin typeface="Arial"/>
              </a:rPr>
              <a:t>  throw new HttpError(404, 'Enrollment not found.')</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id says WHICH row; the token says WHOSE. Both go into the WHERE clause.</a:t>
            </a:r>
          </a:p>
          <a:p>
            <a:pPr>
              <a:spcAft>
                <a:spcPts val="1000"/>
              </a:spcAft>
            </a:pPr>
            <a:r>
              <a:rPr sz="1250" b="0">
                <a:solidFill>
                  <a:srgbClr val="161B26"/>
                </a:solidFill>
                <a:latin typeface="Arial"/>
              </a:rPr>
              <a:t>•  Forget `and user_id = ${userId}` and you have an Insecure Direct Object Reference.</a:t>
            </a:r>
          </a:p>
          <a:p>
            <a:pPr>
              <a:spcAft>
                <a:spcPts val="1000"/>
              </a:spcAft>
            </a:pPr>
            <a:r>
              <a:rPr sz="1250" b="0">
                <a:solidFill>
                  <a:srgbClr val="161B26"/>
                </a:solidFill>
                <a:latin typeface="Arial"/>
              </a:rPr>
              <a:t>•  There is no RLS behind this — this WHERE clause IS the access control.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Calling the API from React — Loading, Error and Success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catalogue renders from Postgres after a skeleton; editing a fee in Neon changes the page on refresh; /courses/not-a-course shows 'Course not found' (not a red error); and breaking the API base URL shows the error message instead of an endless skeleton.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5.4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Auth — bcrypt, JWT, and Ownership Enforced in SQL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Students must be able to sign up, sign in, enrol and review. The learner builds api/auth/* with bcrypt hashing and JWT signing, then the enrolments API — where the security rule of the whole course lands: the user id comes from the VERIFIED TOKEN, never from the request body, and ownership is enforced in the WHERE clause, not in an if statement.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api/auth/signup.js, login.js, me.js, api/_lib/auth.js, the enrollments + reviews routes, and src/context/AuthContext.jsx</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bcryptjs, jsonwebtoken, JWT_SECRET, Authorization: Bearer, insecure direct object references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AuthContext restores the session on boot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src/context/AuthContext.jsx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060" b="0">
                <a:solidFill>
                  <a:srgbClr val="9CDCFE"/>
                </a:solidFill>
                <a:latin typeface="Arial"/>
              </a:rPr>
              <a:t>const [user, setUser] = useState(null)</a:t>
            </a:r>
          </a:p>
          <a:p>
            <a:pPr algn="l">
              <a:spcAft>
                <a:spcPts val="200"/>
              </a:spcAft>
            </a:pPr>
            <a:r>
              <a:rPr sz="1060" b="0">
                <a:solidFill>
                  <a:srgbClr val="9CDCFE"/>
                </a:solidFill>
                <a:latin typeface="Arial"/>
              </a:rPr>
              <a:t>const [loading, setLoading] = useState(true)</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We may hold a token from a previous visit, but THIS</a:t>
            </a:r>
          </a:p>
          <a:p>
            <a:pPr algn="l">
              <a:spcAft>
                <a:spcPts val="200"/>
              </a:spcAft>
            </a:pPr>
            <a:r>
              <a:rPr sz="1060" b="0">
                <a:solidFill>
                  <a:srgbClr val="9CDCFE"/>
                </a:solidFill>
                <a:latin typeface="Arial"/>
              </a:rPr>
              <a:t>// page load has never had it checked. Ask the server.</a:t>
            </a:r>
          </a:p>
          <a:p>
            <a:pPr algn="l">
              <a:spcAft>
                <a:spcPts val="200"/>
              </a:spcAft>
            </a:pPr>
            <a:r>
              <a:rPr sz="1060" b="0">
                <a:solidFill>
                  <a:srgbClr val="9CDCFE"/>
                </a:solidFill>
                <a:latin typeface="Arial"/>
              </a:rPr>
              <a:t>useEffect(() =&gt; {</a:t>
            </a:r>
          </a:p>
          <a:p>
            <a:pPr algn="l">
              <a:spcAft>
                <a:spcPts val="200"/>
              </a:spcAft>
            </a:pPr>
            <a:r>
              <a:rPr sz="1060" b="0">
                <a:solidFill>
                  <a:srgbClr val="9CDCFE"/>
                </a:solidFill>
                <a:latin typeface="Arial"/>
              </a:rPr>
              <a:t>  async function restore() {</a:t>
            </a:r>
          </a:p>
          <a:p>
            <a:pPr algn="l">
              <a:spcAft>
                <a:spcPts val="200"/>
              </a:spcAft>
            </a:pPr>
            <a:r>
              <a:rPr sz="1060" b="0">
                <a:solidFill>
                  <a:srgbClr val="9CDCFE"/>
                </a:solidFill>
                <a:latin typeface="Arial"/>
              </a:rPr>
              <a:t>    if (!getToken()) { setLoading(false); return }</a:t>
            </a:r>
          </a:p>
          <a:p>
            <a:pPr algn="l">
              <a:spcAft>
                <a:spcPts val="200"/>
              </a:spcAft>
            </a:pPr>
            <a:r>
              <a:rPr sz="1060" b="0">
                <a:solidFill>
                  <a:srgbClr val="9CDCFE"/>
                </a:solidFill>
                <a:latin typeface="Arial"/>
              </a:rPr>
              <a:t>    try {</a:t>
            </a:r>
          </a:p>
          <a:p>
            <a:pPr algn="l">
              <a:spcAft>
                <a:spcPts val="200"/>
              </a:spcAft>
            </a:pPr>
            <a:r>
              <a:rPr sz="1060" b="0">
                <a:solidFill>
                  <a:srgbClr val="9CDCFE"/>
                </a:solidFill>
                <a:latin typeface="Arial"/>
              </a:rPr>
              <a:t>      const { user } = await api.get('/auth/me')</a:t>
            </a:r>
          </a:p>
          <a:p>
            <a:pPr algn="l">
              <a:spcAft>
                <a:spcPts val="200"/>
              </a:spcAft>
            </a:pPr>
            <a:r>
              <a:rPr sz="1060" b="0">
                <a:solidFill>
                  <a:srgbClr val="9CDCFE"/>
                </a:solidFill>
                <a:latin typeface="Arial"/>
              </a:rPr>
              <a:t>      setUser(user)</a:t>
            </a:r>
          </a:p>
          <a:p>
            <a:pPr algn="l">
              <a:spcAft>
                <a:spcPts val="200"/>
              </a:spcAft>
            </a:pPr>
            <a:r>
              <a:rPr sz="1060" b="0">
                <a:solidFill>
                  <a:srgbClr val="9CDCFE"/>
                </a:solidFill>
                <a:latin typeface="Arial"/>
              </a:rPr>
              <a:t>    } catch {</a:t>
            </a:r>
          </a:p>
          <a:p>
            <a:pPr algn="l">
              <a:spcAft>
                <a:spcPts val="200"/>
              </a:spcAft>
            </a:pPr>
            <a:r>
              <a:rPr sz="1060" b="0">
                <a:solidFill>
                  <a:srgbClr val="9CDCFE"/>
                </a:solidFill>
                <a:latin typeface="Arial"/>
              </a:rPr>
              <a:t>      clearToken()          // expired or tampered with</a:t>
            </a:r>
          </a:p>
          <a:p>
            <a:pPr algn="l">
              <a:spcAft>
                <a:spcPts val="200"/>
              </a:spcAft>
            </a:pPr>
            <a:r>
              <a:rPr sz="1060" b="0">
                <a:solidFill>
                  <a:srgbClr val="9CDCFE"/>
                </a:solidFill>
                <a:latin typeface="Arial"/>
              </a:rPr>
              <a:t>    } finally {</a:t>
            </a:r>
          </a:p>
          <a:p>
            <a:pPr algn="l">
              <a:spcAft>
                <a:spcPts val="200"/>
              </a:spcAft>
            </a:pPr>
            <a:r>
              <a:rPr sz="1060" b="0">
                <a:solidFill>
                  <a:srgbClr val="9CDCFE"/>
                </a:solidFill>
                <a:latin typeface="Arial"/>
              </a:rPr>
              <a:t>      setLoading(false)     // NOT optional — see below</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restore()</a:t>
            </a:r>
          </a:p>
          <a:p>
            <a:pPr algn="l">
              <a:spcAft>
                <a:spcPts val="200"/>
              </a:spcAft>
            </a:pPr>
            <a:r>
              <a:rPr sz="1060" b="0">
                <a:solidFill>
                  <a:srgbClr val="9CDCFE"/>
                </a:solidFill>
                <a:latin typeface="Arial"/>
              </a:rPr>
              <a:t>}, [])</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JWT lives in localStorage, so it survives a refresh — but the server must re-verify it.</a:t>
            </a:r>
          </a:p>
          <a:p>
            <a:pPr>
              <a:spcAft>
                <a:spcPts val="1000"/>
              </a:spcAft>
            </a:pPr>
            <a:r>
              <a:rPr sz="1250" b="0">
                <a:solidFill>
                  <a:srgbClr val="161B26"/>
                </a:solidFill>
                <a:latin typeface="Arial"/>
              </a:rPr>
              <a:t>•  /api/auth/me verifies the signature and returns fresh user details, or 401s.</a:t>
            </a:r>
          </a:p>
          <a:p>
            <a:pPr>
              <a:spcAft>
                <a:spcPts val="1000"/>
              </a:spcAft>
            </a:pPr>
            <a:r>
              <a:rPr sz="1250" b="0">
                <a:solidFill>
                  <a:srgbClr val="161B26"/>
                </a:solidFill>
                <a:latin typeface="Arial"/>
              </a:rPr>
              <a:t>•  `loading` is not optional: without it ProtectedRoute bounces a signed-in user on every refresh.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requireAuth: trust the signature, not the caller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api/_lib/auth.js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export function requireAuth(req) {</a:t>
            </a:r>
          </a:p>
          <a:p>
            <a:pPr algn="l">
              <a:spcAft>
                <a:spcPts val="200"/>
              </a:spcAft>
            </a:pPr>
            <a:r>
              <a:rPr sz="1250" b="0">
                <a:solidFill>
                  <a:srgbClr val="9CDCFE"/>
                </a:solidFill>
                <a:latin typeface="Arial"/>
              </a:rPr>
              <a:t>  const header = req.headers?.authorization ?? ''</a:t>
            </a:r>
          </a:p>
          <a:p>
            <a:pPr algn="l">
              <a:spcAft>
                <a:spcPts val="200"/>
              </a:spcAft>
            </a:pPr>
            <a:r>
              <a:rPr sz="1250" b="0">
                <a:solidFill>
                  <a:srgbClr val="9CDCFE"/>
                </a:solidFill>
                <a:latin typeface="Arial"/>
              </a:rPr>
              <a:t>  if (!header.startsWith('Bearer '))</a:t>
            </a:r>
          </a:p>
          <a:p>
            <a:pPr algn="l">
              <a:spcAft>
                <a:spcPts val="200"/>
              </a:spcAft>
            </a:pPr>
            <a:r>
              <a:rPr sz="1250" b="0">
                <a:solidFill>
                  <a:srgbClr val="9CDCFE"/>
                </a:solidFill>
                <a:latin typeface="Arial"/>
              </a:rPr>
              <a:t>    throw new HttpError(401, 'Missing token.')</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const token = header.slice('Bearer '.length).trim()</a:t>
            </a:r>
          </a:p>
          <a:p>
            <a:pPr algn="l">
              <a:spcAft>
                <a:spcPts val="200"/>
              </a:spcAft>
            </a:pPr>
            <a:r>
              <a:rPr sz="1250" b="0">
                <a:solidFill>
                  <a:srgbClr val="9CDCFE"/>
                </a:solidFill>
                <a:latin typeface="Arial"/>
              </a:rPr>
              <a:t>  try {</a:t>
            </a:r>
          </a:p>
          <a:p>
            <a:pPr algn="l">
              <a:spcAft>
                <a:spcPts val="200"/>
              </a:spcAft>
            </a:pPr>
            <a:r>
              <a:rPr sz="1250" b="0">
                <a:solidFill>
                  <a:srgbClr val="9CDCFE"/>
                </a:solidFill>
                <a:latin typeface="Arial"/>
              </a:rPr>
              <a:t>    // Verifies the signature with JWT_SECRET (server-only).</a:t>
            </a:r>
          </a:p>
          <a:p>
            <a:pPr algn="l">
              <a:spcAft>
                <a:spcPts val="200"/>
              </a:spcAft>
            </a:pPr>
            <a:r>
              <a:rPr sz="1250" b="0">
                <a:solidFill>
                  <a:srgbClr val="9CDCFE"/>
                </a:solidFill>
                <a:latin typeface="Arial"/>
              </a:rPr>
              <a:t>    // Edit the payload and this throws.</a:t>
            </a:r>
          </a:p>
          <a:p>
            <a:pPr algn="l">
              <a:spcAft>
                <a:spcPts val="200"/>
              </a:spcAft>
            </a:pPr>
            <a:r>
              <a:rPr sz="1250" b="0">
                <a:solidFill>
                  <a:srgbClr val="9CDCFE"/>
                </a:solidFill>
                <a:latin typeface="Arial"/>
              </a:rPr>
              <a:t>    const payload = jwt.verify(token, JWT_SECRET)</a:t>
            </a:r>
          </a:p>
          <a:p>
            <a:pPr algn="l">
              <a:spcAft>
                <a:spcPts val="200"/>
              </a:spcAft>
            </a:pPr>
            <a:r>
              <a:rPr sz="1250" b="0">
                <a:solidFill>
                  <a:srgbClr val="9CDCFE"/>
                </a:solidFill>
                <a:latin typeface="Arial"/>
              </a:rPr>
              <a:t>    return Number(payload.sub)   // the user id — verified</a:t>
            </a:r>
          </a:p>
          <a:p>
            <a:pPr algn="l">
              <a:spcAft>
                <a:spcPts val="200"/>
              </a:spcAft>
            </a:pPr>
            <a:r>
              <a:rPr sz="1250" b="0">
                <a:solidFill>
                  <a:srgbClr val="9CDCFE"/>
                </a:solidFill>
                <a:latin typeface="Arial"/>
              </a:rPr>
              <a:t>  } catch {</a:t>
            </a:r>
          </a:p>
          <a:p>
            <a:pPr algn="l">
              <a:spcAft>
                <a:spcPts val="200"/>
              </a:spcAft>
            </a:pPr>
            <a:r>
              <a:rPr sz="1250" b="0">
                <a:solidFill>
                  <a:srgbClr val="9CDCFE"/>
                </a:solidFill>
                <a:latin typeface="Arial"/>
              </a:rPr>
              <a:t>    throw new HttpError(401, 'Invalid or expired session.')</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payload is only base64-encoded — the SIGNATURE is what makes the token trustworthy.</a:t>
            </a:r>
          </a:p>
          <a:p>
            <a:pPr>
              <a:spcAft>
                <a:spcPts val="1000"/>
              </a:spcAft>
            </a:pPr>
            <a:r>
              <a:rPr sz="1250" b="0">
                <a:solidFill>
                  <a:srgbClr val="161B26"/>
                </a:solidFill>
                <a:latin typeface="Arial"/>
              </a:rPr>
              <a:t>•  jwt.verify throws on a bad signature or an expired token, so `sub` can be trusted.</a:t>
            </a:r>
          </a:p>
          <a:p>
            <a:pPr>
              <a:spcAft>
                <a:spcPts val="1000"/>
              </a:spcAft>
            </a:pPr>
            <a:r>
              <a:rPr sz="1250" b="0">
                <a:solidFill>
                  <a:srgbClr val="161B26"/>
                </a:solidFill>
                <a:latin typeface="Arial"/>
              </a:rPr>
              <a:t>•  This returns an id the caller cannot forge, which every protected route builds its SQL 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Auth — bcrypt, JWT, and Ownership Enforced in SQL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You can sign up, sign in, refresh and stay signed in; enrolling writes a row you can see in Neon; password_hash appears in NO API response; deleting another student's enrolment by id returns 404; and editing the JWT in localStorage signs you straight out.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05</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read the catalogue from Postgres, sign up, enrol, review — and have it all still be there tomorrow.</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PHASE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Ship a Real Product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Building Cook &amp; Bake Academy — we add a multi-page app with course detail pages and a private student dashboard, deployed to Vercel — then you add a whole feature yourself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BUILD · PHASE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Ship a Real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05156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828800"/>
            <a:ext cx="10149840" cy="1051560"/>
          </a:xfrm>
          <a:prstGeom prst="rect">
            <a:avLst/>
          </a:prstGeom>
          <a:noFill/>
        </p:spPr>
        <p:txBody>
          <a:bodyPr wrap="square" anchor="ctr">
            <a:spAutoFit/>
          </a:bodyPr>
          <a:lstStyle/>
          <a:p>
            <a:pPr algn="l">
              <a:spcAft>
                <a:spcPts val="400"/>
              </a:spcAft>
            </a:pPr>
            <a:r>
              <a:rPr sz="1000" b="1">
                <a:solidFill>
                  <a:srgbClr val="5B6372"/>
                </a:solidFill>
                <a:latin typeface="Arial"/>
              </a:rPr>
              <a:t>THE STORY SO FAR</a:t>
            </a:r>
          </a:p>
          <a:p>
            <a:pPr algn="l">
              <a:spcAft>
                <a:spcPts val="400"/>
              </a:spcAft>
            </a:pPr>
            <a:r>
              <a:rPr sz="1500" b="0">
                <a:solidFill>
                  <a:srgbClr val="161B26"/>
                </a:solidFill>
                <a:latin typeface="Arial"/>
              </a:rPr>
              <a:t>A powerful single page over a real database.</a:t>
            </a:r>
          </a:p>
        </p:txBody>
      </p:sp>
      <p:sp>
        <p:nvSpPr>
          <p:cNvPr id="10" name="Rectangle 9"/>
          <p:cNvSpPr/>
          <p:nvPr/>
        </p:nvSpPr>
        <p:spPr>
          <a:xfrm>
            <a:off x="777240" y="3063240"/>
            <a:ext cx="10634472" cy="141732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063240"/>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63240"/>
            <a:ext cx="10149840" cy="1417320"/>
          </a:xfrm>
          <a:prstGeom prst="rect">
            <a:avLst/>
          </a:prstGeom>
          <a:noFill/>
        </p:spPr>
        <p:txBody>
          <a:bodyPr wrap="square" anchor="ctr">
            <a:spAutoFit/>
          </a:bodyPr>
          <a:lstStyle/>
          <a:p>
            <a:pPr algn="l">
              <a:spcAft>
                <a:spcPts val="500"/>
              </a:spcAft>
            </a:pPr>
            <a:r>
              <a:rPr sz="1000" b="1">
                <a:solidFill>
                  <a:srgbClr val="1F6FEB"/>
                </a:solidFill>
                <a:latin typeface="Arial"/>
              </a:rPr>
              <a:t>WHAT WE BUILD NOW</a:t>
            </a:r>
          </a:p>
          <a:p>
            <a:pPr algn="l">
              <a:spcAft>
                <a:spcPts val="500"/>
              </a:spcAft>
            </a:pPr>
            <a:r>
              <a:rPr sz="1800" b="1">
                <a:solidFill>
                  <a:srgbClr val="161B26"/>
                </a:solidFill>
                <a:latin typeface="Arial"/>
              </a:rPr>
              <a:t>We add a multi-page app with course detail pages and a private student dashboard, deployed to Vercel — then you add a whole feature yourself.</a:t>
            </a:r>
          </a:p>
        </p:txBody>
      </p:sp>
      <p:sp>
        <p:nvSpPr>
          <p:cNvPr id="13" name="Rectangle 12"/>
          <p:cNvSpPr/>
          <p:nvPr/>
        </p:nvSpPr>
        <p:spPr>
          <a:xfrm>
            <a:off x="777240" y="4663440"/>
            <a:ext cx="10634472" cy="1051560"/>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663440"/>
            <a:ext cx="91440"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663440"/>
            <a:ext cx="10149840" cy="1051560"/>
          </a:xfrm>
          <a:prstGeom prst="rect">
            <a:avLst/>
          </a:prstGeom>
          <a:noFill/>
        </p:spPr>
        <p:txBody>
          <a:bodyPr wrap="square" anchor="ctr">
            <a:spAutoFit/>
          </a:bodyPr>
          <a:lstStyle/>
          <a:p>
            <a:pPr algn="l">
              <a:spcAft>
                <a:spcPts val="400"/>
              </a:spcAft>
            </a:pPr>
            <a:r>
              <a:rPr sz="1000" b="1">
                <a:solidFill>
                  <a:srgbClr val="F59E0B"/>
                </a:solidFill>
                <a:latin typeface="Arial"/>
              </a:rPr>
              <a:t>THE IDEAS THIS PHASE NEEDS</a:t>
            </a:r>
          </a:p>
          <a:p>
            <a:pPr algn="l">
              <a:spcAft>
                <a:spcPts val="400"/>
              </a:spcAft>
            </a:pPr>
            <a:r>
              <a:rPr sz="1500" b="0">
                <a:solidFill>
                  <a:srgbClr val="161B26"/>
                </a:solidFill>
                <a:latin typeface="Arial"/>
              </a:rPr>
              <a:t>To build it, you will learn routing, dynamic params, protected routes — and everything you have learned.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SPA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Single Page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traditional site fetches a fresh HTML page from the server on every navigation.</a:t>
            </a:r>
          </a:p>
          <a:p>
            <a:pPr>
              <a:spcAft>
                <a:spcPts val="900"/>
              </a:spcAft>
            </a:pPr>
            <a:r>
              <a:rPr sz="1300" b="0">
                <a:solidFill>
                  <a:srgbClr val="161B26"/>
                </a:solidFill>
                <a:latin typeface="Arial"/>
              </a:rPr>
              <a:t>•  A single-page app loads one HTML document, then JavaScript swaps the view in place.</a:t>
            </a:r>
          </a:p>
          <a:p>
            <a:pPr>
              <a:spcAft>
                <a:spcPts val="900"/>
              </a:spcAft>
            </a:pPr>
            <a:r>
              <a:rPr sz="1300" b="0">
                <a:solidFill>
                  <a:srgbClr val="161B26"/>
                </a:solidFill>
                <a:latin typeface="Arial"/>
              </a:rPr>
              <a:t>•  The router also rewrites the URL bar so back, forward and bookmarks still work.</a:t>
            </a:r>
          </a:p>
          <a:p>
            <a:pPr>
              <a:spcAft>
                <a:spcPts val="900"/>
              </a:spcAft>
            </a:pPr>
            <a:r>
              <a:rPr sz="1300" b="0">
                <a:solidFill>
                  <a:srgbClr val="161B26"/>
                </a:solidFill>
                <a:latin typeface="Arial"/>
              </a:rPr>
              <a:t>•  No server round-trip means navigation is instant and React state is preserved across views.</a:t>
            </a:r>
          </a:p>
          <a:p>
            <a:pPr>
              <a:spcAft>
                <a:spcPts val="900"/>
              </a:spcAft>
            </a:pPr>
            <a:r>
              <a:rPr sz="1300" b="0">
                <a:solidFill>
                  <a:srgbClr val="161B26"/>
                </a:solidFill>
                <a:latin typeface="Arial"/>
              </a:rPr>
              <a:t>•  React Router maps each URL path to the component that should render for it.</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One document; JS swaps views and rewrites the URL, no server reload.</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src/App.jsx (real code)</a:t>
            </a:r>
          </a:p>
          <a:p>
            <a:pPr algn="l">
              <a:spcAft>
                <a:spcPts val="200"/>
              </a:spcAft>
            </a:pPr>
            <a:r>
              <a:rPr sz="1095" b="0">
                <a:solidFill>
                  <a:srgbClr val="9CDCFE"/>
                </a:solidFill>
                <a:latin typeface="Arial"/>
              </a:rPr>
              <a:t>&lt;Routes&gt;</a:t>
            </a:r>
          </a:p>
          <a:p>
            <a:pPr algn="l">
              <a:spcAft>
                <a:spcPts val="200"/>
              </a:spcAft>
            </a:pPr>
            <a:r>
              <a:rPr sz="1095" b="0">
                <a:solidFill>
                  <a:srgbClr val="9CDCFE"/>
                </a:solidFill>
                <a:latin typeface="Arial"/>
              </a:rPr>
              <a:t>  &lt;Route path="/" element={&lt;RootLayout /&gt;}&gt;</a:t>
            </a:r>
          </a:p>
          <a:p>
            <a:pPr algn="l">
              <a:spcAft>
                <a:spcPts val="200"/>
              </a:spcAft>
            </a:pPr>
            <a:r>
              <a:rPr sz="1095" b="0">
                <a:solidFill>
                  <a:srgbClr val="9CDCFE"/>
                </a:solidFill>
                <a:latin typeface="Arial"/>
              </a:rPr>
              <a:t>    &lt;Route index element={&lt;HomePage /&gt;} /&gt;</a:t>
            </a:r>
          </a:p>
          <a:p>
            <a:pPr algn="l">
              <a:spcAft>
                <a:spcPts val="200"/>
              </a:spcAft>
            </a:pPr>
            <a:r>
              <a:rPr sz="1095" b="0">
                <a:solidFill>
                  <a:srgbClr val="9CDCFE"/>
                </a:solidFill>
                <a:latin typeface="Arial"/>
              </a:rPr>
              <a:t>    &lt;Route path="courses" element={&lt;CoursesPage /&gt;} /&gt;</a:t>
            </a:r>
          </a:p>
          <a:p>
            <a:pPr algn="l">
              <a:spcAft>
                <a:spcPts val="200"/>
              </a:spcAft>
            </a:pPr>
            <a:r>
              <a:rPr sz="1095" b="0">
                <a:solidFill>
                  <a:srgbClr val="9CDCFE"/>
                </a:solidFill>
                <a:latin typeface="Arial"/>
              </a:rPr>
              <a:t>    &lt;Route path="courses/:slug" element={&lt;CourseDetailPage /&gt;} /&gt;</a:t>
            </a:r>
          </a:p>
          <a:p>
            <a:pPr algn="l">
              <a:spcAft>
                <a:spcPts val="200"/>
              </a:spcAft>
            </a:pPr>
            <a:r>
              <a:rPr sz="1095" b="0">
                <a:solidFill>
                  <a:srgbClr val="9CDCFE"/>
                </a:solidFill>
                <a:latin typeface="Arial"/>
              </a:rPr>
              <a:t>    &lt;Route path="*" element={&lt;NotFoundPage /&gt;} /&gt;</a:t>
            </a:r>
          </a:p>
          <a:p>
            <a:pPr algn="l">
              <a:spcAft>
                <a:spcPts val="200"/>
              </a:spcAft>
            </a:pPr>
            <a:r>
              <a:rPr sz="1095" b="0">
                <a:solidFill>
                  <a:srgbClr val="9CDCFE"/>
                </a:solidFill>
                <a:latin typeface="Arial"/>
              </a:rPr>
              <a:t>  &lt;/Route&gt;</a:t>
            </a:r>
          </a:p>
          <a:p>
            <a:pPr algn="l">
              <a:spcAft>
                <a:spcPts val="200"/>
              </a:spcAft>
            </a:pPr>
            <a:r>
              <a:rPr sz="1095" b="0">
                <a:solidFill>
                  <a:srgbClr val="9CDCFE"/>
                </a:solidFill>
                <a:latin typeface="Arial"/>
              </a:rPr>
              <a:t>&lt;/Routes&gt;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single-page app is a theatre with one stage — JavaScript changes the scenery and the marquee while the audience never leaves their seats.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NAVIGATION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 &lt;Link&gt;, not &lt;a&gt;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plain &lt;a href&gt; triggers a full-page reload, refetching the whole app from scratch.</a:t>
            </a:r>
          </a:p>
          <a:p>
            <a:pPr>
              <a:spcAft>
                <a:spcPts val="900"/>
              </a:spcAft>
            </a:pPr>
            <a:r>
              <a:rPr sz="1300" b="0">
                <a:solidFill>
                  <a:srgbClr val="161B26"/>
                </a:solidFill>
                <a:latin typeface="Arial"/>
              </a:rPr>
              <a:t>•  That reload throws away every piece of React state — the shortlist, the search box, the scroll.</a:t>
            </a:r>
          </a:p>
          <a:p>
            <a:pPr>
              <a:spcAft>
                <a:spcPts val="900"/>
              </a:spcAft>
            </a:pPr>
            <a:r>
              <a:rPr sz="1300" b="0">
                <a:solidFill>
                  <a:srgbClr val="161B26"/>
                </a:solidFill>
                <a:latin typeface="Arial"/>
              </a:rPr>
              <a:t>•  &lt;Link to&gt; navigates within the SPA, swapping the view without any reload.</a:t>
            </a:r>
          </a:p>
          <a:p>
            <a:pPr>
              <a:spcAft>
                <a:spcPts val="900"/>
              </a:spcAft>
            </a:pPr>
            <a:r>
              <a:rPr sz="1300" b="0">
                <a:solidFill>
                  <a:srgbClr val="161B26"/>
                </a:solidFill>
                <a:latin typeface="Arial"/>
              </a:rPr>
              <a:t>•  The whole CourseCard is a &lt;Link&gt;, so clicking anywhere on a card routes to its detail page.</a:t>
            </a:r>
          </a:p>
          <a:p>
            <a:pPr>
              <a:spcAft>
                <a:spcPts val="900"/>
              </a:spcAft>
            </a:pPr>
            <a:r>
              <a:rPr sz="1300" b="0">
                <a:solidFill>
                  <a:srgbClr val="161B26"/>
                </a:solidFill>
                <a:latin typeface="Arial"/>
              </a:rPr>
              <a:t>•  Use &lt;a&gt; only for links that truly leave your app; use &lt;Link&gt; for every internal route.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&lt;Link&gt; navigates in-app and keeps state; &lt;a&gt; reloads and loses it.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src/components/CourseCard.jsx (real code)</a:t>
            </a:r>
          </a:p>
          <a:p>
            <a:pPr algn="l">
              <a:spcAft>
                <a:spcPts val="200"/>
              </a:spcAft>
            </a:pPr>
            <a:r>
              <a:rPr sz="1150" b="0">
                <a:solidFill>
                  <a:srgbClr val="9CDCFE"/>
                </a:solidFill>
                <a:latin typeface="Arial"/>
              </a:rPr>
              <a:t>&lt;Link to={`/courses/${slug}`} className="card"&gt;</a:t>
            </a:r>
          </a:p>
          <a:p>
            <a:pPr algn="l">
              <a:spcAft>
                <a:spcPts val="200"/>
              </a:spcAft>
            </a:pPr>
            <a:r>
              <a:rPr sz="1150" b="0">
                <a:solidFill>
                  <a:srgbClr val="9CDCFE"/>
                </a:solidFill>
                <a:latin typeface="Arial"/>
              </a:rPr>
              <a:t>  ...the entire card...</a:t>
            </a:r>
          </a:p>
          <a:p>
            <a:pPr algn="l">
              <a:spcAft>
                <a:spcPts val="200"/>
              </a:spcAft>
            </a:pPr>
            <a:r>
              <a:rPr sz="1150" b="0">
                <a:solidFill>
                  <a:srgbClr val="9CDCFE"/>
                </a:solidFill>
                <a:latin typeface="Arial"/>
              </a:rPr>
              <a:t>&lt;/Link&gt;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&lt;a href="/courses"&gt;Browse&lt;/a&gt;   // full reload: state gone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An &lt;a&gt; tag rebuilds the whole theatre between scenes; &lt;Link&gt; just swaps the set, keeping every actor in place.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LAYOUTS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Layout routes and &lt;Outlet/&gt;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layout route is a parent route that renders shared chrome like the navbar and footer.</a:t>
            </a:r>
          </a:p>
          <a:p>
            <a:pPr>
              <a:spcAft>
                <a:spcPts val="900"/>
              </a:spcAft>
            </a:pPr>
            <a:r>
              <a:rPr sz="1300" b="0">
                <a:solidFill>
                  <a:srgbClr val="161B26"/>
                </a:solidFill>
                <a:latin typeface="Arial"/>
              </a:rPr>
              <a:t>•  Its child routes render inside it, so the shared frame is written once, not per page.</a:t>
            </a:r>
          </a:p>
          <a:p>
            <a:pPr>
              <a:spcAft>
                <a:spcPts val="900"/>
              </a:spcAft>
            </a:pPr>
            <a:r>
              <a:rPr sz="1300" b="0">
                <a:solidFill>
                  <a:srgbClr val="161B26"/>
                </a:solidFill>
                <a:latin typeface="Arial"/>
              </a:rPr>
              <a:t>•  The layout component renders &lt;Outlet/&gt; to mark where the matched child should appear.</a:t>
            </a:r>
          </a:p>
          <a:p>
            <a:pPr>
              <a:spcAft>
                <a:spcPts val="900"/>
              </a:spcAft>
            </a:pPr>
            <a:r>
              <a:rPr sz="1300" b="0">
                <a:solidFill>
                  <a:srgbClr val="161B26"/>
                </a:solidFill>
                <a:latin typeface="Arial"/>
              </a:rPr>
              <a:t>•  Layouts nest: DashboardPage is itself a layout, with My Courses and Profile inside its own Outlet.</a:t>
            </a:r>
          </a:p>
          <a:p>
            <a:pPr>
              <a:spcAft>
                <a:spcPts val="900"/>
              </a:spcAft>
            </a:pPr>
            <a:r>
              <a:rPr sz="1300" b="0">
                <a:solidFill>
                  <a:srgbClr val="161B26"/>
                </a:solidFill>
                <a:latin typeface="Arial"/>
              </a:rPr>
              <a:t>•  A PATHLESS parent route adds no URL segment — which is exactly how ProtectedRoute gates a subtree.</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layout route holds shared chrome; &lt;Outlet/&gt; is where children render.</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 src/layouts/RootLayout.jsx (real code)</a:t>
            </a:r>
          </a:p>
          <a:p>
            <a:pPr algn="l">
              <a:spcAft>
                <a:spcPts val="200"/>
              </a:spcAft>
            </a:pPr>
            <a:r>
              <a:rPr sz="989" b="0">
                <a:solidFill>
                  <a:srgbClr val="9CDCFE"/>
                </a:solidFill>
                <a:latin typeface="Arial"/>
              </a:rPr>
              <a:t>export default function RootLayout() {</a:t>
            </a:r>
          </a:p>
          <a:p>
            <a:pPr algn="l">
              <a:spcAft>
                <a:spcPts val="200"/>
              </a:spcAft>
            </a:pPr>
            <a:r>
              <a:rPr sz="989" b="0">
                <a:solidFill>
                  <a:srgbClr val="9CDCFE"/>
                </a:solidFill>
                <a:latin typeface="Arial"/>
              </a:rPr>
              <a:t>  return (</a:t>
            </a:r>
          </a:p>
          <a:p>
            <a:pPr algn="l">
              <a:spcAft>
                <a:spcPts val="200"/>
              </a:spcAft>
            </a:pPr>
            <a:r>
              <a:rPr sz="989" b="0">
                <a:solidFill>
                  <a:srgbClr val="9CDCFE"/>
                </a:solidFill>
                <a:latin typeface="Arial"/>
              </a:rPr>
              <a:t>    &lt;&gt;</a:t>
            </a:r>
          </a:p>
          <a:p>
            <a:pPr algn="l">
              <a:spcAft>
                <a:spcPts val="200"/>
              </a:spcAft>
            </a:pPr>
            <a:r>
              <a:rPr sz="989" b="0">
                <a:solidFill>
                  <a:srgbClr val="9CDCFE"/>
                </a:solidFill>
                <a:latin typeface="Arial"/>
              </a:rPr>
              <a:t>      &lt;Navbar /&gt;</a:t>
            </a:r>
          </a:p>
          <a:p>
            <a:pPr algn="l">
              <a:spcAft>
                <a:spcPts val="200"/>
              </a:spcAft>
            </a:pPr>
            <a:r>
              <a:rPr sz="989" b="0">
                <a:solidFill>
                  <a:srgbClr val="9CDCFE"/>
                </a:solidFill>
                <a:latin typeface="Arial"/>
              </a:rPr>
              <a:t>      &lt;main&gt;&lt;Outlet /&gt;&lt;/main&gt;   {/* the matched child */}</a:t>
            </a:r>
          </a:p>
          <a:p>
            <a:pPr algn="l">
              <a:spcAft>
                <a:spcPts val="200"/>
              </a:spcAft>
            </a:pPr>
            <a:r>
              <a:rPr sz="989" b="0">
                <a:solidFill>
                  <a:srgbClr val="9CDCFE"/>
                </a:solidFill>
                <a:latin typeface="Arial"/>
              </a:rPr>
              <a:t>      &lt;Footer /&gt;</a:t>
            </a:r>
          </a:p>
          <a:p>
            <a:pPr algn="l">
              <a:spcAft>
                <a:spcPts val="200"/>
              </a:spcAft>
            </a:pPr>
            <a:r>
              <a:rPr sz="989" b="0">
                <a:solidFill>
                  <a:srgbClr val="9CDCFE"/>
                </a:solidFill>
                <a:latin typeface="Arial"/>
              </a:rPr>
              <a:t>    &lt;/&gt;</a:t>
            </a:r>
          </a:p>
          <a:p>
            <a:pPr algn="l">
              <a:spcAft>
                <a:spcPts val="200"/>
              </a:spcAft>
            </a:pPr>
            <a:r>
              <a:rPr sz="989" b="0">
                <a:solidFill>
                  <a:srgbClr val="9CDCFE"/>
                </a:solidFill>
                <a:latin typeface="Arial"/>
              </a:rPr>
              <a:t>  )</a:t>
            </a:r>
          </a:p>
          <a:p>
            <a:pPr algn="l">
              <a:spcAft>
                <a:spcPts val="200"/>
              </a:spcAft>
            </a:pPr>
            <a:r>
              <a:rPr sz="989" b="0">
                <a:solidFill>
                  <a:srgbClr val="9CDCFE"/>
                </a:solidFill>
                <a:latin typeface="Arial"/>
              </a:rPr>
              <a:t>}</a:t>
            </a:r>
          </a:p>
          <a:p>
            <a:pPr algn="l">
              <a:spcAft>
                <a:spcPts val="200"/>
              </a:spcAft>
            </a:pPr>
            <a:r>
              <a:rPr sz="989"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layout route is a picture frame with a window — &lt;Outlet/&gt; is the window where each page's picture slots into the same frame.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DYNAMIC ROUTES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Dynamic params and useParams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path segment starting with a colon, like :slug, is a placeholder that matches any value.</a:t>
            </a:r>
          </a:p>
          <a:p>
            <a:pPr>
              <a:spcAft>
                <a:spcPts val="900"/>
              </a:spcAft>
            </a:pPr>
            <a:r>
              <a:rPr sz="1300" b="0">
                <a:solidFill>
                  <a:srgbClr val="161B26"/>
                </a:solidFill>
                <a:latin typeface="Arial"/>
              </a:rPr>
              <a:t>•  One route definition serves all 20 courses: /courses/macaron-masterclass, /courses/knife-skills…</a:t>
            </a:r>
          </a:p>
          <a:p>
            <a:pPr>
              <a:spcAft>
                <a:spcPts val="900"/>
              </a:spcAft>
            </a:pPr>
            <a:r>
              <a:rPr sz="1300" b="0">
                <a:solidFill>
                  <a:srgbClr val="161B26"/>
                </a:solidFill>
                <a:latin typeface="Arial"/>
              </a:rPr>
              <a:t>•  Inside the component, useParams() returns an object of the matched segment values.</a:t>
            </a:r>
          </a:p>
          <a:p>
            <a:pPr>
              <a:spcAft>
                <a:spcPts val="900"/>
              </a:spcAft>
            </a:pPr>
            <a:r>
              <a:rPr sz="1300" b="0">
                <a:solidFill>
                  <a:srgbClr val="161B26"/>
                </a:solidFill>
                <a:latin typeface="Arial"/>
              </a:rPr>
              <a:t>•  Read it with const { slug } = useParams(), then fetch that one course from /api/courses/:slug.</a:t>
            </a:r>
          </a:p>
          <a:p>
            <a:pPr>
              <a:spcAft>
                <a:spcPts val="900"/>
              </a:spcAft>
            </a:pPr>
            <a:r>
              <a:rPr sz="1300" b="0">
                <a:solidFill>
                  <a:srgbClr val="161B26"/>
                </a:solidFill>
                <a:latin typeface="Arial"/>
              </a:rPr>
              <a:t>•  useNavigate() moves programmatically: navigate(-1) goes back with no hardcoded path.</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A :param matches any value; useParams() reads it inside the component.</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&lt;Route path="courses/:slug" element={&lt;CourseDetailPage /&gt;} /&gt;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src/pages/CourseDetailPage.jsx (real code)</a:t>
            </a:r>
          </a:p>
          <a:p>
            <a:pPr algn="l">
              <a:spcAft>
                <a:spcPts val="200"/>
              </a:spcAft>
            </a:pPr>
            <a:r>
              <a:rPr sz="1150" b="0">
                <a:solidFill>
                  <a:srgbClr val="9CDCFE"/>
                </a:solidFill>
                <a:latin typeface="Arial"/>
              </a:rPr>
              <a:t>const { slug } = useParams()</a:t>
            </a:r>
          </a:p>
          <a:p>
            <a:pPr algn="l">
              <a:spcAft>
                <a:spcPts val="200"/>
              </a:spcAft>
            </a:pPr>
            <a:r>
              <a:rPr sz="1150" b="0">
                <a:solidFill>
                  <a:srgbClr val="9CDCFE"/>
                </a:solidFill>
                <a:latin typeface="Arial"/>
              </a:rPr>
              <a:t>const { course, loading, error } = useCourse(slug)</a:t>
            </a:r>
          </a:p>
          <a:p>
            <a:pPr algn="l">
              <a:spcAft>
                <a:spcPts val="200"/>
              </a:spcAft>
            </a:pPr>
            <a:r>
              <a:rPr sz="1150" b="0">
                <a:solidFill>
                  <a:srgbClr val="9CDCFE"/>
                </a:solidFill>
                <a:latin typeface="Arial"/>
              </a:rPr>
              <a:t>// null course = no such slug -&gt; render a real 404 page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dynamic segment is a mail slot labelled :slug — useParams reaches in and reads whichever course the URL dropped through.</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URL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URL state beats component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Filters, search terms and pagination are state, but they belong in the URL, not just useState.</a:t>
            </a:r>
          </a:p>
          <a:p>
            <a:pPr>
              <a:spcAft>
                <a:spcPts val="900"/>
              </a:spcAft>
            </a:pPr>
            <a:r>
              <a:rPr sz="1300" b="0">
                <a:solidFill>
                  <a:srgbClr val="161B26"/>
                </a:solidFill>
                <a:latin typeface="Arial"/>
              </a:rPr>
              <a:t>•  /courses?category=Bakery&amp;q=sourdough is shareable, bookmarkable and survives a refresh.</a:t>
            </a:r>
          </a:p>
          <a:p>
            <a:pPr>
              <a:spcAft>
                <a:spcPts val="900"/>
              </a:spcAft>
            </a:pPr>
            <a:r>
              <a:rPr sz="1300" b="0">
                <a:solidFill>
                  <a:srgbClr val="161B26"/>
                </a:solidFill>
                <a:latin typeface="Arial"/>
              </a:rPr>
              <a:t>•  It also makes the browser back button restore the previous filter instead of leaving the app.</a:t>
            </a:r>
          </a:p>
          <a:p>
            <a:pPr>
              <a:spcAft>
                <a:spcPts val="900"/>
              </a:spcAft>
            </a:pPr>
            <a:r>
              <a:rPr sz="1300" b="0">
                <a:solidFill>
                  <a:srgbClr val="161B26"/>
                </a:solidFill>
                <a:latin typeface="Arial"/>
              </a:rPr>
              <a:t>•  useSearchParams reads and writes the query string exactly like a piece of state.</a:t>
            </a:r>
          </a:p>
          <a:p>
            <a:pPr>
              <a:spcAft>
                <a:spcPts val="900"/>
              </a:spcAft>
            </a:pPr>
            <a:r>
              <a:rPr sz="1300" b="0">
                <a:solidFill>
                  <a:srgbClr val="161B26"/>
                </a:solidFill>
                <a:latin typeface="Arial"/>
              </a:rPr>
              <a:t>•  Debounce before you write: one history entry per keystroke would wreck the back button.</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Put shareable view state in the URL with useSearchParams, not useState.</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src/pages/CoursesPage.jsx (real code)</a:t>
            </a:r>
          </a:p>
          <a:p>
            <a:pPr algn="l">
              <a:spcAft>
                <a:spcPts val="200"/>
              </a:spcAft>
            </a:pPr>
            <a:r>
              <a:rPr sz="1150" b="0">
                <a:solidFill>
                  <a:srgbClr val="9CDCFE"/>
                </a:solidFill>
                <a:latin typeface="Arial"/>
              </a:rPr>
              <a:t>const [searchParams, setSearchParams] = useSearchParams()</a:t>
            </a:r>
          </a:p>
          <a:p>
            <a:pPr algn="l">
              <a:spcAft>
                <a:spcPts val="200"/>
              </a:spcAft>
            </a:pPr>
            <a:r>
              <a:rPr sz="1150" b="0">
                <a:solidFill>
                  <a:srgbClr val="9CDCFE"/>
                </a:solidFill>
                <a:latin typeface="Arial"/>
              </a:rPr>
              <a:t>const category = searchParams.get('category') ?? 'All'</a:t>
            </a:r>
          </a:p>
          <a:p>
            <a:pPr algn="l">
              <a:spcAft>
                <a:spcPts val="200"/>
              </a:spcAft>
            </a:pPr>
            <a:r>
              <a:rPr sz="1150" b="0">
                <a:solidFill>
                  <a:srgbClr val="9CDCFE"/>
                </a:solidFill>
                <a:latin typeface="Arial"/>
              </a:rPr>
              <a:t>const q = searchParams.get('q') ?? ''</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 replace: true } updates the URL without a new</a:t>
            </a:r>
          </a:p>
          <a:p>
            <a:pPr algn="l">
              <a:spcAft>
                <a:spcPts val="200"/>
              </a:spcAft>
            </a:pPr>
            <a:r>
              <a:rPr sz="1150" b="0">
                <a:solidFill>
                  <a:srgbClr val="9CDCFE"/>
                </a:solidFill>
                <a:latin typeface="Arial"/>
              </a:rPr>
              <a:t>// history entry — the debounced value is what we write.</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Putting filters in the URL is writing them on a shareable ticket — bookmark it, send it, hit back, and the same view returns.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PROTECTED ROUTES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Protected routes wait for auth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A protected route should render only for a signed-in user and redirect everyone else.</a:t>
            </a:r>
          </a:p>
          <a:p>
            <a:pPr>
              <a:spcAft>
                <a:spcPts val="900"/>
              </a:spcAft>
            </a:pPr>
            <a:r>
              <a:rPr sz="1300" b="0">
                <a:solidFill>
                  <a:srgbClr val="161B26"/>
                </a:solidFill>
                <a:latin typeface="Arial"/>
              </a:rPr>
              <a:t>•  The catch is that the session resolves asynchronously: on boot we ask /api/auth/me to verify the token.</a:t>
            </a:r>
          </a:p>
          <a:p>
            <a:pPr>
              <a:spcAft>
                <a:spcPts val="900"/>
              </a:spcAft>
            </a:pPr>
            <a:r>
              <a:rPr sz="1300" b="0">
                <a:solidFill>
                  <a:srgbClr val="161B26"/>
                </a:solidFill>
                <a:latin typeface="Arial"/>
              </a:rPr>
              <a:t>•  During that moment `user` is null but nobody is actually signed out. You know nothing yet.</a:t>
            </a:r>
          </a:p>
          <a:p>
            <a:pPr>
              <a:spcAft>
                <a:spcPts val="900"/>
              </a:spcAft>
            </a:pPr>
            <a:r>
              <a:rPr sz="1300" b="0">
                <a:solidFill>
                  <a:srgbClr val="161B26"/>
                </a:solidFill>
                <a:latin typeface="Arial"/>
              </a:rPr>
              <a:t>•  Guard on loading FIRST: while loading, show a message and redirect nobody.</a:t>
            </a:r>
          </a:p>
          <a:p>
            <a:pPr>
              <a:spcAft>
                <a:spcPts val="900"/>
              </a:spcAft>
            </a:pPr>
            <a:r>
              <a:rPr sz="1300" b="0">
                <a:solidFill>
                  <a:srgbClr val="161B26"/>
                </a:solidFill>
                <a:latin typeface="Arial"/>
              </a:rPr>
              <a:t>•  Skip that check and a signed-in student is bounced to /login on every single refresh.</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Wait for loading before redirecting, or you eject real users on refresh.</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 src/components/ProtectedRoute.jsx (real code)</a:t>
            </a:r>
          </a:p>
          <a:p>
            <a:pPr algn="l">
              <a:spcAft>
                <a:spcPts val="200"/>
              </a:spcAft>
            </a:pPr>
            <a:r>
              <a:rPr sz="1095" b="0">
                <a:solidFill>
                  <a:srgbClr val="9CDCFE"/>
                </a:solidFill>
                <a:latin typeface="Arial"/>
              </a:rPr>
              <a:t>const { user, loading } = useAuth()</a:t>
            </a:r>
          </a:p>
          <a:p>
            <a:pPr algn="l">
              <a:spcAft>
                <a:spcPts val="200"/>
              </a:spcAft>
            </a:pPr>
            <a:r>
              <a:rPr sz="1095" b="0">
                <a:solidFill>
                  <a:srgbClr val="9CDCFE"/>
                </a:solidFill>
                <a:latin typeface="Arial"/>
              </a:rPr>
              <a:t> </a:t>
            </a:r>
          </a:p>
          <a:p>
            <a:pPr algn="l">
              <a:spcAft>
                <a:spcPts val="200"/>
              </a:spcAft>
            </a:pPr>
            <a:r>
              <a:rPr sz="1095" b="0">
                <a:solidFill>
                  <a:srgbClr val="9CDCFE"/>
                </a:solidFill>
                <a:latin typeface="Arial"/>
              </a:rPr>
              <a:t>if (loading) return &lt;p&gt;Checking your session…&lt;/p&gt;  // FIRST</a:t>
            </a:r>
          </a:p>
          <a:p>
            <a:pPr algn="l">
              <a:spcAft>
                <a:spcPts val="200"/>
              </a:spcAft>
            </a:pPr>
            <a:r>
              <a:rPr sz="1095" b="0">
                <a:solidFill>
                  <a:srgbClr val="9CDCFE"/>
                </a:solidFill>
                <a:latin typeface="Arial"/>
              </a:rPr>
              <a:t>if (!user) {</a:t>
            </a:r>
          </a:p>
          <a:p>
            <a:pPr algn="l">
              <a:spcAft>
                <a:spcPts val="200"/>
              </a:spcAft>
            </a:pPr>
            <a:r>
              <a:rPr sz="1095" b="0">
                <a:solidFill>
                  <a:srgbClr val="9CDCFE"/>
                </a:solidFill>
                <a:latin typeface="Arial"/>
              </a:rPr>
              <a:t>  return &lt;Navigate to="/login" replace</a:t>
            </a:r>
          </a:p>
          <a:p>
            <a:pPr algn="l">
              <a:spcAft>
                <a:spcPts val="200"/>
              </a:spcAft>
            </a:pPr>
            <a:r>
              <a:rPr sz="1095" b="0">
                <a:solidFill>
                  <a:srgbClr val="9CDCFE"/>
                </a:solidFill>
                <a:latin typeface="Arial"/>
              </a:rPr>
              <a:t>    state={{ from: location }} /&gt;   // remember where</a:t>
            </a:r>
          </a:p>
          <a:p>
            <a:pPr algn="l">
              <a:spcAft>
                <a:spcPts val="200"/>
              </a:spcAft>
            </a:pPr>
            <a:r>
              <a:rPr sz="1095" b="0">
                <a:solidFill>
                  <a:srgbClr val="9CDCFE"/>
                </a:solidFill>
                <a:latin typeface="Arial"/>
              </a:rPr>
              <a:t>}</a:t>
            </a:r>
          </a:p>
          <a:p>
            <a:pPr algn="l">
              <a:spcAft>
                <a:spcPts val="200"/>
              </a:spcAft>
            </a:pPr>
            <a:r>
              <a:rPr sz="1095" b="0">
                <a:solidFill>
                  <a:srgbClr val="9CDCFE"/>
                </a:solidFill>
                <a:latin typeface="Arial"/>
              </a:rPr>
              <a:t>return &lt;Outlet /&gt;</a:t>
            </a:r>
          </a:p>
          <a:p>
            <a:pPr algn="l">
              <a:spcAft>
                <a:spcPts val="200"/>
              </a:spcAft>
            </a:pPr>
            <a:r>
              <a:rPr sz="1095"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Guarding before auth loads is checking a wristband in the dark — wait for the lights (loading) or you eject your own paying guest.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REAL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client guard is UX, not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257800" cy="3291840"/>
          </a:xfrm>
          <a:prstGeom prst="rect">
            <a:avLst/>
          </a:prstGeom>
          <a:noFill/>
        </p:spPr>
        <p:txBody>
          <a:bodyPr wrap="square">
            <a:spAutoFit/>
          </a:bodyPr>
          <a:lstStyle/>
          <a:p>
            <a:pPr>
              <a:spcAft>
                <a:spcPts val="900"/>
              </a:spcAft>
            </a:pPr>
            <a:r>
              <a:rPr sz="1300" b="0">
                <a:solidFill>
                  <a:srgbClr val="161B26"/>
                </a:solidFill>
                <a:latin typeface="Arial"/>
              </a:rPr>
              <a:t>•  Hiding a link or redirecting from a route improves the experience for honest users.</a:t>
            </a:r>
          </a:p>
          <a:p>
            <a:pPr>
              <a:spcAft>
                <a:spcPts val="900"/>
              </a:spcAft>
            </a:pPr>
            <a:r>
              <a:rPr sz="1300" b="0">
                <a:solidFill>
                  <a:srgbClr val="161B26"/>
                </a:solidFill>
                <a:latin typeface="Arial"/>
              </a:rPr>
              <a:t>•  It is not security: anyone can edit the JavaScript, or skip the app entirely and call /api/ with curl.</a:t>
            </a:r>
          </a:p>
          <a:p>
            <a:pPr>
              <a:spcAft>
                <a:spcPts val="900"/>
              </a:spcAft>
            </a:pPr>
            <a:r>
              <a:rPr sz="1300" b="0">
                <a:solidFill>
                  <a:srgbClr val="161B26"/>
                </a:solidFill>
                <a:latin typeface="Arial"/>
              </a:rPr>
              <a:t>•  The client cannot be trusted, because it runs entirely on the user's own machine.</a:t>
            </a:r>
          </a:p>
          <a:p>
            <a:pPr>
              <a:spcAft>
                <a:spcPts val="900"/>
              </a:spcAft>
            </a:pPr>
            <a:r>
              <a:rPr sz="1300" b="0">
                <a:solidFill>
                  <a:srgbClr val="161B26"/>
                </a:solidFill>
                <a:latin typeface="Arial"/>
              </a:rPr>
              <a:t>•  Real protection is in the API: requireAuth(req) for identity, and `and user_id = ${userId}` for ownership.</a:t>
            </a:r>
          </a:p>
          <a:p>
            <a:pPr>
              <a:spcAft>
                <a:spcPts val="900"/>
              </a:spcAft>
            </a:pPr>
            <a:r>
              <a:rPr sz="1300" b="0">
                <a:solidFill>
                  <a:srgbClr val="161B26"/>
                </a:solidFill>
                <a:latin typeface="Arial"/>
              </a:rPr>
              <a:t>•  Design so that a completely bypassed client guard exposes nothing the server would not already allow.</a:t>
            </a:r>
          </a:p>
        </p:txBody>
      </p:sp>
      <p:sp>
        <p:nvSpPr>
          <p:cNvPr id="8" name="Rectangle 7"/>
          <p:cNvSpPr/>
          <p:nvPr/>
        </p:nvSpPr>
        <p:spPr>
          <a:xfrm>
            <a:off x="777240" y="5230368"/>
            <a:ext cx="5257800" cy="777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230368"/>
            <a:ext cx="4892040" cy="777240"/>
          </a:xfrm>
          <a:prstGeom prst="rect">
            <a:avLst/>
          </a:prstGeom>
          <a:noFill/>
        </p:spPr>
        <p:txBody>
          <a:bodyPr wrap="square" anchor="ctr">
            <a:spAutoFit/>
          </a:bodyPr>
          <a:lstStyle/>
          <a:p>
            <a:pPr algn="l">
              <a:spcAft>
                <a:spcPts val="200"/>
              </a:spcAft>
            </a:pPr>
            <a:r>
              <a:rPr sz="1000" b="1">
                <a:solidFill>
                  <a:srgbClr val="10B981"/>
                </a:solidFill>
                <a:latin typeface="Arial"/>
              </a:rPr>
              <a:t>REMEMBER  </a:t>
            </a:r>
            <a:r>
              <a:rPr sz="1200" b="0">
                <a:solidFill>
                  <a:srgbClr val="161B26"/>
                </a:solidFill>
                <a:latin typeface="Arial"/>
              </a:rPr>
              <a:t>Client guards are UX only; the API's auth checks are what protect the data.</a:t>
            </a:r>
          </a:p>
        </p:txBody>
      </p:sp>
      <p:sp>
        <p:nvSpPr>
          <p:cNvPr id="11" name="Rectangle 10"/>
          <p:cNvSpPr/>
          <p:nvPr/>
        </p:nvSpPr>
        <p:spPr>
          <a:xfrm>
            <a:off x="6263640" y="1828800"/>
            <a:ext cx="5148072" cy="2377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745736" cy="2084832"/>
          </a:xfrm>
          <a:prstGeom prst="rect">
            <a:avLst/>
          </a:prstGeom>
          <a:noFill/>
        </p:spPr>
        <p:txBody>
          <a:bodyPr wrap="square" anchor="t">
            <a:spAutoFit/>
          </a:bodyPr>
          <a:lstStyle/>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Hiding the link is NOT security:</a:t>
            </a:r>
          </a:p>
          <a:p>
            <a:pPr algn="l">
              <a:spcAft>
                <a:spcPts val="200"/>
              </a:spcAft>
            </a:pPr>
            <a:r>
              <a:rPr sz="1150" b="0">
                <a:solidFill>
                  <a:srgbClr val="9CDCFE"/>
                </a:solidFill>
                <a:latin typeface="Arial"/>
              </a:rPr>
              <a:t>{user &amp;&amp; &lt;NavLink to="/dashboard"&gt;Dashboard&lt;/NavLink&gt;}</a:t>
            </a:r>
          </a:p>
          <a:p>
            <a:pPr algn="l">
              <a:spcAft>
                <a:spcPts val="200"/>
              </a:spcAft>
            </a:pPr>
            <a:r>
              <a:rPr sz="1150" b="0">
                <a:solidFill>
                  <a:srgbClr val="9CDCFE"/>
                </a:solidFill>
                <a:latin typeface="Arial"/>
              </a:rPr>
              <a:t> </a:t>
            </a:r>
          </a:p>
          <a:p>
            <a:pPr algn="l">
              <a:spcAft>
                <a:spcPts val="200"/>
              </a:spcAft>
            </a:pPr>
            <a:r>
              <a:rPr sz="1150" b="0">
                <a:solidFill>
                  <a:srgbClr val="9CDCFE"/>
                </a:solidFill>
                <a:latin typeface="Arial"/>
              </a:rPr>
              <a:t>// THIS is security — and it runs on the server:</a:t>
            </a:r>
          </a:p>
          <a:p>
            <a:pPr algn="l">
              <a:spcAft>
                <a:spcPts val="200"/>
              </a:spcAft>
            </a:pPr>
            <a:r>
              <a:rPr sz="1150" b="0">
                <a:solidFill>
                  <a:srgbClr val="9CDCFE"/>
                </a:solidFill>
                <a:latin typeface="Arial"/>
              </a:rPr>
              <a:t>const userId = requireAuth(req)        // 401 if forged</a:t>
            </a:r>
          </a:p>
          <a:p>
            <a:pPr algn="l">
              <a:spcAft>
                <a:spcPts val="200"/>
              </a:spcAft>
            </a:pPr>
            <a:r>
              <a:rPr sz="1150" b="0">
                <a:solidFill>
                  <a:srgbClr val="9CDCFE"/>
                </a:solidFill>
                <a:latin typeface="Arial"/>
              </a:rPr>
              <a:t>await sql`select * from enrollments</a:t>
            </a:r>
          </a:p>
          <a:p>
            <a:pPr algn="l">
              <a:spcAft>
                <a:spcPts val="200"/>
              </a:spcAft>
            </a:pPr>
            <a:r>
              <a:rPr sz="1150" b="0">
                <a:solidFill>
                  <a:srgbClr val="9CDCFE"/>
                </a:solidFill>
                <a:latin typeface="Arial"/>
              </a:rPr>
              <a:t>          where user_id = ${userId}`   // your rows only</a:t>
            </a:r>
          </a:p>
          <a:p>
            <a:pPr algn="l">
              <a:spcAft>
                <a:spcPts val="200"/>
              </a:spcAft>
            </a:pPr>
            <a:r>
              <a:rPr sz="1150" b="0">
                <a:solidFill>
                  <a:srgbClr val="9CDCFE"/>
                </a:solidFill>
                <a:latin typeface="Arial"/>
              </a:rPr>
              <a:t> </a:t>
            </a:r>
          </a:p>
        </p:txBody>
      </p:sp>
      <p:sp>
        <p:nvSpPr>
          <p:cNvPr id="13" name="Rectangle 12"/>
          <p:cNvSpPr/>
          <p:nvPr/>
        </p:nvSpPr>
        <p:spPr>
          <a:xfrm>
            <a:off x="6263640" y="4370832"/>
            <a:ext cx="5148072" cy="1636776"/>
          </a:xfrm>
          <a:prstGeom prst="rect">
            <a:avLst/>
          </a:prstGeom>
          <a:solidFill>
            <a:srgbClr val="FF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370832"/>
            <a:ext cx="91440" cy="1636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480560"/>
            <a:ext cx="4709160" cy="1417320"/>
          </a:xfrm>
          <a:prstGeom prst="rect">
            <a:avLst/>
          </a:prstGeom>
          <a:noFill/>
        </p:spPr>
        <p:txBody>
          <a:bodyPr wrap="square" anchor="ctr">
            <a:spAutoFit/>
          </a:bodyPr>
          <a:lstStyle/>
          <a:p>
            <a:pPr algn="l">
              <a:spcAft>
                <a:spcPts val="500"/>
              </a:spcAft>
            </a:pPr>
            <a:r>
              <a:rPr sz="1000" b="1">
                <a:solidFill>
                  <a:srgbClr val="F59E0B"/>
                </a:solidFill>
                <a:latin typeface="Arial"/>
              </a:rPr>
              <a:t>THINK OF IT LIKE…</a:t>
            </a:r>
          </a:p>
          <a:p>
            <a:pPr algn="l">
              <a:spcAft>
                <a:spcPts val="500"/>
              </a:spcAft>
            </a:pPr>
            <a:r>
              <a:rPr sz="1300" b="0">
                <a:solidFill>
                  <a:srgbClr val="161B26"/>
                </a:solidFill>
                <a:latin typeface="Arial"/>
              </a:rPr>
              <a:t>A client-side guard is a velvet rope, not a vault — anyone can step over it in devtools; only the API can lock the door.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SPA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a single-page application loads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The browser loads the page and its static assets from the server just once.</a:t>
            </a:r>
          </a:p>
          <a:p>
            <a:pPr>
              <a:spcAft>
                <a:spcPts val="1000"/>
              </a:spcAft>
            </a:pPr>
            <a:r>
              <a:rPr sz="1300" b="0">
                <a:solidFill>
                  <a:srgbClr val="161B26"/>
                </a:solidFill>
                <a:latin typeface="Arial"/>
              </a:rPr>
              <a:t>•  The React framework then renders the layout and runs entirely in the browser.</a:t>
            </a:r>
          </a:p>
          <a:p>
            <a:pPr>
              <a:spcAft>
                <a:spcPts val="1000"/>
              </a:spcAft>
            </a:pPr>
            <a:r>
              <a:rPr sz="1300" b="0">
                <a:solidFill>
                  <a:srgbClr val="161B26"/>
                </a:solidFill>
                <a:latin typeface="Arial"/>
              </a:rPr>
              <a:t>•  JavaScript fetches data as JSON and drops it into the already-rendered page.</a:t>
            </a:r>
          </a:p>
          <a:p>
            <a:pPr>
              <a:spcAft>
                <a:spcPts val="1000"/>
              </a:spcAft>
            </a:pPr>
            <a:r>
              <a:rPr sz="1300" b="0">
                <a:solidFill>
                  <a:srgbClr val="161B26"/>
                </a:solidFill>
                <a:latin typeface="Arial"/>
              </a:rPr>
              <a:t>•  From there the user interacts and the view updates in place, with no full reload.</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A.png"/>
          <p:cNvPicPr>
            <a:picLocks noChangeAspect="1"/>
          </p:cNvPicPr>
          <p:nvPr/>
        </p:nvPicPr>
        <p:blipFill>
          <a:blip r:embed="rId2"/>
          <a:stretch>
            <a:fillRect/>
          </a:stretch>
        </p:blipFill>
        <p:spPr>
          <a:xfrm>
            <a:off x="5916168" y="2414258"/>
            <a:ext cx="5385816" cy="2532403"/>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An SPA loads once, then updates the view in the browser without fresh page loads.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ROUTING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Client-side routing maps URLs to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The server sends one index.html that contains the whole React app.</a:t>
            </a:r>
          </a:p>
          <a:p>
            <a:pPr>
              <a:spcAft>
                <a:spcPts val="1000"/>
              </a:spcAft>
            </a:pPr>
            <a:r>
              <a:rPr sz="1300" b="0">
                <a:solidFill>
                  <a:srgbClr val="161B26"/>
                </a:solidFill>
                <a:latin typeface="Arial"/>
              </a:rPr>
              <a:t>•  React Router inspects the current URL and decides which component to render.</a:t>
            </a:r>
          </a:p>
          <a:p>
            <a:pPr>
              <a:spcAft>
                <a:spcPts val="1000"/>
              </a:spcAft>
            </a:pPr>
            <a:r>
              <a:rPr sz="1300" b="0">
                <a:solidFill>
                  <a:srgbClr val="161B26"/>
                </a:solidFill>
                <a:latin typeface="Arial"/>
              </a:rPr>
              <a:t>•  Each path — /, /about, /posts, /posts/1 — is mapped to its own component.</a:t>
            </a:r>
          </a:p>
          <a:p>
            <a:pPr>
              <a:spcAft>
                <a:spcPts val="1000"/>
              </a:spcAft>
            </a:pPr>
            <a:r>
              <a:rPr sz="1300" b="0">
                <a:solidFill>
                  <a:srgbClr val="161B26"/>
                </a:solidFill>
                <a:latin typeface="Arial"/>
              </a:rPr>
              <a:t>•  Components may still call the server for data, but navigation stays in the browser.</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ent-side-routing.png"/>
          <p:cNvPicPr>
            <a:picLocks noChangeAspect="1"/>
          </p:cNvPicPr>
          <p:nvPr/>
        </p:nvPicPr>
        <p:blipFill>
          <a:blip r:embed="rId2"/>
          <a:stretch>
            <a:fillRect/>
          </a:stretch>
        </p:blipFill>
        <p:spPr>
          <a:xfrm>
            <a:off x="6811915" y="1892808"/>
            <a:ext cx="3594321" cy="3575304"/>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React Router matches each URL path to a component, all without leaving the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06 · SERVER ROUTING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Traditional server-side routing, for contrast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4663440" cy="3931920"/>
          </a:xfrm>
          <a:prstGeom prst="rect">
            <a:avLst/>
          </a:prstGeom>
          <a:noFill/>
        </p:spPr>
        <p:txBody>
          <a:bodyPr wrap="square">
            <a:spAutoFit/>
          </a:bodyPr>
          <a:lstStyle/>
          <a:p>
            <a:pPr>
              <a:spcAft>
                <a:spcPts val="1000"/>
              </a:spcAft>
            </a:pPr>
            <a:r>
              <a:rPr sz="1300" b="0">
                <a:solidFill>
                  <a:srgbClr val="161B26"/>
                </a:solidFill>
                <a:latin typeface="Arial"/>
              </a:rPr>
              <a:t>•  In the traditional model, navigating to /about sends a fresh request to the server.</a:t>
            </a:r>
          </a:p>
          <a:p>
            <a:pPr>
              <a:spcAft>
                <a:spcPts val="1000"/>
              </a:spcAft>
            </a:pPr>
            <a:r>
              <a:rPr sz="1300" b="0">
                <a:solidFill>
                  <a:srgbClr val="161B26"/>
                </a:solidFill>
                <a:latin typeface="Arial"/>
              </a:rPr>
              <a:t>•  The server renders the HTML for that page and sends the whole document back.</a:t>
            </a:r>
          </a:p>
          <a:p>
            <a:pPr>
              <a:spcAft>
                <a:spcPts val="1000"/>
              </a:spcAft>
            </a:pPr>
            <a:r>
              <a:rPr sz="1300" b="0">
                <a:solidFill>
                  <a:srgbClr val="161B26"/>
                </a:solidFill>
                <a:latin typeface="Arial"/>
              </a:rPr>
              <a:t>•  Every navigation is a full round-trip, so any in-page state is lost on the way.</a:t>
            </a:r>
          </a:p>
          <a:p>
            <a:pPr>
              <a:spcAft>
                <a:spcPts val="1000"/>
              </a:spcAft>
            </a:pPr>
            <a:r>
              <a:rPr sz="1300" b="0">
                <a:solidFill>
                  <a:srgbClr val="161B26"/>
                </a:solidFill>
                <a:latin typeface="Arial"/>
              </a:rPr>
              <a:t>•  From there the client-side JavaScript takes over and the page becomes interactive.</a:t>
            </a:r>
          </a:p>
          <a:p>
            <a:pPr>
              <a:spcAft>
                <a:spcPts val="1000"/>
              </a:spcAft>
            </a:pPr>
            <a:r>
              <a:rPr sz="1300" b="0">
                <a:solidFill>
                  <a:srgbClr val="161B26"/>
                </a:solidFill>
                <a:latin typeface="Arial"/>
              </a:rPr>
              <a:t>•  Contrast this with the SPA model, where the client handles navigation after the first load.</a:t>
            </a:r>
          </a:p>
        </p:txBody>
      </p:sp>
      <p:sp>
        <p:nvSpPr>
          <p:cNvPr id="8" name="Rectangle 7"/>
          <p:cNvSpPr/>
          <p:nvPr/>
        </p:nvSpPr>
        <p:spPr>
          <a:xfrm>
            <a:off x="5806440" y="1783080"/>
            <a:ext cx="5605272"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rver-side-routing.png"/>
          <p:cNvPicPr>
            <a:picLocks noChangeAspect="1"/>
          </p:cNvPicPr>
          <p:nvPr/>
        </p:nvPicPr>
        <p:blipFill>
          <a:blip r:embed="rId2"/>
          <a:stretch>
            <a:fillRect/>
          </a:stretch>
        </p:blipFill>
        <p:spPr>
          <a:xfrm>
            <a:off x="5916168" y="2921617"/>
            <a:ext cx="5385816" cy="1517686"/>
          </a:xfrm>
          <a:prstGeom prst="rect">
            <a:avLst/>
          </a:prstGeom>
        </p:spPr>
      </p:pic>
      <p:sp>
        <p:nvSpPr>
          <p:cNvPr id="10" name="TextBox 9"/>
          <p:cNvSpPr txBox="1"/>
          <p:nvPr/>
        </p:nvSpPr>
        <p:spPr>
          <a:xfrm>
            <a:off x="5806440" y="5687568"/>
            <a:ext cx="5605272" cy="685800"/>
          </a:xfrm>
          <a:prstGeom prst="rect">
            <a:avLst/>
          </a:prstGeom>
          <a:noFill/>
        </p:spPr>
        <p:txBody>
          <a:bodyPr wrap="square" anchor="t">
            <a:spAutoFit/>
          </a:bodyPr>
          <a:lstStyle/>
          <a:p>
            <a:pPr algn="ctr">
              <a:spcAft>
                <a:spcPts val="400"/>
              </a:spcAft>
            </a:pPr>
            <a:r>
              <a:rPr sz="1100" b="0">
                <a:solidFill>
                  <a:srgbClr val="5B6372"/>
                </a:solidFill>
                <a:latin typeface="Arial"/>
              </a:rPr>
              <a:t>Server-side routing round-trips for every page — the opposite of the SPA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Routes, Links and Layout Routes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Cook &amp; Bake Academy is one long scroll. The learner installs React Router, splits it into Home, Courses and About, and builds a layout route whose &lt;Outlet/&gt; renders the matched page inside the shared navbar and footer.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src/layouts/RootLayout.jsx with an &lt;Outlet/&gt;, plus HomePage, CoursesPage and AboutPage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react-router-dom, BrowserRouter, Routes, Route, Link, NavLink, Outlet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Declaring a route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05" b="0">
                <a:solidFill>
                  <a:srgbClr val="9CDCFE"/>
                </a:solidFill>
                <a:latin typeface="Arial"/>
              </a:rPr>
              <a:t>import { Routes, Route, Navigate } from 'react-router-dom'</a:t>
            </a:r>
          </a:p>
          <a:p>
            <a:pPr algn="l">
              <a:spcAft>
                <a:spcPts val="200"/>
              </a:spcAft>
            </a:pPr>
            <a:r>
              <a:rPr sz="1205" b="0">
                <a:solidFill>
                  <a:srgbClr val="9CDCFE"/>
                </a:solidFill>
                <a:latin typeface="Arial"/>
              </a:rPr>
              <a:t>// App declares a route MAP. The layout route wraps its</a:t>
            </a:r>
          </a:p>
          <a:p>
            <a:pPr algn="l">
              <a:spcAft>
                <a:spcPts val="200"/>
              </a:spcAft>
            </a:pPr>
            <a:r>
              <a:rPr sz="1205" b="0">
                <a:solidFill>
                  <a:srgbClr val="9CDCFE"/>
                </a:solidFill>
                <a:latin typeface="Arial"/>
              </a:rPr>
              <a:t>// children; the matching URL renders into RootLayout's</a:t>
            </a:r>
          </a:p>
          <a:p>
            <a:pPr algn="l">
              <a:spcAft>
                <a:spcPts val="200"/>
              </a:spcAft>
            </a:pPr>
            <a:r>
              <a:rPr sz="1205" b="0">
                <a:solidFill>
                  <a:srgbClr val="9CDCFE"/>
                </a:solidFill>
                <a:latin typeface="Arial"/>
              </a:rPr>
              <a:t>// &lt;Outlet/&gt;. `index` is "/" itself.</a:t>
            </a:r>
          </a:p>
          <a:p>
            <a:pPr algn="l">
              <a:spcAft>
                <a:spcPts val="200"/>
              </a:spcAft>
            </a:pPr>
            <a:r>
              <a:rPr sz="1205" b="0">
                <a:solidFill>
                  <a:srgbClr val="9CDCFE"/>
                </a:solidFill>
                <a:latin typeface="Arial"/>
              </a:rPr>
              <a:t>export default function App() {</a:t>
            </a:r>
          </a:p>
          <a:p>
            <a:pPr algn="l">
              <a:spcAft>
                <a:spcPts val="200"/>
              </a:spcAft>
            </a:pPr>
            <a:r>
              <a:rPr sz="1205" b="0">
                <a:solidFill>
                  <a:srgbClr val="9CDCFE"/>
                </a:solidFill>
                <a:latin typeface="Arial"/>
              </a:rPr>
              <a:t>  return (</a:t>
            </a:r>
          </a:p>
          <a:p>
            <a:pPr algn="l">
              <a:spcAft>
                <a:spcPts val="200"/>
              </a:spcAft>
            </a:pPr>
            <a:r>
              <a:rPr sz="1205" b="0">
                <a:solidFill>
                  <a:srgbClr val="9CDCFE"/>
                </a:solidFill>
                <a:latin typeface="Arial"/>
              </a:rPr>
              <a:t>    &lt;Routes&gt;</a:t>
            </a:r>
          </a:p>
          <a:p>
            <a:pPr algn="l">
              <a:spcAft>
                <a:spcPts val="200"/>
              </a:spcAft>
            </a:pPr>
            <a:r>
              <a:rPr sz="1205" b="0">
                <a:solidFill>
                  <a:srgbClr val="9CDCFE"/>
                </a:solidFill>
                <a:latin typeface="Arial"/>
              </a:rPr>
              <a:t>      &lt;Route path="/" element={&lt;RootLayout /&gt;}&gt;</a:t>
            </a:r>
          </a:p>
          <a:p>
            <a:pPr algn="l">
              <a:spcAft>
                <a:spcPts val="200"/>
              </a:spcAft>
            </a:pPr>
            <a:r>
              <a:rPr sz="1205" b="0">
                <a:solidFill>
                  <a:srgbClr val="9CDCFE"/>
                </a:solidFill>
                <a:latin typeface="Arial"/>
              </a:rPr>
              <a:t>        &lt;Route index element={&lt;HomePage /&gt;} /&gt;</a:t>
            </a:r>
          </a:p>
          <a:p>
            <a:pPr algn="l">
              <a:spcAft>
                <a:spcPts val="200"/>
              </a:spcAft>
            </a:pPr>
            <a:r>
              <a:rPr sz="1205" b="0">
                <a:solidFill>
                  <a:srgbClr val="9CDCFE"/>
                </a:solidFill>
                <a:latin typeface="Arial"/>
              </a:rPr>
              <a:t>        &lt;Route path="courses" element={&lt;CoursesPage /&gt;} /&gt;</a:t>
            </a:r>
          </a:p>
          <a:p>
            <a:pPr algn="l">
              <a:spcAft>
                <a:spcPts val="200"/>
              </a:spcAft>
            </a:pPr>
            <a:r>
              <a:rPr sz="1205" b="0">
                <a:solidFill>
                  <a:srgbClr val="9CDCFE"/>
                </a:solidFill>
                <a:latin typeface="Arial"/>
              </a:rPr>
              <a:t>        &lt;Route path="courses/:slug"</a:t>
            </a:r>
          </a:p>
          <a:p>
            <a:pPr algn="l">
              <a:spcAft>
                <a:spcPts val="200"/>
              </a:spcAft>
            </a:pPr>
            <a:r>
              <a:rPr sz="1205" b="0">
                <a:solidFill>
                  <a:srgbClr val="9CDCFE"/>
                </a:solidFill>
                <a:latin typeface="Arial"/>
              </a:rPr>
              <a:t>          element={&lt;CourseDetailPage /&gt;} /&gt;</a:t>
            </a:r>
          </a:p>
          <a:p>
            <a:pPr algn="l">
              <a:spcAft>
                <a:spcPts val="200"/>
              </a:spcAft>
            </a:pPr>
            <a:r>
              <a:rPr sz="1205" b="0">
                <a:solidFill>
                  <a:srgbClr val="9CDCFE"/>
                </a:solidFill>
                <a:latin typeface="Arial"/>
              </a:rPr>
              <a:t>        &lt;Route path="about" element={&lt;AboutPage /&gt;} /&gt;</a:t>
            </a:r>
          </a:p>
          <a:p>
            <a:pPr algn="l">
              <a:spcAft>
                <a:spcPts val="200"/>
              </a:spcAft>
            </a:pPr>
            <a:r>
              <a:rPr sz="1205" b="0">
                <a:solidFill>
                  <a:srgbClr val="9CDCFE"/>
                </a:solidFill>
                <a:latin typeface="Arial"/>
              </a:rPr>
              <a:t>      &lt;/Route&gt;</a:t>
            </a:r>
          </a:p>
          <a:p>
            <a:pPr algn="l">
              <a:spcAft>
                <a:spcPts val="200"/>
              </a:spcAft>
            </a:pPr>
            <a:r>
              <a:rPr sz="1205" b="0">
                <a:solidFill>
                  <a:srgbClr val="9CDCFE"/>
                </a:solidFill>
                <a:latin typeface="Arial"/>
              </a:rPr>
              <a:t>    &lt;/Routes&gt;</a:t>
            </a:r>
          </a:p>
          <a:p>
            <a:pPr algn="l">
              <a:spcAft>
                <a:spcPts val="200"/>
              </a:spcAft>
            </a:pPr>
            <a:r>
              <a:rPr sz="1205" b="0">
                <a:solidFill>
                  <a:srgbClr val="9CDCFE"/>
                </a:solidFill>
                <a:latin typeface="Arial"/>
              </a:rPr>
              <a:t>  )</a:t>
            </a:r>
          </a:p>
          <a:p>
            <a:pPr algn="l">
              <a:spcAft>
                <a:spcPts val="200"/>
              </a:spcAft>
            </a:pPr>
            <a:r>
              <a:rPr sz="1205"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App declares routes, not a page; the matching URL renders into the layout's &lt;Outlet/&gt;.</a:t>
            </a:r>
          </a:p>
          <a:p>
            <a:pPr>
              <a:spcAft>
                <a:spcPts val="1000"/>
              </a:spcAft>
            </a:pPr>
            <a:r>
              <a:rPr sz="1250" b="0">
                <a:solidFill>
                  <a:srgbClr val="161B26"/>
                </a:solidFill>
                <a:latin typeface="Arial"/>
              </a:rPr>
              <a:t>•  The layout &lt;Route&gt; wraps children; `index` is the route for '/' itself.</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layout route with &lt;Outlet/&gt;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src/layouts/RootLayout.jsx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 Outlet } from 'react-router-dom'</a:t>
            </a:r>
          </a:p>
          <a:p>
            <a:pPr algn="l">
              <a:spcAft>
                <a:spcPts val="200"/>
              </a:spcAft>
            </a:pPr>
            <a:r>
              <a:rPr sz="1250" b="0">
                <a:solidFill>
                  <a:srgbClr val="9CDCFE"/>
                </a:solidFill>
                <a:latin typeface="Arial"/>
              </a:rPr>
              <a:t>import Navbar from '../components/Navbar'</a:t>
            </a:r>
          </a:p>
          <a:p>
            <a:pPr algn="l">
              <a:spcAft>
                <a:spcPts val="200"/>
              </a:spcAft>
            </a:pPr>
            <a:r>
              <a:rPr sz="1250" b="0">
                <a:solidFill>
                  <a:srgbClr val="9CDCFE"/>
                </a:solidFill>
                <a:latin typeface="Arial"/>
              </a:rPr>
              <a:t>import Footer from '../components/Footer'</a:t>
            </a:r>
          </a:p>
          <a:p>
            <a:pPr algn="l">
              <a:spcAft>
                <a:spcPts val="200"/>
              </a:spcAft>
            </a:pPr>
            <a:r>
              <a:rPr sz="1250" b="0">
                <a:solidFill>
                  <a:srgbClr val="9CDCFE"/>
                </a:solidFill>
                <a:latin typeface="Arial"/>
              </a:rPr>
              <a:t>// The app shell. Navbar and Footer render on every</a:t>
            </a:r>
          </a:p>
          <a:p>
            <a:pPr algn="l">
              <a:spcAft>
                <a:spcPts val="200"/>
              </a:spcAft>
            </a:pPr>
            <a:r>
              <a:rPr sz="1250" b="0">
                <a:solidFill>
                  <a:srgbClr val="9CDCFE"/>
                </a:solidFill>
                <a:latin typeface="Arial"/>
              </a:rPr>
              <a:t>// page; the active route renders at Outlet.</a:t>
            </a:r>
          </a:p>
          <a:p>
            <a:pPr algn="l">
              <a:spcAft>
                <a:spcPts val="200"/>
              </a:spcAft>
            </a:pPr>
            <a:r>
              <a:rPr sz="1250" b="0">
                <a:solidFill>
                  <a:srgbClr val="9CDCFE"/>
                </a:solidFill>
                <a:latin typeface="Arial"/>
              </a:rPr>
              <a:t>export default function RootLayout() {</a:t>
            </a:r>
          </a:p>
          <a:p>
            <a:pPr algn="l">
              <a:spcAft>
                <a:spcPts val="200"/>
              </a:spcAft>
            </a:pPr>
            <a:r>
              <a:rPr sz="1250" b="0">
                <a:solidFill>
                  <a:srgbClr val="9CDCFE"/>
                </a:solidFill>
                <a:latin typeface="Arial"/>
              </a:rPr>
              <a:t>  return (</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&lt;Navbar /&gt;</a:t>
            </a:r>
          </a:p>
          <a:p>
            <a:pPr algn="l">
              <a:spcAft>
                <a:spcPts val="200"/>
              </a:spcAft>
            </a:pPr>
            <a:r>
              <a:rPr sz="1250" b="0">
                <a:solidFill>
                  <a:srgbClr val="9CDCFE"/>
                </a:solidFill>
                <a:latin typeface="Arial"/>
              </a:rPr>
              <a:t>      &lt;main style={{ minHeight: '70vh' }}&gt;</a:t>
            </a:r>
          </a:p>
          <a:p>
            <a:pPr algn="l">
              <a:spcAft>
                <a:spcPts val="200"/>
              </a:spcAft>
            </a:pPr>
            <a:r>
              <a:rPr sz="1250" b="0">
                <a:solidFill>
                  <a:srgbClr val="9CDCFE"/>
                </a:solidFill>
                <a:latin typeface="Arial"/>
              </a:rPr>
              <a:t>        &lt;Outlet /&gt;</a:t>
            </a:r>
          </a:p>
          <a:p>
            <a:pPr algn="l">
              <a:spcAft>
                <a:spcPts val="200"/>
              </a:spcAft>
            </a:pPr>
            <a:r>
              <a:rPr sz="1250" b="0">
                <a:solidFill>
                  <a:srgbClr val="9CDCFE"/>
                </a:solidFill>
                <a:latin typeface="Arial"/>
              </a:rPr>
              <a:t>      &lt;/main&gt;</a:t>
            </a:r>
          </a:p>
          <a:p>
            <a:pPr algn="l">
              <a:spcAft>
                <a:spcPts val="200"/>
              </a:spcAft>
            </a:pPr>
            <a:r>
              <a:rPr sz="1250" b="0">
                <a:solidFill>
                  <a:srgbClr val="9CDCFE"/>
                </a:solidFill>
                <a:latin typeface="Arial"/>
              </a:rPr>
              <a:t>      &lt;Footer /&gt;</a:t>
            </a:r>
          </a:p>
          <a:p>
            <a:pPr algn="l">
              <a:spcAft>
                <a:spcPts val="200"/>
              </a:spcAft>
            </a:pPr>
            <a:r>
              <a:rPr sz="1250" b="0">
                <a:solidFill>
                  <a:srgbClr val="9CDCFE"/>
                </a:solidFill>
                <a:latin typeface="Arial"/>
              </a:rPr>
              <a:t>    &lt;/&gt;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Navbar and Footer render on every page — the shared app shell.</a:t>
            </a:r>
          </a:p>
          <a:p>
            <a:pPr>
              <a:spcAft>
                <a:spcPts val="1000"/>
              </a:spcAft>
            </a:pPr>
            <a:r>
              <a:rPr sz="1250" b="0">
                <a:solidFill>
                  <a:srgbClr val="161B26"/>
                </a:solidFill>
                <a:latin typeface="Arial"/>
              </a:rPr>
              <a:t>•  The active child route renders wherever &lt;Outlet/&gt; sits.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Routes, Links and Layout Routes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Clicking Courses and About swaps the page with no full reload, the navbar and footer never re-mount (the 🧺 count and the theme survive), and the active tab is highlighted.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Dynamic Routes, URL State and 404s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Each of the 20 courses needs its own shareable URL. The learner adds /courses/:slug backed by the useCourse hook and the [slug] API route from Topic 5, moves the search and category filters into the query string, and adds a real catch-all 404.</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CourseDetailPage at /courses/:slug, NotFoundPage, and shareable filter URLs like /courses?category=Bakery&amp;q=sourdough</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useParams, useNavigate, useSearchParams, catch-all routes, HTTP 404</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Fetch one course by its slug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src/hooks/useCourse.js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998" b="0">
                <a:solidFill>
                  <a:srgbClr val="9CDCFE"/>
                </a:solidFill>
                <a:latin typeface="Arial"/>
              </a:rPr>
              <a:t>export function useCourse(slug) {</a:t>
            </a:r>
          </a:p>
          <a:p>
            <a:pPr algn="l">
              <a:spcAft>
                <a:spcPts val="200"/>
              </a:spcAft>
            </a:pPr>
            <a:r>
              <a:rPr sz="998" b="0">
                <a:solidFill>
                  <a:srgbClr val="9CDCFE"/>
                </a:solidFill>
                <a:latin typeface="Arial"/>
              </a:rPr>
              <a:t>  const [course, setCourse] = useState(null)</a:t>
            </a:r>
          </a:p>
          <a:p>
            <a:pPr algn="l">
              <a:spcAft>
                <a:spcPts val="200"/>
              </a:spcAft>
            </a:pPr>
            <a:r>
              <a:rPr sz="998" b="0">
                <a:solidFill>
                  <a:srgbClr val="9CDCFE"/>
                </a:solidFill>
                <a:latin typeface="Arial"/>
              </a:rPr>
              <a:t>  const [loading, setLoading] = useState(true)</a:t>
            </a:r>
          </a:p>
          <a:p>
            <a:pPr algn="l">
              <a:spcAft>
                <a:spcPts val="200"/>
              </a:spcAft>
            </a:pPr>
            <a:r>
              <a:rPr sz="998" b="0">
                <a:solidFill>
                  <a:srgbClr val="9CDCFE"/>
                </a:solidFill>
                <a:latin typeface="Arial"/>
              </a:rPr>
              <a:t>  const [error, setError] = useState(null)</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useEffect(() =&gt; {</a:t>
            </a:r>
          </a:p>
          <a:p>
            <a:pPr algn="l">
              <a:spcAft>
                <a:spcPts val="200"/>
              </a:spcAft>
            </a:pPr>
            <a:r>
              <a:rPr sz="998" b="0">
                <a:solidFill>
                  <a:srgbClr val="9CDCFE"/>
                </a:solidFill>
                <a:latin typeface="Arial"/>
              </a:rPr>
              <a:t>    async function load() {</a:t>
            </a:r>
          </a:p>
          <a:p>
            <a:pPr algn="l">
              <a:spcAft>
                <a:spcPts val="200"/>
              </a:spcAft>
            </a:pPr>
            <a:r>
              <a:rPr sz="998" b="0">
                <a:solidFill>
                  <a:srgbClr val="9CDCFE"/>
                </a:solidFill>
                <a:latin typeface="Arial"/>
              </a:rPr>
              <a:t>      try {</a:t>
            </a:r>
          </a:p>
          <a:p>
            <a:pPr algn="l">
              <a:spcAft>
                <a:spcPts val="200"/>
              </a:spcAft>
            </a:pPr>
            <a:r>
              <a:rPr sz="998" b="0">
                <a:solidFill>
                  <a:srgbClr val="9CDCFE"/>
                </a:solidFill>
                <a:latin typeface="Arial"/>
              </a:rPr>
              <a:t>        const data = await api.get(`/courses/${slug}`)</a:t>
            </a:r>
          </a:p>
          <a:p>
            <a:pPr algn="l">
              <a:spcAft>
                <a:spcPts val="200"/>
              </a:spcAft>
            </a:pPr>
            <a:r>
              <a:rPr sz="998" b="0">
                <a:solidFill>
                  <a:srgbClr val="9CDCFE"/>
                </a:solidFill>
                <a:latin typeface="Arial"/>
              </a:rPr>
              <a:t>        setCourse(data)</a:t>
            </a:r>
          </a:p>
          <a:p>
            <a:pPr algn="l">
              <a:spcAft>
                <a:spcPts val="200"/>
              </a:spcAft>
            </a:pPr>
            <a:r>
              <a:rPr sz="998" b="0">
                <a:solidFill>
                  <a:srgbClr val="9CDCFE"/>
                </a:solidFill>
                <a:latin typeface="Arial"/>
              </a:rPr>
              <a:t>      } catch (err) {</a:t>
            </a:r>
          </a:p>
          <a:p>
            <a:pPr algn="l">
              <a:spcAft>
                <a:spcPts val="200"/>
              </a:spcAft>
            </a:pPr>
            <a:r>
              <a:rPr sz="998" b="0">
                <a:solidFill>
                  <a:srgbClr val="9CDCFE"/>
                </a:solidFill>
                <a:latin typeface="Arial"/>
              </a:rPr>
              <a:t>        // A 404 is 'no such course', not a crash:</a:t>
            </a:r>
          </a:p>
          <a:p>
            <a:pPr algn="l">
              <a:spcAft>
                <a:spcPts val="200"/>
              </a:spcAft>
            </a:pPr>
            <a:r>
              <a:rPr sz="998" b="0">
                <a:solidFill>
                  <a:srgbClr val="9CDCFE"/>
                </a:solidFill>
                <a:latin typeface="Arial"/>
              </a:rPr>
              <a:t>        if (err.status === 404) setCourse(null)</a:t>
            </a:r>
          </a:p>
          <a:p>
            <a:pPr algn="l">
              <a:spcAft>
                <a:spcPts val="200"/>
              </a:spcAft>
            </a:pPr>
            <a:r>
              <a:rPr sz="998" b="0">
                <a:solidFill>
                  <a:srgbClr val="9CDCFE"/>
                </a:solidFill>
                <a:latin typeface="Arial"/>
              </a:rPr>
              <a:t>        else setError(err.message)</a:t>
            </a:r>
          </a:p>
          <a:p>
            <a:pPr algn="l">
              <a:spcAft>
                <a:spcPts val="200"/>
              </a:spcAft>
            </a:pPr>
            <a:r>
              <a:rPr sz="998" b="0">
                <a:solidFill>
                  <a:srgbClr val="9CDCFE"/>
                </a:solidFill>
                <a:latin typeface="Arial"/>
              </a:rPr>
              <a:t>      } finally { setLoading(false) }</a:t>
            </a:r>
          </a:p>
          <a:p>
            <a:pPr algn="l">
              <a:spcAft>
                <a:spcPts val="200"/>
              </a:spcAft>
            </a:pPr>
            <a:r>
              <a:rPr sz="998" b="0">
                <a:solidFill>
                  <a:srgbClr val="9CDCFE"/>
                </a:solidFill>
                <a:latin typeface="Arial"/>
              </a:rPr>
              <a:t>    }</a:t>
            </a:r>
          </a:p>
          <a:p>
            <a:pPr algn="l">
              <a:spcAft>
                <a:spcPts val="200"/>
              </a:spcAft>
            </a:pPr>
            <a:r>
              <a:rPr sz="998" b="0">
                <a:solidFill>
                  <a:srgbClr val="9CDCFE"/>
                </a:solidFill>
                <a:latin typeface="Arial"/>
              </a:rPr>
              <a:t>    load()</a:t>
            </a:r>
          </a:p>
          <a:p>
            <a:pPr algn="l">
              <a:spcAft>
                <a:spcPts val="200"/>
              </a:spcAft>
            </a:pPr>
            <a:r>
              <a:rPr sz="998" b="0">
                <a:solidFill>
                  <a:srgbClr val="9CDCFE"/>
                </a:solidFill>
                <a:latin typeface="Arial"/>
              </a:rPr>
              <a:t>  }, [slug])</a:t>
            </a:r>
          </a:p>
          <a:p>
            <a:pPr algn="l">
              <a:spcAft>
                <a:spcPts val="200"/>
              </a:spcAft>
            </a:pPr>
            <a:r>
              <a:rPr sz="998" b="0">
                <a:solidFill>
                  <a:srgbClr val="9CDCFE"/>
                </a:solidFill>
                <a:latin typeface="Arial"/>
              </a:rPr>
              <a:t>  return { course, loading, error }</a:t>
            </a:r>
          </a:p>
          <a:p>
            <a:pPr algn="l">
              <a:spcAft>
                <a:spcPts val="200"/>
              </a:spcAft>
            </a:pPr>
            <a:r>
              <a:rPr sz="99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[slug] dependency refetches whenever the URL segment changes.</a:t>
            </a:r>
          </a:p>
          <a:p>
            <a:pPr>
              <a:spcAft>
                <a:spcPts val="1000"/>
              </a:spcAft>
            </a:pPr>
            <a:r>
              <a:rPr sz="1250" b="0">
                <a:solidFill>
                  <a:srgbClr val="161B26"/>
                </a:solidFill>
                <a:latin typeface="Arial"/>
              </a:rPr>
              <a:t>•  A 404 becomes course:null with NO error — which powers a real 'Course not found' page.</a:t>
            </a:r>
          </a:p>
          <a:p>
            <a:pPr>
              <a:spcAft>
                <a:spcPts val="1000"/>
              </a:spcAft>
            </a:pPr>
            <a:r>
              <a:rPr sz="1250" b="0">
                <a:solidFill>
                  <a:srgbClr val="161B26"/>
                </a:solidFill>
                <a:latin typeface="Arial"/>
              </a:rPr>
              <a:t>•  A 500 sets error — two different failures, two different screens.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useParams reads the URL segment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src/pages/CourseDetailPage.jsx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128" b="0">
                <a:solidFill>
                  <a:srgbClr val="9CDCFE"/>
                </a:solidFill>
                <a:latin typeface="Arial"/>
              </a:rPr>
              <a:t>export default function CourseDetailPage() {</a:t>
            </a:r>
          </a:p>
          <a:p>
            <a:pPr algn="l">
              <a:spcAft>
                <a:spcPts val="200"/>
              </a:spcAft>
            </a:pPr>
            <a:r>
              <a:rPr sz="1128" b="0">
                <a:solidFill>
                  <a:srgbClr val="9CDCFE"/>
                </a:solidFill>
                <a:latin typeface="Arial"/>
              </a:rPr>
              <a:t>  // useParams reads :slug from the URL.</a:t>
            </a:r>
          </a:p>
          <a:p>
            <a:pPr algn="l">
              <a:spcAft>
                <a:spcPts val="200"/>
              </a:spcAft>
            </a:pPr>
            <a:r>
              <a:rPr sz="1128" b="0">
                <a:solidFill>
                  <a:srgbClr val="9CDCFE"/>
                </a:solidFill>
                <a:latin typeface="Arial"/>
              </a:rPr>
              <a:t>  const { slug } = useParams()</a:t>
            </a:r>
          </a:p>
          <a:p>
            <a:pPr algn="l">
              <a:spcAft>
                <a:spcPts val="200"/>
              </a:spcAft>
            </a:pPr>
            <a:r>
              <a:rPr sz="1128" b="0">
                <a:solidFill>
                  <a:srgbClr val="9CDCFE"/>
                </a:solidFill>
                <a:latin typeface="Arial"/>
              </a:rPr>
              <a:t>  const navigate = useNavigate()</a:t>
            </a:r>
          </a:p>
          <a:p>
            <a:pPr algn="l">
              <a:spcAft>
                <a:spcPts val="200"/>
              </a:spcAft>
            </a:pPr>
            <a:r>
              <a:rPr sz="1128" b="0">
                <a:solidFill>
                  <a:srgbClr val="9CDCFE"/>
                </a:solidFill>
                <a:latin typeface="Arial"/>
              </a:rPr>
              <a:t>  const { course, loading, error } = useCourse(slug)</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if (loading) return &lt;Skeleton /&gt;</a:t>
            </a:r>
          </a:p>
          <a:p>
            <a:pPr algn="l">
              <a:spcAft>
                <a:spcPts val="200"/>
              </a:spcAft>
            </a:pPr>
            <a:r>
              <a:rPr sz="1128" b="0">
                <a:solidFill>
                  <a:srgbClr val="9CDCFE"/>
                </a:solidFill>
                <a:latin typeface="Arial"/>
              </a:rPr>
              <a:t>  if (error) return &lt;p className="error"&gt;{error}&lt;/p&gt;</a:t>
            </a:r>
          </a:p>
          <a:p>
            <a:pPr algn="l">
              <a:spcAft>
                <a:spcPts val="200"/>
              </a:spcAft>
            </a:pPr>
            <a:r>
              <a:rPr sz="1128" b="0">
                <a:solidFill>
                  <a:srgbClr val="9CDCFE"/>
                </a:solidFill>
                <a:latin typeface="Arial"/>
              </a:rPr>
              <a:t>  // null course -&gt; no such slug -&gt; render a 404.</a:t>
            </a:r>
          </a:p>
          <a:p>
            <a:pPr algn="l">
              <a:spcAft>
                <a:spcPts val="200"/>
              </a:spcAft>
            </a:pPr>
            <a:r>
              <a:rPr sz="1128" b="0">
                <a:solidFill>
                  <a:srgbClr val="9CDCFE"/>
                </a:solidFill>
                <a:latin typeface="Arial"/>
              </a:rPr>
              <a:t>  if (!course) return &lt;NotFound slug={slug} /&gt;</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  return (</a:t>
            </a:r>
          </a:p>
          <a:p>
            <a:pPr algn="l">
              <a:spcAft>
                <a:spcPts val="200"/>
              </a:spcAft>
            </a:pPr>
            <a:r>
              <a:rPr sz="1128" b="0">
                <a:solidFill>
                  <a:srgbClr val="9CDCFE"/>
                </a:solidFill>
                <a:latin typeface="Arial"/>
              </a:rPr>
              <a:t>    &lt;article className="detail"&gt;</a:t>
            </a:r>
          </a:p>
          <a:p>
            <a:pPr algn="l">
              <a:spcAft>
                <a:spcPts val="200"/>
              </a:spcAft>
            </a:pPr>
            <a:r>
              <a:rPr sz="1128" b="0">
                <a:solidFill>
                  <a:srgbClr val="9CDCFE"/>
                </a:solidFill>
                <a:latin typeface="Arial"/>
              </a:rPr>
              <a:t>      &lt;h1&gt;{course.emoji} {course.title}&lt;/h1&gt;</a:t>
            </a:r>
          </a:p>
          <a:p>
            <a:pPr algn="l">
              <a:spcAft>
                <a:spcPts val="200"/>
              </a:spcAft>
            </a:pPr>
            <a:r>
              <a:rPr sz="1128" b="0">
                <a:solidFill>
                  <a:srgbClr val="9CDCFE"/>
                </a:solidFill>
                <a:latin typeface="Arial"/>
              </a:rPr>
              <a:t>      &lt;button onClick={() =&gt; navigate(-1)}&gt;← Back&lt;/button&gt;</a:t>
            </a:r>
          </a:p>
          <a:p>
            <a:pPr algn="l">
              <a:spcAft>
                <a:spcPts val="200"/>
              </a:spcAft>
            </a:pPr>
            <a:r>
              <a:rPr sz="1128" b="0">
                <a:solidFill>
                  <a:srgbClr val="9CDCFE"/>
                </a:solidFill>
                <a:latin typeface="Arial"/>
              </a:rPr>
              <a:t>    &lt;/article&gt;</a:t>
            </a:r>
          </a:p>
          <a:p>
            <a:pPr algn="l">
              <a:spcAft>
                <a:spcPts val="200"/>
              </a:spcAft>
            </a:pPr>
            <a:r>
              <a:rPr sz="1128" b="0">
                <a:solidFill>
                  <a:srgbClr val="9CDCFE"/>
                </a:solidFill>
                <a:latin typeface="Arial"/>
              </a:rPr>
              <a:t>  )</a:t>
            </a:r>
          </a:p>
          <a:p>
            <a:pPr algn="l">
              <a:spcAft>
                <a:spcPts val="200"/>
              </a:spcAft>
            </a:pPr>
            <a:r>
              <a:rPr sz="1128"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useParams() reads the :slug segment declared in the route path.</a:t>
            </a:r>
          </a:p>
          <a:p>
            <a:pPr>
              <a:spcAft>
                <a:spcPts val="1000"/>
              </a:spcAft>
            </a:pPr>
            <a:r>
              <a:rPr sz="1250" b="0">
                <a:solidFill>
                  <a:srgbClr val="161B26"/>
                </a:solidFill>
                <a:latin typeface="Arial"/>
              </a:rPr>
              <a:t>•  A null course means the slug matched nothing — render a 404 instead of crashing.</a:t>
            </a:r>
          </a:p>
          <a:p>
            <a:pPr>
              <a:spcAft>
                <a:spcPts val="1000"/>
              </a:spcAft>
            </a:pPr>
            <a:r>
              <a:rPr sz="1250" b="0">
                <a:solidFill>
                  <a:srgbClr val="161B26"/>
                </a:solidFill>
                <a:latin typeface="Arial"/>
              </a:rPr>
              <a:t>•  navigate(-1) goes back to wherever the user came from, with no hardcoded path.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Dynamic Routes, URL State and 404s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Clicking a course card opens /courses/&lt;slug&gt; with its fee, weeks and campus; /courses/does-not-exist renders 'Course not found' and /nonsense renders the 404 page; and pasting /courses?category=Bakery&amp;q=sourdough into a new tab restores the filtered grid.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Protected Routes and the Student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Enrolments are private. The learner builds a ProtectedRoute layout route over the AuthContext from Topic 5, nests My Courses and Profile inside a dashboard layout, returns the student to the page they were trying to reach after login — and learns exactly why a client guard is not security.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src/components/ProtectedRoute.jsx and a nested /dashboard with /dashboard/my-courses and /dashboard/profile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Navigate, useLocation, nested layout routes, Outlet, redirect-after-login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route guard that waits for auth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src/components/ProtectedRoute.jsx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import { Navigate, useLocation, Outlet }</a:t>
            </a:r>
          </a:p>
          <a:p>
            <a:pPr algn="l">
              <a:spcAft>
                <a:spcPts val="200"/>
              </a:spcAft>
            </a:pPr>
            <a:r>
              <a:rPr sz="1250" b="0">
                <a:solidFill>
                  <a:srgbClr val="9CDCFE"/>
                </a:solidFill>
                <a:latin typeface="Arial"/>
              </a:rPr>
              <a:t>  from 'react-router-dom'</a:t>
            </a:r>
          </a:p>
          <a:p>
            <a:pPr algn="l">
              <a:spcAft>
                <a:spcPts val="200"/>
              </a:spcAft>
            </a:pPr>
            <a:r>
              <a:rPr sz="1250" b="0">
                <a:solidFill>
                  <a:srgbClr val="9CDCFE"/>
                </a:solidFill>
                <a:latin typeface="Arial"/>
              </a:rPr>
              <a:t>import { useAuth } from '../context/AuthContext'</a:t>
            </a:r>
          </a:p>
          <a:p>
            <a:pPr algn="l">
              <a:spcAft>
                <a:spcPts val="200"/>
              </a:spcAft>
            </a:pPr>
            <a:r>
              <a:rPr sz="1250" b="0">
                <a:solidFill>
                  <a:srgbClr val="9CDCFE"/>
                </a:solidFill>
                <a:latin typeface="Arial"/>
              </a:rPr>
              <a:t>export default function ProtectedRoute() {</a:t>
            </a:r>
          </a:p>
          <a:p>
            <a:pPr algn="l">
              <a:spcAft>
                <a:spcPts val="200"/>
              </a:spcAft>
            </a:pPr>
            <a:r>
              <a:rPr sz="1250" b="0">
                <a:solidFill>
                  <a:srgbClr val="9CDCFE"/>
                </a:solidFill>
                <a:latin typeface="Arial"/>
              </a:rPr>
              <a:t>  const { user, loading } = useAuth()</a:t>
            </a:r>
          </a:p>
          <a:p>
            <a:pPr algn="l">
              <a:spcAft>
                <a:spcPts val="200"/>
              </a:spcAft>
            </a:pPr>
            <a:r>
              <a:rPr sz="1250" b="0">
                <a:solidFill>
                  <a:srgbClr val="9CDCFE"/>
                </a:solidFill>
                <a:latin typeface="Arial"/>
              </a:rPr>
              <a:t>  const location = useLocation()</a:t>
            </a:r>
          </a:p>
          <a:p>
            <a:pPr algn="l">
              <a:spcAft>
                <a:spcPts val="200"/>
              </a:spcAft>
            </a:pPr>
            <a:r>
              <a:rPr sz="1250" b="0">
                <a:solidFill>
                  <a:srgbClr val="9CDCFE"/>
                </a:solidFill>
                <a:latin typeface="Arial"/>
              </a:rPr>
              <a:t>  // MOST IMPORTANT LINE: wait for loading. Skip it and</a:t>
            </a:r>
          </a:p>
          <a:p>
            <a:pPr algn="l">
              <a:spcAft>
                <a:spcPts val="200"/>
              </a:spcAft>
            </a:pPr>
            <a:r>
              <a:rPr sz="1250" b="0">
                <a:solidFill>
                  <a:srgbClr val="9CDCFE"/>
                </a:solidFill>
                <a:latin typeface="Arial"/>
              </a:rPr>
              <a:t>  // a refresh bounces a signed-in user to /login.</a:t>
            </a:r>
          </a:p>
          <a:p>
            <a:pPr algn="l">
              <a:spcAft>
                <a:spcPts val="200"/>
              </a:spcAft>
            </a:pPr>
            <a:r>
              <a:rPr sz="1250" b="0">
                <a:solidFill>
                  <a:srgbClr val="9CDCFE"/>
                </a:solidFill>
                <a:latin typeface="Arial"/>
              </a:rPr>
              <a:t>  if (loading) return &lt;p&gt;Checking your session…&lt;/p&gt;</a:t>
            </a:r>
          </a:p>
          <a:p>
            <a:pPr algn="l">
              <a:spcAft>
                <a:spcPts val="200"/>
              </a:spcAft>
            </a:pPr>
            <a:r>
              <a:rPr sz="1250" b="0">
                <a:solidFill>
                  <a:srgbClr val="9CDCFE"/>
                </a:solidFill>
                <a:latin typeface="Arial"/>
              </a:rPr>
              <a:t>  if (!user) {</a:t>
            </a:r>
          </a:p>
          <a:p>
            <a:pPr algn="l">
              <a:spcAft>
                <a:spcPts val="200"/>
              </a:spcAft>
            </a:pPr>
            <a:r>
              <a:rPr sz="1250" b="0">
                <a:solidFill>
                  <a:srgbClr val="9CDCFE"/>
                </a:solidFill>
                <a:latin typeface="Arial"/>
              </a:rPr>
              <a:t>    return &lt;Navigate to="/login" replace</a:t>
            </a:r>
          </a:p>
          <a:p>
            <a:pPr algn="l">
              <a:spcAft>
                <a:spcPts val="200"/>
              </a:spcAft>
            </a:pPr>
            <a:r>
              <a:rPr sz="1250" b="0">
                <a:solidFill>
                  <a:srgbClr val="9CDCFE"/>
                </a:solidFill>
                <a:latin typeface="Arial"/>
              </a:rPr>
              <a:t>      state={{ from: location }} /&gt;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&lt;Outlet /&gt;</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The most important line waits for `loading` — skip it and a refresh bounces a user.</a:t>
            </a:r>
          </a:p>
          <a:p>
            <a:pPr>
              <a:spcAft>
                <a:spcPts val="1000"/>
              </a:spcAft>
            </a:pPr>
            <a:r>
              <a:rPr sz="1250" b="0">
                <a:solidFill>
                  <a:srgbClr val="161B26"/>
                </a:solidFill>
                <a:latin typeface="Arial"/>
              </a:rPr>
              <a:t>•  With no user, &lt;Navigate&gt; redirects to /login, remembering where they wanted to go.</a:t>
            </a:r>
          </a:p>
          <a:p>
            <a:pPr>
              <a:spcAft>
                <a:spcPts val="1000"/>
              </a:spcAft>
            </a:pPr>
            <a:r>
              <a:rPr sz="1250" b="0">
                <a:solidFill>
                  <a:srgbClr val="161B26"/>
                </a:solidFill>
                <a:latin typeface="Arial"/>
              </a:rPr>
              <a:t>•  This is UX, not security — the real check is requireAuth() in every /api/ route.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6.3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Nested &amp; auth-gated routes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src/App.jsx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128" b="0">
                <a:solidFill>
                  <a:srgbClr val="9CDCFE"/>
                </a:solidFill>
                <a:latin typeface="Arial"/>
              </a:rPr>
              <a:t>&lt;Routes&gt;</a:t>
            </a:r>
          </a:p>
          <a:p>
            <a:pPr algn="l">
              <a:spcAft>
                <a:spcPts val="200"/>
              </a:spcAft>
            </a:pPr>
            <a:r>
              <a:rPr sz="1128" b="0">
                <a:solidFill>
                  <a:srgbClr val="9CDCFE"/>
                </a:solidFill>
                <a:latin typeface="Arial"/>
              </a:rPr>
              <a:t>  &lt;Route path="/" element={&lt;RootLayout /&gt;}&gt;</a:t>
            </a:r>
          </a:p>
          <a:p>
            <a:pPr algn="l">
              <a:spcAft>
                <a:spcPts val="200"/>
              </a:spcAft>
            </a:pPr>
            <a:r>
              <a:rPr sz="1128" b="0">
                <a:solidFill>
                  <a:srgbClr val="9CDCFE"/>
                </a:solidFill>
                <a:latin typeface="Arial"/>
              </a:rPr>
              <a:t>    &lt;Route index element={&lt;HomePage /&gt;} /&gt;</a:t>
            </a:r>
          </a:p>
          <a:p>
            <a:pPr algn="l">
              <a:spcAft>
                <a:spcPts val="200"/>
              </a:spcAft>
            </a:pPr>
            <a:r>
              <a:rPr sz="1128" b="0">
                <a:solidFill>
                  <a:srgbClr val="9CDCFE"/>
                </a:solidFill>
                <a:latin typeface="Arial"/>
              </a:rPr>
              <a:t>    &lt;Route path="courses/:slug"</a:t>
            </a:r>
          </a:p>
          <a:p>
            <a:pPr algn="l">
              <a:spcAft>
                <a:spcPts val="200"/>
              </a:spcAft>
            </a:pPr>
            <a:r>
              <a:rPr sz="1128" b="0">
                <a:solidFill>
                  <a:srgbClr val="9CDCFE"/>
                </a:solidFill>
                <a:latin typeface="Arial"/>
              </a:rPr>
              <a:t>      element={&lt;CourseDetailPage /&gt;} /&gt;</a:t>
            </a:r>
          </a:p>
          <a:p>
            <a:pPr algn="l">
              <a:spcAft>
                <a:spcPts val="200"/>
              </a:spcAft>
            </a:pPr>
            <a:r>
              <a:rPr sz="1128" b="0">
                <a:solidFill>
                  <a:srgbClr val="9CDCFE"/>
                </a:solidFill>
                <a:latin typeface="Arial"/>
              </a:rPr>
              <a:t>    &lt;Route path="login" element={&lt;LoginPage /&gt;} /&gt;</a:t>
            </a:r>
          </a:p>
          <a:p>
            <a:pPr algn="l">
              <a:spcAft>
                <a:spcPts val="200"/>
              </a:spcAft>
            </a:pPr>
            <a:r>
              <a:rPr sz="1128" b="0">
                <a:solidFill>
                  <a:srgbClr val="9CDCFE"/>
                </a:solidFill>
                <a:latin typeface="Arial"/>
              </a:rPr>
              <a:t>    {/* Pathless route: everything inside is auth-gated. */}</a:t>
            </a:r>
          </a:p>
          <a:p>
            <a:pPr algn="l">
              <a:spcAft>
                <a:spcPts val="200"/>
              </a:spcAft>
            </a:pPr>
            <a:r>
              <a:rPr sz="1128" b="0">
                <a:solidFill>
                  <a:srgbClr val="9CDCFE"/>
                </a:solidFill>
                <a:latin typeface="Arial"/>
              </a:rPr>
              <a:t>    &lt;Route element={&lt;ProtectedRoute /&gt;}&gt;</a:t>
            </a:r>
          </a:p>
          <a:p>
            <a:pPr algn="l">
              <a:spcAft>
                <a:spcPts val="200"/>
              </a:spcAft>
            </a:pPr>
            <a:r>
              <a:rPr sz="1128" b="0">
                <a:solidFill>
                  <a:srgbClr val="9CDCFE"/>
                </a:solidFill>
                <a:latin typeface="Arial"/>
              </a:rPr>
              <a:t>      &lt;Route path="dashboard" element={&lt;DashboardPage /&gt;}&gt;</a:t>
            </a:r>
          </a:p>
          <a:p>
            <a:pPr algn="l">
              <a:spcAft>
                <a:spcPts val="200"/>
              </a:spcAft>
            </a:pPr>
            <a:r>
              <a:rPr sz="1128" b="0">
                <a:solidFill>
                  <a:srgbClr val="9CDCFE"/>
                </a:solidFill>
                <a:latin typeface="Arial"/>
              </a:rPr>
              <a:t>        &lt;Route index element={</a:t>
            </a:r>
          </a:p>
          <a:p>
            <a:pPr algn="l">
              <a:spcAft>
                <a:spcPts val="200"/>
              </a:spcAft>
            </a:pPr>
            <a:r>
              <a:rPr sz="1128" b="0">
                <a:solidFill>
                  <a:srgbClr val="9CDCFE"/>
                </a:solidFill>
                <a:latin typeface="Arial"/>
              </a:rPr>
              <a:t>          &lt;Navigate to="my-courses" replace /&gt;} /&gt;</a:t>
            </a:r>
          </a:p>
          <a:p>
            <a:pPr algn="l">
              <a:spcAft>
                <a:spcPts val="200"/>
              </a:spcAft>
            </a:pPr>
            <a:r>
              <a:rPr sz="1128" b="0">
                <a:solidFill>
                  <a:srgbClr val="9CDCFE"/>
                </a:solidFill>
                <a:latin typeface="Arial"/>
              </a:rPr>
              <a:t>        &lt;Route path="my-courses" element={&lt;MyCoursesPage /&gt;} /&gt;</a:t>
            </a:r>
          </a:p>
          <a:p>
            <a:pPr algn="l">
              <a:spcAft>
                <a:spcPts val="200"/>
              </a:spcAft>
            </a:pPr>
            <a:r>
              <a:rPr sz="1128" b="0">
                <a:solidFill>
                  <a:srgbClr val="9CDCFE"/>
                </a:solidFill>
                <a:latin typeface="Arial"/>
              </a:rPr>
              <a:t>        &lt;Route path="profile" element={&lt;ProfilePage /&gt;} /&gt;</a:t>
            </a:r>
          </a:p>
          <a:p>
            <a:pPr algn="l">
              <a:spcAft>
                <a:spcPts val="200"/>
              </a:spcAft>
            </a:pPr>
            <a:r>
              <a:rPr sz="1128" b="0">
                <a:solidFill>
                  <a:srgbClr val="9CDCFE"/>
                </a:solidFill>
                <a:latin typeface="Arial"/>
              </a:rPr>
              <a:t>      &lt;/Route&gt;</a:t>
            </a:r>
          </a:p>
          <a:p>
            <a:pPr algn="l">
              <a:spcAft>
                <a:spcPts val="200"/>
              </a:spcAft>
            </a:pPr>
            <a:r>
              <a:rPr sz="1128" b="0">
                <a:solidFill>
                  <a:srgbClr val="9CDCFE"/>
                </a:solidFill>
                <a:latin typeface="Arial"/>
              </a:rPr>
              <a:t>    &lt;/Route&gt;</a:t>
            </a:r>
          </a:p>
          <a:p>
            <a:pPr algn="l">
              <a:spcAft>
                <a:spcPts val="200"/>
              </a:spcAft>
            </a:pPr>
            <a:r>
              <a:rPr sz="1128" b="0">
                <a:solidFill>
                  <a:srgbClr val="9CDCFE"/>
                </a:solidFill>
                <a:latin typeface="Arial"/>
              </a:rPr>
              <a:t>    &lt;Route path="*" element={&lt;NotFoundPage /&gt;} /&gt;</a:t>
            </a:r>
          </a:p>
          <a:p>
            <a:pPr algn="l">
              <a:spcAft>
                <a:spcPts val="200"/>
              </a:spcAft>
            </a:pPr>
            <a:r>
              <a:rPr sz="1128" b="0">
                <a:solidFill>
                  <a:srgbClr val="9CDCFE"/>
                </a:solidFill>
                <a:latin typeface="Arial"/>
              </a:rPr>
              <a:t>  &lt;/Route&gt;</a:t>
            </a:r>
          </a:p>
          <a:p>
            <a:pPr algn="l">
              <a:spcAft>
                <a:spcPts val="200"/>
              </a:spcAft>
            </a:pPr>
            <a:r>
              <a:rPr sz="1128" b="0">
                <a:solidFill>
                  <a:srgbClr val="9CDCFE"/>
                </a:solidFill>
                <a:latin typeface="Arial"/>
              </a:rPr>
              <a:t>&lt;/Routes&gt;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Nesting mirrors the URL; children render into their parent's &lt;Outlet/&gt;.</a:t>
            </a:r>
          </a:p>
          <a:p>
            <a:pPr>
              <a:spcAft>
                <a:spcPts val="1000"/>
              </a:spcAft>
            </a:pPr>
            <a:r>
              <a:rPr sz="1250" b="0">
                <a:solidFill>
                  <a:srgbClr val="161B26"/>
                </a:solidFill>
                <a:latin typeface="Arial"/>
              </a:rPr>
              <a:t>•  A pathless &lt;Route element={&lt;ProtectedRoute/&gt;}&gt; gates everything inside it.</a:t>
            </a:r>
          </a:p>
          <a:p>
            <a:pPr>
              <a:spcAft>
                <a:spcPts val="1000"/>
              </a:spcAft>
            </a:pPr>
            <a:r>
              <a:rPr sz="1250" b="0">
                <a:solidFill>
                  <a:srgbClr val="161B26"/>
                </a:solidFill>
                <a:latin typeface="Arial"/>
              </a:rPr>
              <a:t>•  DashboardPage is itself a layout, with My Courses and Profile in its own Outlet.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Protected Routes and the Student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Visiting /dashboard/my-courses signed out redirects to /login; after signing in you land back on /dashboard/my-courses; refreshing while signed in keeps you there; and bypassing the client guard shows an empty, 401'd page — no data leaks.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Capstone — Assemble the Full-Stack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Everything is now built. The learner walks the finished Cook &amp; Bake Academy against a rubric that maps each concept in the course to the file in their own project that proves it, runs the AI React Bug Checklist over the generated code, and builds it clean.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The complete Cook &amp; Bake Academy: catalogue, search, shortlist, theme, API, database, auth, dashboard and routing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React 19, React Router 7, Vercel Functions, Neon Postgres, bcrypt + JWT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Capstone — Assemble the Full-Stack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app builds with no errors or warnings, every rubric row maps to a real file in your project, and you can defend each architectural choice out loud — especially why the browser has no database credentials.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the Full-Stack App to Vercel and Neon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ships the whole three-tier app. The front end builds to static files, the api/ folder becomes real serverless functions, and DATABASE_URL and JWT_SECRET are set as ENCRYPTED, SERVER-SIDE Vercel environment variables — never with a VITE_ prefix. The result is the live app at cookbake-academy.vercel.app.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live, public, full-stack Cook &amp; Bake Academy — real Postgres, real accounts, real enrolments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Vercel, Vercel Functions, environment variables, vercel.json rewrites, Neon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6.5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 the Full-Stack App to Vercel and Neon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The live URL loads the 20 courses signed out; a deep link survives a refresh; you can sign up, enrol and see it on the dashboard in production; and grepping the built bundle for the connection string or the JWT secret returns nothing.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BUILD STEP · LAB 6.6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Mini-Capstone — Add Course Reviews, On Your 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app is built and live. Now you add one brand-new END-TO-END feature — star-rated course reviews — mostly on your own. You write the prompts, read the generated code against everything this course taught you, correct it, and redeploy. This is the exam of the whole course: a new API route with parameterised SQL, ownership from the JWT, a custom hook, a controlled form, a derived average, and a git push that puts it in production.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Reviews on the course detail page: a public list, a form only signed-in students see, a live average rating, one review per student per course — deployed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Tech &amp; files:  </a:t>
            </a:r>
            <a:r>
              <a:rPr sz="1300" b="0">
                <a:solidFill>
                  <a:srgbClr val="5B6372"/>
                </a:solidFill>
                <a:latin typeface="Arial"/>
              </a:rPr>
              <a:t>api/reviews/*, an UPSERT, a custom hook, controlled forms, derived state, Vercel redeploy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6.6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Derived average, never stored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src/hooks/useReviews.js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060" b="0">
                <a:solidFill>
                  <a:srgbClr val="9CDCFE"/>
                </a:solidFill>
                <a:latin typeface="Arial"/>
              </a:rPr>
              <a:t>export function useReviews(courseId) {</a:t>
            </a:r>
          </a:p>
          <a:p>
            <a:pPr algn="l">
              <a:spcAft>
                <a:spcPts val="200"/>
              </a:spcAft>
            </a:pPr>
            <a:r>
              <a:rPr sz="1060" b="0">
                <a:solidFill>
                  <a:srgbClr val="9CDCFE"/>
                </a:solidFill>
                <a:latin typeface="Arial"/>
              </a:rPr>
              <a:t>  const [reviews, setReviews] = useState([])</a:t>
            </a:r>
          </a:p>
          <a:p>
            <a:pPr algn="l">
              <a:spcAft>
                <a:spcPts val="200"/>
              </a:spcAft>
            </a:pPr>
            <a:r>
              <a:rPr sz="1060" b="0">
                <a:solidFill>
                  <a:srgbClr val="9CDCFE"/>
                </a:solidFill>
                <a:latin typeface="Arial"/>
              </a:rPr>
              <a:t>  // ... load() fetches /api/reviews?courseId=... ...</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 My own review, if any — switches the form between</a:t>
            </a:r>
          </a:p>
          <a:p>
            <a:pPr algn="l">
              <a:spcAft>
                <a:spcPts val="200"/>
              </a:spcAft>
            </a:pPr>
            <a:r>
              <a:rPr sz="1060" b="0">
                <a:solidFill>
                  <a:srgbClr val="9CDCFE"/>
                </a:solidFill>
                <a:latin typeface="Arial"/>
              </a:rPr>
              <a:t>  // "write" and "edit".</a:t>
            </a:r>
          </a:p>
          <a:p>
            <a:pPr algn="l">
              <a:spcAft>
                <a:spcPts val="200"/>
              </a:spcAft>
            </a:pPr>
            <a:r>
              <a:rPr sz="1060" b="0">
                <a:solidFill>
                  <a:srgbClr val="9CDCFE"/>
                </a:solidFill>
                <a:latin typeface="Arial"/>
              </a:rPr>
              <a:t>  const myReview =</a:t>
            </a:r>
          </a:p>
          <a:p>
            <a:pPr algn="l">
              <a:spcAft>
                <a:spcPts val="200"/>
              </a:spcAft>
            </a:pPr>
            <a:r>
              <a:rPr sz="1060" b="0">
                <a:solidFill>
                  <a:srgbClr val="9CDCFE"/>
                </a:solidFill>
                <a:latin typeface="Arial"/>
              </a:rPr>
              <a:t>    reviews.find((r) =&gt; r.user_id === user?.id) ?? null</a:t>
            </a:r>
          </a:p>
          <a:p>
            <a:pPr algn="l">
              <a:spcAft>
                <a:spcPts val="200"/>
              </a:spcAft>
            </a:pPr>
            <a:r>
              <a:rPr sz="1060" b="0">
                <a:solidFill>
                  <a:srgbClr val="9CDCFE"/>
                </a:solidFill>
                <a:latin typeface="Arial"/>
              </a:rPr>
              <a:t> </a:t>
            </a:r>
          </a:p>
          <a:p>
            <a:pPr algn="l">
              <a:spcAft>
                <a:spcPts val="200"/>
              </a:spcAft>
            </a:pPr>
            <a:r>
              <a:rPr sz="1060" b="0">
                <a:solidFill>
                  <a:srgbClr val="9CDCFE"/>
                </a:solidFill>
                <a:latin typeface="Arial"/>
              </a:rPr>
              <a:t>  // DERIVED at render — never stored, so it can never</a:t>
            </a:r>
          </a:p>
          <a:p>
            <a:pPr algn="l">
              <a:spcAft>
                <a:spcPts val="200"/>
              </a:spcAft>
            </a:pPr>
            <a:r>
              <a:rPr sz="1060" b="0">
                <a:solidFill>
                  <a:srgbClr val="9CDCFE"/>
                </a:solidFill>
                <a:latin typeface="Arial"/>
              </a:rPr>
              <a:t>  // drift from the reviews array.</a:t>
            </a:r>
          </a:p>
          <a:p>
            <a:pPr algn="l">
              <a:spcAft>
                <a:spcPts val="200"/>
              </a:spcAft>
            </a:pPr>
            <a:r>
              <a:rPr sz="1060" b="0">
                <a:solidFill>
                  <a:srgbClr val="9CDCFE"/>
                </a:solidFill>
                <a:latin typeface="Arial"/>
              </a:rPr>
              <a:t>  const count = reviews.length</a:t>
            </a:r>
          </a:p>
          <a:p>
            <a:pPr algn="l">
              <a:spcAft>
                <a:spcPts val="200"/>
              </a:spcAft>
            </a:pPr>
            <a:r>
              <a:rPr sz="1060" b="0">
                <a:solidFill>
                  <a:srgbClr val="9CDCFE"/>
                </a:solidFill>
                <a:latin typeface="Arial"/>
              </a:rPr>
              <a:t>  const average = count</a:t>
            </a:r>
          </a:p>
          <a:p>
            <a:pPr algn="l">
              <a:spcAft>
                <a:spcPts val="200"/>
              </a:spcAft>
            </a:pPr>
            <a:r>
              <a:rPr sz="1060" b="0">
                <a:solidFill>
                  <a:srgbClr val="9CDCFE"/>
                </a:solidFill>
                <a:latin typeface="Arial"/>
              </a:rPr>
              <a:t>    ? Math.round(</a:t>
            </a:r>
          </a:p>
          <a:p>
            <a:pPr algn="l">
              <a:spcAft>
                <a:spcPts val="200"/>
              </a:spcAft>
            </a:pPr>
            <a:r>
              <a:rPr sz="1060" b="0">
                <a:solidFill>
                  <a:srgbClr val="9CDCFE"/>
                </a:solidFill>
                <a:latin typeface="Arial"/>
              </a:rPr>
              <a:t>        reviews.reduce((s, r) =&gt; s + r.rating, 0)</a:t>
            </a:r>
          </a:p>
          <a:p>
            <a:pPr algn="l">
              <a:spcAft>
                <a:spcPts val="200"/>
              </a:spcAft>
            </a:pPr>
            <a:r>
              <a:rPr sz="1060" b="0">
                <a:solidFill>
                  <a:srgbClr val="9CDCFE"/>
                </a:solidFill>
                <a:latin typeface="Arial"/>
              </a:rPr>
              <a:t>        / count * 10) / 10</a:t>
            </a:r>
          </a:p>
          <a:p>
            <a:pPr algn="l">
              <a:spcAft>
                <a:spcPts val="200"/>
              </a:spcAft>
            </a:pPr>
            <a:r>
              <a:rPr sz="1060" b="0">
                <a:solidFill>
                  <a:srgbClr val="9CDCFE"/>
                </a:solidFill>
                <a:latin typeface="Arial"/>
              </a:rPr>
              <a:t>    : null</a:t>
            </a:r>
          </a:p>
          <a:p>
            <a:pPr algn="l">
              <a:spcAft>
                <a:spcPts val="200"/>
              </a:spcAft>
            </a:pPr>
            <a:r>
              <a:rPr sz="1060" b="0">
                <a:solidFill>
                  <a:srgbClr val="9CDCFE"/>
                </a:solidFill>
                <a:latin typeface="Arial"/>
              </a:rPr>
              <a:t>  return { reviews, myReview, count, average, submit, remove }</a:t>
            </a:r>
          </a:p>
          <a:p>
            <a:pPr algn="l">
              <a:spcAft>
                <a:spcPts val="200"/>
              </a:spcAft>
            </a:pPr>
            <a:r>
              <a:rPr sz="106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count and average fall straight out of the reviews array at render time.</a:t>
            </a:r>
          </a:p>
          <a:p>
            <a:pPr>
              <a:spcAft>
                <a:spcPts val="1000"/>
              </a:spcAft>
            </a:pPr>
            <a:r>
              <a:rPr sz="1250" b="0">
                <a:solidFill>
                  <a:srgbClr val="161B26"/>
                </a:solidFill>
                <a:latin typeface="Arial"/>
              </a:rPr>
              <a:t>•  Because they're derived, they can never drift from the underlying list.</a:t>
            </a:r>
          </a:p>
          <a:p>
            <a:pPr>
              <a:spcAft>
                <a:spcPts val="1000"/>
              </a:spcAft>
            </a:pPr>
            <a:r>
              <a:rPr sz="1250" b="0">
                <a:solidFill>
                  <a:srgbClr val="161B26"/>
                </a:solidFill>
                <a:latin typeface="Arial"/>
              </a:rPr>
              <a:t>•  myReview compares r.user_id === user.id — the API casts ids to int so 3 === 3, not 3 === '3'.</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6.6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 UPSERT: write or edit one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api/reviews/index.js</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POST /api/reviews — reading is public, writing needs</a:t>
            </a:r>
          </a:p>
          <a:p>
            <a:pPr algn="l">
              <a:spcAft>
                <a:spcPts val="200"/>
              </a:spcAft>
            </a:pPr>
            <a:r>
              <a:rPr sz="1250" b="0">
                <a:solidFill>
                  <a:srgbClr val="9CDCFE"/>
                </a:solidFill>
                <a:latin typeface="Arial"/>
              </a:rPr>
              <a:t>// a token, so requireAuth() is inside the POST branch.</a:t>
            </a:r>
          </a:p>
          <a:p>
            <a:pPr algn="l">
              <a:spcAft>
                <a:spcPts val="200"/>
              </a:spcAft>
            </a:pPr>
            <a:r>
              <a:rPr sz="1250" b="0">
                <a:solidFill>
                  <a:srgbClr val="9CDCFE"/>
                </a:solidFill>
                <a:latin typeface="Arial"/>
              </a:rPr>
              <a:t>const userId = requireAuth(req)</a:t>
            </a:r>
          </a:p>
          <a:p>
            <a:pPr algn="l">
              <a:spcAft>
                <a:spcPts val="200"/>
              </a:spcAft>
            </a:pPr>
            <a:r>
              <a:rPr sz="1250" b="0">
                <a:solidFill>
                  <a:srgbClr val="9CDCFE"/>
                </a:solidFill>
                <a:latin typeface="Arial"/>
              </a:rPr>
              <a:t>const { courseId, rating, body } = readBody(req)</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One statement handles write AND edit. The table has</a:t>
            </a:r>
          </a:p>
          <a:p>
            <a:pPr algn="l">
              <a:spcAft>
                <a:spcPts val="200"/>
              </a:spcAft>
            </a:pPr>
            <a:r>
              <a:rPr sz="1250" b="0">
                <a:solidFill>
                  <a:srgbClr val="9CDCFE"/>
                </a:solidFill>
                <a:latin typeface="Arial"/>
              </a:rPr>
              <a:t>// unique (user_id, course_id), so a second review from</a:t>
            </a:r>
          </a:p>
          <a:p>
            <a:pPr algn="l">
              <a:spcAft>
                <a:spcPts val="200"/>
              </a:spcAft>
            </a:pPr>
            <a:r>
              <a:rPr sz="1250" b="0">
                <a:solidFill>
                  <a:srgbClr val="9CDCFE"/>
                </a:solidFill>
                <a:latin typeface="Arial"/>
              </a:rPr>
              <a:t>// the same user UPDATES their existing row.</a:t>
            </a:r>
          </a:p>
          <a:p>
            <a:pPr algn="l">
              <a:spcAft>
                <a:spcPts val="200"/>
              </a:spcAft>
            </a:pPr>
            <a:r>
              <a:rPr sz="1250" b="0">
                <a:solidFill>
                  <a:srgbClr val="9CDCFE"/>
                </a:solidFill>
                <a:latin typeface="Arial"/>
              </a:rPr>
              <a:t>const rows = await sql`</a:t>
            </a:r>
          </a:p>
          <a:p>
            <a:pPr algn="l">
              <a:spcAft>
                <a:spcPts val="200"/>
              </a:spcAft>
            </a:pPr>
            <a:r>
              <a:rPr sz="1250" b="0">
                <a:solidFill>
                  <a:srgbClr val="9CDCFE"/>
                </a:solidFill>
                <a:latin typeface="Arial"/>
              </a:rPr>
              <a:t>  insert into reviews (user_id, course_id, rating, body)</a:t>
            </a:r>
          </a:p>
          <a:p>
            <a:pPr algn="l">
              <a:spcAft>
                <a:spcPts val="200"/>
              </a:spcAft>
            </a:pPr>
            <a:r>
              <a:rPr sz="1250" b="0">
                <a:solidFill>
                  <a:srgbClr val="9CDCFE"/>
                </a:solidFill>
                <a:latin typeface="Arial"/>
              </a:rPr>
              <a:t>  values (${userId}, ${courseId}, ${rating}, ${body.trim()})</a:t>
            </a:r>
          </a:p>
          <a:p>
            <a:pPr algn="l">
              <a:spcAft>
                <a:spcPts val="200"/>
              </a:spcAft>
            </a:pPr>
            <a:r>
              <a:rPr sz="1250" b="0">
                <a:solidFill>
                  <a:srgbClr val="9CDCFE"/>
                </a:solidFill>
                <a:latin typeface="Arial"/>
              </a:rPr>
              <a:t>  on conflict (user_id, course_id) do update</a:t>
            </a:r>
          </a:p>
          <a:p>
            <a:pPr algn="l">
              <a:spcAft>
                <a:spcPts val="200"/>
              </a:spcAft>
            </a:pPr>
            <a:r>
              <a:rPr sz="1250" b="0">
                <a:solidFill>
                  <a:srgbClr val="9CDCFE"/>
                </a:solidFill>
                <a:latin typeface="Arial"/>
              </a:rPr>
              <a:t>    set rating = excluded.rating, body = excluded.body</a:t>
            </a:r>
          </a:p>
          <a:p>
            <a:pPr algn="l">
              <a:spcAft>
                <a:spcPts val="200"/>
              </a:spcAft>
            </a:pPr>
            <a:r>
              <a:rPr sz="1250" b="0">
                <a:solidFill>
                  <a:srgbClr val="9CDCFE"/>
                </a:solidFill>
                <a:latin typeface="Arial"/>
              </a:rPr>
              <a:t>  returning id::int as id, rating, body, created_at</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user_id is ${userId} from the token, so a request can only ever touch your OWN review.</a:t>
            </a:r>
          </a:p>
          <a:p>
            <a:pPr>
              <a:spcAft>
                <a:spcPts val="1000"/>
              </a:spcAft>
            </a:pPr>
            <a:r>
              <a:rPr sz="1250" b="0">
                <a:solidFill>
                  <a:srgbClr val="161B26"/>
                </a:solidFill>
                <a:latin typeface="Arial"/>
              </a:rPr>
              <a:t>•  The UPSERT means the client need not know whether a review already exists — and it's race-free.</a:t>
            </a:r>
          </a:p>
          <a:p>
            <a:pPr>
              <a:spcAft>
                <a:spcPts val="1000"/>
              </a:spcAft>
            </a:pPr>
            <a:r>
              <a:rPr sz="1250" b="0">
                <a:solidFill>
                  <a:srgbClr val="161B26"/>
                </a:solidFill>
                <a:latin typeface="Arial"/>
              </a:rPr>
              <a:t>•  rating and body are validated on the server before the query — the form's checks are UX only.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6.6 ·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StarRating: read-only or interactive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858000" cy="3840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6583680" cy="384048"/>
          </a:xfrm>
          <a:prstGeom prst="rect">
            <a:avLst/>
          </a:prstGeom>
          <a:noFill/>
        </p:spPr>
        <p:txBody>
          <a:bodyPr wrap="square" anchor="ctr">
            <a:spAutoFit/>
          </a:bodyPr>
          <a:lstStyle/>
          <a:p>
            <a:pPr algn="l">
              <a:spcAft>
                <a:spcPts val="400"/>
              </a:spcAft>
            </a:pPr>
            <a:r>
              <a:rPr sz="1200" b="0">
                <a:solidFill>
                  <a:srgbClr val="CBD5E1"/>
                </a:solidFill>
                <a:latin typeface="Arial"/>
              </a:rPr>
              <a:t>FILE  src/components/StarRating.jsx</a:t>
            </a:r>
          </a:p>
        </p:txBody>
      </p:sp>
      <p:sp>
        <p:nvSpPr>
          <p:cNvPr id="9" name="Rectangle 8"/>
          <p:cNvSpPr/>
          <p:nvPr/>
        </p:nvSpPr>
        <p:spPr>
          <a:xfrm>
            <a:off x="777240" y="2240280"/>
            <a:ext cx="68580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86584"/>
            <a:ext cx="6455664" cy="3502152"/>
          </a:xfrm>
          <a:prstGeom prst="rect">
            <a:avLst/>
          </a:prstGeom>
          <a:noFill/>
        </p:spPr>
        <p:txBody>
          <a:bodyPr wrap="square" anchor="t">
            <a:spAutoFit/>
          </a:bodyPr>
          <a:lstStyle/>
          <a:p>
            <a:pPr algn="l">
              <a:spcAft>
                <a:spcPts val="200"/>
              </a:spcAft>
            </a:pPr>
            <a:r>
              <a:rPr sz="1250" b="0">
                <a:solidFill>
                  <a:srgbClr val="9CDCFE"/>
                </a:solidFill>
                <a:latin typeface="Arial"/>
              </a:rPr>
              <a:t>// Read-only when given just `value`; interactive when</a:t>
            </a:r>
          </a:p>
          <a:p>
            <a:pPr algn="l">
              <a:spcAft>
                <a:spcPts val="200"/>
              </a:spcAft>
            </a:pPr>
            <a:r>
              <a:rPr sz="1250" b="0">
                <a:solidFill>
                  <a:srgbClr val="9CDCFE"/>
                </a:solidFill>
                <a:latin typeface="Arial"/>
              </a:rPr>
              <a:t>// also given `onChange`. Interactive stars are real</a:t>
            </a:r>
          </a:p>
          <a:p>
            <a:pPr algn="l">
              <a:spcAft>
                <a:spcPts val="200"/>
              </a:spcAft>
            </a:pPr>
            <a:r>
              <a:rPr sz="1250" b="0">
                <a:solidFill>
                  <a:srgbClr val="9CDCFE"/>
                </a:solidFill>
                <a:latin typeface="Arial"/>
              </a:rPr>
              <a:t>// &lt;button&gt;s — never divs with onClick.</a:t>
            </a:r>
          </a:p>
          <a:p>
            <a:pPr algn="l">
              <a:spcAft>
                <a:spcPts val="200"/>
              </a:spcAft>
            </a:pPr>
            <a:r>
              <a:rPr sz="1250" b="0">
                <a:solidFill>
                  <a:srgbClr val="9CDCFE"/>
                </a:solidFill>
                <a:latin typeface="Arial"/>
              </a:rPr>
              <a:t>export default function StarRating({ value, onChange }) {</a:t>
            </a:r>
          </a:p>
          <a:p>
            <a:pPr algn="l">
              <a:spcAft>
                <a:spcPts val="200"/>
              </a:spcAft>
            </a:pPr>
            <a:r>
              <a:rPr sz="1250" b="0">
                <a:solidFill>
                  <a:srgbClr val="9CDCFE"/>
                </a:solidFill>
                <a:latin typeface="Arial"/>
              </a:rPr>
              <a:t>  const stars = [1, 2, 3, 4, 5]</a:t>
            </a:r>
          </a:p>
          <a:p>
            <a:pPr algn="l">
              <a:spcAft>
                <a:spcPts val="200"/>
              </a:spcAft>
            </a:pPr>
            <a:r>
              <a:rPr sz="1250" b="0">
                <a:solidFill>
                  <a:srgbClr val="9CDCFE"/>
                </a:solidFill>
                <a:latin typeface="Arial"/>
              </a:rPr>
              <a:t>  if (!onChange) {</a:t>
            </a:r>
          </a:p>
          <a:p>
            <a:pPr algn="l">
              <a:spcAft>
                <a:spcPts val="200"/>
              </a:spcAft>
            </a:pPr>
            <a:r>
              <a:rPr sz="1250" b="0">
                <a:solidFill>
                  <a:srgbClr val="9CDCFE"/>
                </a:solidFill>
                <a:latin typeface="Arial"/>
              </a:rPr>
              <a:t>    return stars.map((n) =&gt; (</a:t>
            </a:r>
          </a:p>
          <a:p>
            <a:pPr algn="l">
              <a:spcAft>
                <a:spcPts val="200"/>
              </a:spcAft>
            </a:pPr>
            <a:r>
              <a:rPr sz="1250" b="0">
                <a:solidFill>
                  <a:srgbClr val="9CDCFE"/>
                </a:solidFill>
                <a:latin typeface="Arial"/>
              </a:rPr>
              <a:t>      &lt;span key={n}</a:t>
            </a:r>
          </a:p>
          <a:p>
            <a:pPr algn="l">
              <a:spcAft>
                <a:spcPts val="200"/>
              </a:spcAft>
            </a:pPr>
            <a:r>
              <a:rPr sz="1250" b="0">
                <a:solidFill>
                  <a:srgbClr val="9CDCFE"/>
                </a:solidFill>
                <a:latin typeface="Arial"/>
              </a:rPr>
              <a:t>        className={n &lt;= value ? 'star is-on' : 'star'}&gt;★&lt;/span&gt;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  return stars.map((n) =&gt; (</a:t>
            </a:r>
          </a:p>
          <a:p>
            <a:pPr algn="l">
              <a:spcAft>
                <a:spcPts val="200"/>
              </a:spcAft>
            </a:pPr>
            <a:r>
              <a:rPr sz="1250" b="0">
                <a:solidFill>
                  <a:srgbClr val="9CDCFE"/>
                </a:solidFill>
                <a:latin typeface="Arial"/>
              </a:rPr>
              <a:t>    &lt;button key={n} type="button"</a:t>
            </a:r>
          </a:p>
          <a:p>
            <a:pPr algn="l">
              <a:spcAft>
                <a:spcPts val="200"/>
              </a:spcAft>
            </a:pPr>
            <a:r>
              <a:rPr sz="1250" b="0">
                <a:solidFill>
                  <a:srgbClr val="9CDCFE"/>
                </a:solidFill>
                <a:latin typeface="Arial"/>
              </a:rPr>
              <a:t>      onClick={() =&gt; onChange(n)}&gt;★&lt;/button&gt;</a:t>
            </a:r>
          </a:p>
          <a:p>
            <a:pPr algn="l">
              <a:spcAft>
                <a:spcPts val="200"/>
              </a:spcAft>
            </a:pPr>
            <a:r>
              <a:rPr sz="1250" b="0">
                <a:solidFill>
                  <a:srgbClr val="9CDCFE"/>
                </a:solidFill>
                <a:latin typeface="Arial"/>
              </a:rPr>
              <a:t>  ))</a:t>
            </a:r>
          </a:p>
          <a:p>
            <a:pPr algn="l">
              <a:spcAft>
                <a:spcPts val="200"/>
              </a:spcAft>
            </a:pPr>
            <a:r>
              <a:rPr sz="1250" b="0">
                <a:solidFill>
                  <a:srgbClr val="9CDCFE"/>
                </a:solidFill>
                <a:latin typeface="Arial"/>
              </a:rPr>
              <a:t>}</a:t>
            </a:r>
          </a:p>
        </p:txBody>
      </p:sp>
      <p:sp>
        <p:nvSpPr>
          <p:cNvPr id="11" name="TextBox 10"/>
          <p:cNvSpPr txBox="1"/>
          <p:nvPr/>
        </p:nvSpPr>
        <p:spPr>
          <a:xfrm>
            <a:off x="7863840" y="1783080"/>
            <a:ext cx="3566160" cy="365760"/>
          </a:xfrm>
          <a:prstGeom prst="rect">
            <a:avLst/>
          </a:prstGeom>
          <a:noFill/>
        </p:spPr>
        <p:txBody>
          <a:bodyPr wrap="square" anchor="t">
            <a:spAutoFit/>
          </a:bodyPr>
          <a:lstStyle/>
          <a:p>
            <a:pPr algn="l">
              <a:spcAft>
                <a:spcPts val="400"/>
              </a:spcAft>
            </a:pPr>
            <a:r>
              <a:rPr sz="1300" b="1">
                <a:solidFill>
                  <a:srgbClr val="10B981"/>
                </a:solidFill>
                <a:latin typeface="Arial"/>
              </a:rPr>
              <a:t>What this shows</a:t>
            </a:r>
          </a:p>
        </p:txBody>
      </p:sp>
      <p:sp>
        <p:nvSpPr>
          <p:cNvPr id="12" name="TextBox 11"/>
          <p:cNvSpPr txBox="1"/>
          <p:nvPr/>
        </p:nvSpPr>
        <p:spPr>
          <a:xfrm>
            <a:off x="7863840" y="2286000"/>
            <a:ext cx="3566160" cy="3749039"/>
          </a:xfrm>
          <a:prstGeom prst="rect">
            <a:avLst/>
          </a:prstGeom>
          <a:noFill/>
        </p:spPr>
        <p:txBody>
          <a:bodyPr wrap="square">
            <a:spAutoFit/>
          </a:bodyPr>
          <a:lstStyle/>
          <a:p>
            <a:pPr>
              <a:spcAft>
                <a:spcPts val="1000"/>
              </a:spcAft>
            </a:pPr>
            <a:r>
              <a:rPr sz="1250" b="0">
                <a:solidFill>
                  <a:srgbClr val="161B26"/>
                </a:solidFill>
                <a:latin typeface="Arial"/>
              </a:rPr>
              <a:t>•  Pass just `value` for a display; add `onChange` to make the stars clickable.</a:t>
            </a:r>
          </a:p>
          <a:p>
            <a:pPr>
              <a:spcAft>
                <a:spcPts val="1000"/>
              </a:spcAft>
            </a:pPr>
            <a:r>
              <a:rPr sz="1250" b="0">
                <a:solidFill>
                  <a:srgbClr val="161B26"/>
                </a:solidFill>
                <a:latin typeface="Arial"/>
              </a:rPr>
              <a:t>•  Interactive stars are real &lt;button&gt;s so they stay keyboard-accessible.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6.6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Mini-Capstone — Add Course Reviews, On Your 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800" b="0">
                <a:solidFill>
                  <a:srgbClr val="161B26"/>
                </a:solidFill>
                <a:latin typeface="Arial"/>
              </a:rPr>
              <a:t>Signed out you can read reviews but not write; signed in you can post exactly one review per course, edit it and delete it; the average on the detail page updates live; another account cannot delete your review (404 from the SQL, not from an if); and after git push the feature is live on your Vercel URL.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PHASE 06</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Cook &amp; Bake Academy can now navigate real routes, guard the dashboard, deploy the lot, and extend it on your own.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lab in this phase added to the SAME app — one project, growing, not a pile of throwaway demos.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Vibe Coding</a:t>
            </a:r>
          </a:p>
          <a:p>
            <a:pPr algn="l">
              <a:spcAft>
                <a:spcPts val="300"/>
              </a:spcAft>
            </a:pPr>
            <a:r>
              <a:rPr sz="1200" b="0">
                <a:solidFill>
                  <a:srgbClr val="5B6372"/>
                </a:solidFill>
                <a:latin typeface="Arial"/>
              </a:rPr>
              <a:t>Scaffolded a React app with an AI agent — and learned to audit what it wrote.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Deployment</a:t>
            </a:r>
          </a:p>
          <a:p>
            <a:pPr algn="l">
              <a:spcAft>
                <a:spcPts val="300"/>
              </a:spcAft>
            </a:pPr>
            <a:r>
              <a:rPr sz="1200" b="0">
                <a:solidFill>
                  <a:srgbClr val="5B6372"/>
                </a:solidFill>
                <a:latin typeface="Arial"/>
              </a:rPr>
              <a:t>Versioned with Git, built for production and published to Vercel.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Core React</a:t>
            </a:r>
          </a:p>
          <a:p>
            <a:pPr algn="l">
              <a:spcAft>
                <a:spcPts val="300"/>
              </a:spcAft>
            </a:pPr>
            <a:r>
              <a:rPr sz="1200" b="0">
                <a:solidFill>
                  <a:srgbClr val="5B6372"/>
                </a:solidFill>
                <a:latin typeface="Arial"/>
              </a:rPr>
              <a:t>Components, JSX &amp; Babel, the real DOM vs the Virtual DOM, props, lists, events.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React Hooks</a:t>
            </a:r>
          </a:p>
          <a:p>
            <a:pPr algn="l">
              <a:spcAft>
                <a:spcPts val="300"/>
              </a:spcAft>
            </a:pPr>
            <a:r>
              <a:rPr sz="1200" b="0">
                <a:solidFill>
                  <a:srgbClr val="5B6372"/>
                </a:solidFill>
                <a:latin typeface="Arial"/>
              </a:rPr>
              <a:t>useState, useEffect with cleanup, useRef, useContext, useReducer, custom hooks.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Backend &amp; Database</a:t>
            </a:r>
          </a:p>
          <a:p>
            <a:pPr algn="l">
              <a:spcAft>
                <a:spcPts val="300"/>
              </a:spcAft>
            </a:pPr>
            <a:r>
              <a:rPr sz="1200" b="0">
                <a:solidFill>
                  <a:srgbClr val="5B6372"/>
                </a:solidFill>
                <a:latin typeface="Arial"/>
              </a:rPr>
              <a:t>A serverless API over Neon Postgres; fetch with three states; bcrypt + JWT auth.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Routing &amp; Shipping</a:t>
            </a:r>
          </a:p>
          <a:p>
            <a:pPr algn="l">
              <a:spcAft>
                <a:spcPts val="300"/>
              </a:spcAft>
            </a:pPr>
            <a:r>
              <a:rPr sz="1200" b="0">
                <a:solidFill>
                  <a:srgbClr val="5B6372"/>
                </a:solidFill>
                <a:latin typeface="Arial"/>
              </a:rPr>
              <a:t>Nested layouts, dynamic params, protected routes — deployed live.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CAN NOW CATCH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AI React Bug Checklist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key={index}</a:t>
            </a:r>
          </a:p>
          <a:p>
            <a:pPr algn="l">
              <a:spcAft>
                <a:spcPts val="300"/>
              </a:spcAft>
            </a:pPr>
            <a:r>
              <a:rPr sz="1200" b="0">
                <a:solidFill>
                  <a:srgbClr val="5B6372"/>
                </a:solidFill>
                <a:latin typeface="Arial"/>
              </a:rPr>
              <a:t>Corrupts list state on reorder or delete. Use a stable id.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error branch</a:t>
            </a:r>
          </a:p>
          <a:p>
            <a:pPr algn="l">
              <a:spcAft>
                <a:spcPts val="300"/>
              </a:spcAft>
            </a:pPr>
            <a:r>
              <a:rPr sz="1200" b="0">
                <a:solidFill>
                  <a:srgbClr val="5B6372"/>
                </a:solidFill>
                <a:latin typeface="Arial"/>
              </a:rPr>
              <a:t>Every remote read has three states. Agents write two.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useEffect with no cleanup</a:t>
            </a:r>
          </a:p>
          <a:p>
            <a:pPr algn="l">
              <a:spcAft>
                <a:spcPts val="300"/>
              </a:spcAft>
            </a:pPr>
            <a:r>
              <a:rPr sz="1200" b="0">
                <a:solidFill>
                  <a:srgbClr val="5B6372"/>
                </a:solidFill>
                <a:latin typeface="Arial"/>
              </a:rPr>
              <a:t>Timers and subscriptions leak. StrictMode exposes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Derived state in useState</a:t>
            </a:r>
          </a:p>
          <a:p>
            <a:pPr algn="l">
              <a:spcAft>
                <a:spcPts val="300"/>
              </a:spcAft>
            </a:pPr>
            <a:r>
              <a:rPr sz="1200" b="0">
                <a:solidFill>
                  <a:srgbClr val="5B6372"/>
                </a:solidFill>
                <a:latin typeface="Arial"/>
              </a:rPr>
              <a:t>If you can compute it during render, compute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Unparameterised SQL</a:t>
            </a:r>
          </a:p>
          <a:p>
            <a:pPr algn="l">
              <a:spcAft>
                <a:spcPts val="300"/>
              </a:spcAft>
            </a:pPr>
            <a:r>
              <a:rPr sz="1200" b="0">
                <a:solidFill>
                  <a:srgbClr val="5B6372"/>
                </a:solidFill>
                <a:latin typeface="Arial"/>
              </a:rPr>
              <a:t>sql(`... '${x}'`) invites injection. Always use the sql`` tagged template.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DATABASE_URL in the browser</a:t>
            </a:r>
          </a:p>
          <a:p>
            <a:pPr algn="l">
              <a:spcAft>
                <a:spcPts val="300"/>
              </a:spcAft>
            </a:pPr>
            <a:r>
              <a:rPr sz="1200" b="0">
                <a:solidFill>
                  <a:srgbClr val="5B6372"/>
                </a:solidFill>
                <a:latin typeface="Arial"/>
              </a:rPr>
              <a:t>A VITE_ var ships to every visitor. Keep the connection string server-side.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to Go Next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Redo the capstone from an empty folder, prompting only — then audit every file you generated.</a:t>
            </a:r>
          </a:p>
          <a:p>
            <a:pPr>
              <a:spcAft>
                <a:spcPts val="1000"/>
              </a:spcAft>
            </a:pPr>
            <a:r>
              <a:rPr sz="2000" b="0">
                <a:solidFill>
                  <a:srgbClr val="161B26"/>
                </a:solidFill>
                <a:latin typeface="Arial"/>
              </a:rPr>
              <a:t>•  Add TanStack Query so you stop hand-rolling loading and error state in every hook.</a:t>
            </a:r>
          </a:p>
          <a:p>
            <a:pPr>
              <a:spcAft>
                <a:spcPts val="1000"/>
              </a:spcAft>
            </a:pPr>
            <a:r>
              <a:rPr sz="2000" b="0">
                <a:solidFill>
                  <a:srgbClr val="161B26"/>
                </a:solidFill>
                <a:latin typeface="Arial"/>
              </a:rPr>
              <a:t>•  Add tests with Vitest and React Testing Library.</a:t>
            </a:r>
          </a:p>
          <a:p>
            <a:pPr>
              <a:spcAft>
                <a:spcPts val="1000"/>
              </a:spcAft>
            </a:pPr>
            <a:r>
              <a:rPr sz="2000" b="0">
                <a:solidFill>
                  <a:srgbClr val="161B26"/>
                </a:solidFill>
                <a:latin typeface="Arial"/>
              </a:rPr>
              <a:t>•  Learn TypeScript, and generate types from your Neon schema.</a:t>
            </a:r>
          </a:p>
          <a:p>
            <a:pPr>
              <a:spcAft>
                <a:spcPts val="1000"/>
              </a:spcAft>
            </a:pPr>
            <a:r>
              <a:rPr sz="2000" b="0">
                <a:solidFill>
                  <a:srgbClr val="161B26"/>
                </a:solidFill>
                <a:latin typeface="Arial"/>
              </a:rPr>
              <a:t>•  Explore React Router framework mode or Next.js when you need server rendering.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LEAVE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short course feedback form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Tell us which labs and prompts helped most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Tell us what we should improve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your prompts, code and deployed app links for reference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Your certificate of completion will be emailed to you after the course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VIBE CODING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understand and ship a full-stack React application — with an AI agent as your fastest colleague, not your blind spot.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React Development  ·  C1143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